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Lst>
  <p:notesMasterIdLst>
    <p:notesMasterId r:id="rId25"/>
  </p:notesMasterIdLst>
  <p:handoutMasterIdLst>
    <p:handoutMasterId r:id="rId26"/>
  </p:handoutMasterIdLst>
  <p:sldIdLst>
    <p:sldId id="507" r:id="rId2"/>
    <p:sldId id="1027" r:id="rId3"/>
    <p:sldId id="1012" r:id="rId4"/>
    <p:sldId id="1013" r:id="rId5"/>
    <p:sldId id="1047" r:id="rId33"/>
    <p:sldId id="1014" r:id="rId6"/>
    <p:sldId id="1046" r:id="rId7"/>
    <p:sldId id="1015" r:id="rId8"/>
    <p:sldId id="1034" r:id="rId9"/>
    <p:sldId id="1036" r:id="rId10"/>
    <p:sldId id="1048" r:id="rId34"/>
    <p:sldId id="1011" r:id="rId12"/>
    <p:sldId id="1026" r:id="rId13"/>
    <p:sldId id="1033" r:id="rId14"/>
    <p:sldId id="1038" r:id="rId15"/>
    <p:sldId id="1049" r:id="rId35"/>
    <p:sldId id="1039" r:id="rId16"/>
    <p:sldId id="1050" r:id="rId36"/>
    <p:sldId id="1051" r:id="rId37"/>
    <p:sldId id="1052" r:id="rId38"/>
    <p:sldId id="1053" r:id="rId39"/>
    <p:sldId id="1057" r:id="rId43"/>
    <p:sldId id="1044" r:id="rId18"/>
    <p:sldId id="1054" r:id="rId40"/>
    <p:sldId id="1055" r:id="rId41"/>
    <p:sldId id="1056" r:id="rId42"/>
    <p:sldId id="1058" r:id="rId44"/>
    <p:sldId id="1025" r:id="rId21"/>
    <p:sldId id="1042" r:id="rId22"/>
    <p:sldId id="1043" r:id="rId23"/>
    <p:sldId id="1035"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CA663-1309-4ECF-9CD4-C8F48ECFF935}" v="48" dt="2026-09-09T09:42:55.997"/>
    <p1510:client id="{575C8504-258C-4612-97B9-120B5DE7B0D2}" v="3" dt="2026-09-09T10:42:31.75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17"/>
    <p:restoredTop sz="96260"/>
  </p:normalViewPr>
  <p:slideViewPr>
    <p:cSldViewPr snapToGrid="0">
      <p:cViewPr>
        <p:scale>
          <a:sx n="116" d="100"/>
          <a:sy n="116" d="100"/>
        </p:scale>
        <p:origin x="208" y="400"/>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8" Type="http://schemas.openxmlformats.org/officeDocument/2006/relationships/slide" Target="slides/slide17.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5/10/relationships/revisionInfo" Target="revisionInfo.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Certificate status (as anchored on-chain)</a:t>
            </a:r>
          </a:p>
        </c:rich>
      </c:tx>
      <c:layout/>
      <c:overlay val="0"/>
    </c:title>
    <c:autoTitleDeleted val="0"/>
    <c:plotArea>
      <c:barChart>
        <c:barDir val="bar"/>
        <c:grouping val="clustered"/>
        <c:ser>
          <c:idx val="0"/>
          <c:order val="0"/>
          <c:tx>
            <c:strRef>
              <c:f>Sheet1!$B$1</c:f>
              <c:strCache>
                <c:ptCount val="1"/>
                <c:pt idx="0">
                  <c:v>Certificates</c:v>
                </c:pt>
              </c:strCache>
            </c:strRef>
          </c:tx>
          <c:spPr>
            <a:solidFill>
              <a:srgbClr val="2E5568"/>
            </a:solidFill>
          </c:spPr>
          <c:cat>
            <c:strRef>
              <c:f>Sheet1!$A$2:$A$6</c:f>
              <c:strCache>
                <c:ptCount val="5"/>
                <c:pt idx="0">
                  <c:v>Issued</c:v>
                </c:pt>
                <c:pt idx="1">
                  <c:v>Provisional only</c:v>
                </c:pt>
                <c:pt idx="2">
                  <c:v>Revoked</c:v>
                </c:pt>
                <c:pt idx="3">
                  <c:v>Withheld</c:v>
                </c:pt>
                <c:pt idx="4">
                  <c:v>Cancelled (duplicate issued)</c:v>
                </c:pt>
              </c:strCache>
            </c:strRef>
          </c:cat>
          <c:val>
            <c:numRef>
              <c:f>Sheet1!$B$2:$B$6</c:f>
              <c:numCache>
                <c:formatCode>General</c:formatCode>
                <c:ptCount val="5"/>
                <c:pt idx="0">
                  <c:v>1344</c:v>
                </c:pt>
                <c:pt idx="1">
                  <c:v>174</c:v>
                </c:pt>
                <c:pt idx="2">
                  <c:v>33</c:v>
                </c:pt>
                <c:pt idx="3">
                  <c:v>28</c:v>
                </c:pt>
                <c:pt idx="4">
                  <c:v>25</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Gas per credential by batch size (Merkle batching)</a:t>
            </a:r>
          </a:p>
        </c:rich>
      </c:tx>
      <c:layout/>
      <c:overlay val="0"/>
    </c:title>
    <c:autoTitleDeleted val="0"/>
    <c:plotArea>
      <c:barChart>
        <c:barDir val="col"/>
        <c:grouping val="clustered"/>
        <c:ser>
          <c:idx val="0"/>
          <c:order val="0"/>
          <c:tx>
            <c:strRef>
              <c:f>Sheet1!$B$1</c:f>
              <c:strCache>
                <c:ptCount val="1"/>
                <c:pt idx="0">
                  <c:v>Gas per credential</c:v>
                </c:pt>
              </c:strCache>
            </c:strRef>
          </c:tx>
          <c:spPr>
            <a:solidFill>
              <a:srgbClr val="2E5568"/>
            </a:solidFill>
          </c:spPr>
          <c:cat>
            <c:strRef>
              <c:f>Sheet1!$A$2:$A$7</c:f>
              <c:strCache>
                <c:ptCount val="6"/>
                <c:pt idx="0">
                  <c:v>1 (individual)</c:v>
                </c:pt>
                <c:pt idx="1">
                  <c:v>10</c:v>
                </c:pt>
                <c:pt idx="2">
                  <c:v>50</c:v>
                </c:pt>
                <c:pt idx="3">
                  <c:v>100</c:v>
                </c:pt>
                <c:pt idx="4">
                  <c:v>250</c:v>
                </c:pt>
                <c:pt idx="5">
                  <c:v>500</c:v>
                </c:pt>
              </c:strCache>
            </c:strRef>
          </c:cat>
          <c:val>
            <c:numRef>
              <c:f>Sheet1!$B$2:$B$7</c:f>
              <c:numCache>
                <c:formatCode>General</c:formatCode>
                <c:ptCount val="6"/>
                <c:pt idx="0">
                  <c:v>124957</c:v>
                </c:pt>
                <c:pt idx="1">
                  <c:v>12293</c:v>
                </c:pt>
                <c:pt idx="2">
                  <c:v>2117</c:v>
                </c:pt>
                <c:pt idx="3">
                  <c:v>1058</c:v>
                </c:pt>
                <c:pt idx="4">
                  <c:v>423</c:v>
                </c:pt>
                <c:pt idx="5">
                  <c:v>212</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9/26/26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9/26/26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1</a:t>
            </a:fld>
            <a:endParaRPr lang="en-US"/>
          </a:p>
        </p:txBody>
      </p:sp>
    </p:spTree>
    <p:extLst>
      <p:ext uri="{BB962C8B-B14F-4D97-AF65-F5344CB8AC3E}">
        <p14:creationId xmlns:p14="http://schemas.microsoft.com/office/powerpoint/2010/main" val="257739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p:transition spd="slow">
    <p:wipe/>
  </p:transition>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indianexpress.com/article/legal-news/fired-fake-certificates-central-bank-workers-win-high-court-10873131/" TargetMode="External"/><Relationship Id="rId5" Type="http://schemas.openxmlformats.org/officeDocument/2006/relationships/hyperlink" Target="https://indianexpress.com/article/legal-news/calcutta-high-court-bsf-constable-dismissal-forged-documents-service-fraud-10616651/lite/" TargetMode="External"/><Relationship Id="rId6" Type="http://schemas.openxmlformats.org/officeDocument/2006/relationships/hyperlink" Target="https://www.newindianexpress.com/cities/bhubaneswar/2026/Jun/22/odisha-home-department-staff-fakes-documents-to-get-higher-post-arrested" TargetMode="External"/><Relationship Id="rId7" Type="http://schemas.openxmlformats.org/officeDocument/2006/relationships/hyperlink" Target="https://www.ey.com/en_in/newsroom/2025/05/employment-fraud-on-the-rise-ey-study-calls-for-tech-enabled-vigilance-in-hiring-amidst-rising-risks-across-secto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anilkumaruk/blockchain" TargetMode="External"/><Relationship Id="rId3" Type="http://schemas.openxmlformats.org/officeDocument/2006/relationships/hyperlink" Target="https://blockchain-ecru-three.vercel.app/" TargetMode="External"/><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chart" Target="../charts/char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0112947-B9C2-2E92-2ED4-7AE86C45CC4F}"/>
              </a:ext>
            </a:extLst>
          </p:cNvPr>
          <p:cNvSpPr>
            <a:spLocks noGrp="1"/>
          </p:cNvSpPr>
          <p:nvPr>
            <p:ph type="subTitle" idx="1"/>
          </p:nvPr>
        </p:nvSpPr>
        <p:spPr>
          <a:xfrm>
            <a:off x="1070808" y="1913534"/>
            <a:ext cx="8534400" cy="4555996"/>
          </a:xfrm>
        </p:spPr>
        <p:txBody>
          <a:bodyPr vert="horz" lIns="91440" tIns="45720" rIns="91440" bIns="45720" rtlCol="0" anchor="t">
            <a:normAutofit/>
          </a:bodyPr>
          <a:lstStyle/>
          <a:p>
            <a:pPr algn="just">
              <a:defRPr/>
            </a:pPr>
            <a:r>
              <a:rPr lang="en-IN" dirty="0">
                <a:solidFill>
                  <a:schemeClr val="tx1"/>
                </a:solidFill>
                <a:latin typeface="Times New Roman" panose="02020603050405020304" pitchFamily="18" charset="0"/>
                <a:cs typeface="Times New Roman" panose="02020603050405020304" pitchFamily="18" charset="0"/>
              </a:rPr>
              <a:t>Team Members: </a:t>
            </a:r>
          </a:p>
          <a:p>
            <a:pPr marL="971550" lvl="1" indent="-514350" algn="just">
              <a:buFont typeface="+mj-lt"/>
              <a:buAutoNum type="arabicPeriod"/>
              <a:defRPr/>
            </a:pPr>
            <a:r>
              <a:rPr lang="en-IN" dirty="0">
                <a:solidFill>
                  <a:schemeClr val="tx1"/>
                </a:solidFill>
                <a:latin typeface="Times New Roman" panose="02020603050405020304" pitchFamily="18" charset="0"/>
                <a:ea typeface="+mn-lt"/>
                <a:cs typeface="Times New Roman" panose="02020603050405020304" pitchFamily="18" charset="0"/>
              </a:rPr>
              <a:t>Manu M P — 2411021061545</a:t>
            </a:r>
            <a:endParaRPr lang="en-IN" dirty="0">
              <a:solidFill>
                <a:schemeClr val="tx1"/>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defRPr/>
            </a:pPr>
            <a:r>
              <a:rPr dirty="0">
                <a:solidFill>
                  <a:schemeClr val="tx1"/>
                </a:solidFill>
                <a:latin typeface="Times New Roman" panose="02020603050405020304" pitchFamily="18" charset="0"/>
                <a:cs typeface="Times New Roman" panose="02020603050405020304" pitchFamily="18" charset="0"/>
              </a:rPr>
              <a:t>Tarun Kumar S — 2411021061552</a:t>
            </a:r>
            <a:endParaRPr lang="en-US" dirty="0">
              <a:solidFill>
                <a:schemeClr val="tx1"/>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defRPr/>
            </a:pPr>
            <a:r>
              <a:rPr lang="en-IN" dirty="0" err="1">
                <a:solidFill>
                  <a:schemeClr val="tx1"/>
                </a:solidFill>
                <a:latin typeface="Times New Roman" panose="02020603050405020304" pitchFamily="18" charset="0"/>
                <a:cs typeface="Times New Roman" panose="02020603050405020304" pitchFamily="18" charset="0"/>
              </a:rPr>
              <a:t>Anilkumar</a:t>
            </a:r>
            <a:r>
              <a:rPr lang="en-IN" dirty="0">
                <a:solidFill>
                  <a:schemeClr val="tx1"/>
                </a:solidFill>
                <a:latin typeface="Times New Roman" panose="02020603050405020304" pitchFamily="18" charset="0"/>
                <a:cs typeface="Times New Roman" panose="02020603050405020304" pitchFamily="18" charset="0"/>
              </a:rPr>
              <a:t> U K — 2411021061563</a:t>
            </a:r>
            <a:endParaRPr dirty="0">
              <a:solidFill>
                <a:schemeClr val="tx1"/>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defRPr/>
            </a:pPr>
            <a:r>
              <a:rPr dirty="0">
                <a:solidFill>
                  <a:schemeClr val="tx1"/>
                </a:solidFill>
                <a:latin typeface="Times New Roman" panose="02020603050405020304" pitchFamily="18" charset="0"/>
                <a:cs typeface="Times New Roman" panose="02020603050405020304" pitchFamily="18" charset="0"/>
              </a:rPr>
              <a:t>Pruthviraj D N — L2411021061688</a:t>
            </a:r>
          </a:p>
          <a:p>
            <a:pPr lvl="1" algn="just">
              <a:defRPr/>
            </a:pPr>
            <a:endParaRPr lang="en-IN" dirty="0">
              <a:solidFill>
                <a:schemeClr val="tx1"/>
              </a:solidFill>
              <a:latin typeface="Times New Roman" panose="02020603050405020304" pitchFamily="18" charset="0"/>
              <a:cs typeface="Times New Roman" panose="02020603050405020304" pitchFamily="18" charset="0"/>
            </a:endParaRPr>
          </a:p>
          <a:p>
            <a:pPr algn="just">
              <a:defRPr/>
            </a:pPr>
            <a:r>
              <a:rPr lang="en-IN" dirty="0">
                <a:solidFill>
                  <a:schemeClr val="tx1"/>
                </a:solidFill>
                <a:latin typeface="Times New Roman" panose="02020603050405020304" pitchFamily="18" charset="0"/>
                <a:cs typeface="Times New Roman" panose="02020603050405020304" pitchFamily="18" charset="0"/>
              </a:rPr>
              <a:t>Name of the Mentor: Dr. Saravanan P</a:t>
            </a:r>
            <a:endParaRPr lang="en-IN" sz="3200" dirty="0">
              <a:solidFill>
                <a:schemeClr val="tx1"/>
              </a:solidFill>
              <a:latin typeface="Times New Roman" panose="02020603050405020304" pitchFamily="18" charset="0"/>
              <a:cs typeface="Times New Roman" panose="02020603050405020304" pitchFamily="18" charset="0"/>
            </a:endParaRPr>
          </a:p>
          <a:p>
            <a:pPr algn="just">
              <a:defRPr/>
            </a:pPr>
            <a:r>
              <a:rPr lang="en-US" sz="3200" dirty="0">
                <a:solidFill>
                  <a:schemeClr val="tx1"/>
                </a:solidFill>
                <a:latin typeface="Times New Roman" panose="02020603050405020304" pitchFamily="18" charset="0"/>
                <a:cs typeface="Times New Roman" panose="02020603050405020304" pitchFamily="18" charset="0"/>
              </a:rPr>
              <a:t>E1CSA313 Design Project -1 </a:t>
            </a:r>
          </a:p>
          <a:p>
            <a:endParaRPr lang="en-IN" dirty="0"/>
          </a:p>
        </p:txBody>
      </p:sp>
      <p:sp>
        <p:nvSpPr>
          <p:cNvPr id="2" name="Subtitle 5">
            <a:extLst>
              <a:ext uri="{FF2B5EF4-FFF2-40B4-BE49-F238E27FC236}">
                <a16:creationId xmlns:a16="http://schemas.microsoft.com/office/drawing/2014/main" id="{27730FEB-39A4-55AF-1A5E-7D14BEA4EF64}"/>
              </a:ext>
            </a:extLst>
          </p:cNvPr>
          <p:cNvSpPr txBox="1">
            <a:spLocks/>
          </p:cNvSpPr>
          <p:nvPr/>
        </p:nvSpPr>
        <p:spPr>
          <a:xfrm>
            <a:off x="938151" y="784717"/>
            <a:ext cx="10082150" cy="984705"/>
          </a:xfrm>
          <a:prstGeom prst="rect">
            <a:avLst/>
          </a:prstGeom>
        </p:spPr>
        <p:txBody>
          <a:bodyPr vert="horz" lIns="91440" tIns="45720" rIns="91440" bIns="45720" rtlCol="0" anchor="t">
            <a:normAutofit fontScale="925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r>
              <a:rPr lang="en-IN" sz="3600" b="1" spc="-150" dirty="0">
                <a:solidFill>
                  <a:schemeClr val="tx1"/>
                </a:solidFill>
                <a:latin typeface="Times New Roman"/>
                <a:cs typeface="Times New Roman"/>
              </a:rPr>
              <a:t>Blockchain-Based Verifiable Academic Credential System</a:t>
            </a:r>
            <a:endParaRPr lang="en-IN" sz="3600" b="1" spc="-15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D471D20-F6B2-348C-6B60-AFE0319EC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4255" y="153857"/>
            <a:ext cx="3125501" cy="630861"/>
          </a:xfrm>
          <a:prstGeom prst="rect">
            <a:avLst/>
          </a:prstGeom>
        </p:spPr>
      </p:pic>
      <p:sp>
        <p:nvSpPr>
          <p:cNvPr id="7" name="TextBox 6"/>
          <p:cNvSpPr txBox="1"/>
          <p:nvPr/>
        </p:nvSpPr>
        <p:spPr>
          <a:xfrm>
            <a:off x="822960" y="5989320"/>
            <a:ext cx="7772400" cy="457200"/>
          </a:xfrm>
          <a:prstGeom prst="rect">
            <a:avLst/>
          </a:prstGeom>
          <a:noFill/>
        </p:spPr>
        <p:txBody>
          <a:bodyPr wrap="square" anchor="t" lIns="45720" rIns="45720">
            <a:spAutoFit/>
          </a:bodyPr>
          <a:lstStyle/>
          <a:p>
            <a:pPr algn="l">
              <a:spcAft>
                <a:spcPts val="400"/>
              </a:spcAft>
            </a:pPr>
            <a:r>
              <a:rPr sz="2000" b="1">
                <a:solidFill>
                  <a:srgbClr val="8B1E2D"/>
                </a:solidFill>
                <a:latin typeface="Calibri"/>
              </a:rPr>
              <a:t>Review 2 — Implementation, Evaluation &amp; Deployment</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609600" y="579483"/>
            <a:ext cx="11175032" cy="6262595"/>
          </a:xfrm>
        </p:spPr>
        <p:txBody>
          <a:bodyPr>
            <a:noAutofit/>
          </a:bodyPr>
          <a:lstStyle/>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Introduction</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Review of literature (Refer minimum of 10 Recent Journal / Conference papers)</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Observations from the literature review (Brief description as points)</a:t>
            </a:r>
          </a:p>
          <a:p>
            <a:pPr marL="342900" indent="-342900">
              <a:lnSpc>
                <a:spcPct val="150000"/>
              </a:lnSpc>
              <a:buFontTx/>
              <a:buAutoNum type="arabicPeriod"/>
            </a:pPr>
            <a:r>
              <a:rPr lang="en-US" sz="2000" dirty="0">
                <a:latin typeface="Times New Roman" panose="02020603050405020304" pitchFamily="18" charset="0"/>
                <a:cs typeface="Times New Roman" panose="02020603050405020304" pitchFamily="18" charset="0"/>
              </a:rPr>
              <a:t>Limitations from the literature review (Brief description as points)</a:t>
            </a:r>
          </a:p>
          <a:p>
            <a:pPr marL="342900" indent="-342900">
              <a:lnSpc>
                <a:spcPct val="150000"/>
              </a:lnSpc>
              <a:buFontTx/>
              <a:buAutoNum type="arabicPeriod"/>
            </a:pPr>
            <a:r>
              <a:rPr lang="en-US" sz="2000" dirty="0">
                <a:latin typeface="Times New Roman" panose="02020603050405020304" pitchFamily="18" charset="0"/>
                <a:cs typeface="Times New Roman" panose="02020603050405020304" pitchFamily="18" charset="0"/>
              </a:rPr>
              <a:t>Problem Definition &amp; Proposed Methodology</a:t>
            </a:r>
          </a:p>
          <a:p>
            <a:pPr marL="914400" lvl="1" indent="-514350">
              <a:buAutoNum type="alphaLcPeriod"/>
            </a:pPr>
            <a:r>
              <a:rPr lang="en-US" sz="2000" dirty="0">
                <a:latin typeface="Times New Roman" panose="02020603050405020304" pitchFamily="18" charset="0"/>
                <a:cs typeface="Times New Roman" panose="02020603050405020304" pitchFamily="18" charset="0"/>
              </a:rPr>
              <a:t>Problem Statement</a:t>
            </a:r>
          </a:p>
          <a:p>
            <a:pPr marL="914400" lvl="1" indent="-514350">
              <a:buAutoNum type="alphaLcPeriod"/>
            </a:pPr>
            <a:r>
              <a:rPr lang="en-US" sz="2000" dirty="0">
                <a:latin typeface="Times New Roman" panose="02020603050405020304" pitchFamily="18" charset="0"/>
                <a:cs typeface="Times New Roman" panose="02020603050405020304" pitchFamily="18" charset="0"/>
              </a:rPr>
              <a:t>Proposed Research / Methodology</a:t>
            </a:r>
          </a:p>
          <a:p>
            <a:pPr marL="914400" lvl="1" indent="-514350">
              <a:buAutoNum type="alphaLcPeriod"/>
            </a:pPr>
            <a:r>
              <a:rPr lang="en-US" sz="2000" dirty="0">
                <a:latin typeface="Times New Roman" panose="02020603050405020304" pitchFamily="18" charset="0"/>
                <a:cs typeface="Times New Roman" panose="02020603050405020304" pitchFamily="18" charset="0"/>
              </a:rPr>
              <a:t>Hardware Requirements</a:t>
            </a:r>
          </a:p>
          <a:p>
            <a:pPr marL="914400" lvl="1" indent="-514350">
              <a:buAutoNum type="alphaLcPeriod"/>
            </a:pPr>
            <a:r>
              <a:rPr lang="en-US" sz="2000" dirty="0">
                <a:latin typeface="Times New Roman" panose="02020603050405020304" pitchFamily="18" charset="0"/>
                <a:cs typeface="Times New Roman" panose="02020603050405020304" pitchFamily="18" charset="0"/>
              </a:rPr>
              <a:t>Software Requirements</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Design Diagram, Modules &amp; Novelty</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Implementation: Smart Contract, Database, Security, Dataset</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Experimentation, Results &amp; Deployment</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Conclusion &amp; Future Directions</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References</a:t>
            </a:r>
          </a:p>
          <a:p>
            <a:pPr marL="342900" indent="-342900">
              <a:lnSpc>
                <a:spcPct val="150000"/>
              </a:lnSpc>
              <a:buAutoNum type="arabicPeriod"/>
            </a:pPr>
            <a:r>
              <a:rPr lang="en-US" sz="2000" dirty="0">
                <a:latin typeface="Times New Roman" panose="02020603050405020304" pitchFamily="18" charset="0"/>
                <a:cs typeface="Times New Roman" panose="02020603050405020304" pitchFamily="18" charset="0"/>
              </a:rPr>
              <a:t>Plagiarism Report</a:t>
            </a:r>
          </a:p>
          <a:p>
            <a:pPr marL="342900" indent="-342900">
              <a:lnSpc>
                <a:spcPct val="150000"/>
              </a:lnSpc>
              <a:buAutoNum type="arabicPeriod"/>
            </a:pPr>
            <a:endParaRPr lang="en-US"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1703882" y="171803"/>
            <a:ext cx="6180944" cy="563562"/>
          </a:xfrm>
        </p:spPr>
        <p:txBody>
          <a:bodyPr>
            <a:noAutofit/>
          </a:bodyPr>
          <a:lstStyle/>
          <a:p>
            <a:pPr algn="ctr">
              <a:lnSpc>
                <a:spcPct val="150000"/>
              </a:lnSpc>
            </a:pP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Agenda</a:t>
            </a:r>
            <a:br>
              <a:rPr lang="en-US" sz="3200" b="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81FBD98C-77FA-F4F3-D8D1-E351DADE67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24275" y="297702"/>
            <a:ext cx="3210257" cy="563562"/>
          </a:xfrm>
          <a:prstGeom prst="rect">
            <a:avLst/>
          </a:prstGeom>
        </p:spPr>
      </p:pic>
    </p:spTree>
    <p:extLst>
      <p:ext uri="{BB962C8B-B14F-4D97-AF65-F5344CB8AC3E}">
        <p14:creationId xmlns:p14="http://schemas.microsoft.com/office/powerpoint/2010/main" val="289397729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9103-52C6-689F-10D5-B7A7B5531D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386010-7A55-512E-9ACA-BAA4168A27A9}"/>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Introduction</a:t>
            </a:r>
          </a:p>
        </p:txBody>
      </p:sp>
      <p:sp>
        <p:nvSpPr>
          <p:cNvPr id="7" name="Content Placeholder 6">
            <a:extLst>
              <a:ext uri="{FF2B5EF4-FFF2-40B4-BE49-F238E27FC236}">
                <a16:creationId xmlns:a16="http://schemas.microsoft.com/office/drawing/2014/main" id="{3280A4A6-FE4E-5BD7-0D80-570328273E09}"/>
              </a:ext>
            </a:extLst>
          </p:cNvPr>
          <p:cNvSpPr>
            <a:spLocks noGrp="1"/>
          </p:cNvSpPr>
          <p:nvPr>
            <p:ph idx="1"/>
          </p:nvPr>
        </p:nvSpPr>
        <p:spPr>
          <a:xfrm>
            <a:off x="609600" y="1124745"/>
            <a:ext cx="5486400" cy="5320300"/>
          </a:xfrm>
        </p:spPr>
        <p:txBody>
          <a:bodyPr vert="horz" wrap="square" lIns="91440" tIns="45720" rIns="91440" bIns="45720" rtlCol="0" anchor="t">
            <a:normAutofit fontScale="92500" lnSpcReduction="10000"/>
          </a:bodyPr>
          <a:lstStyle/>
          <a:p>
            <a:r>
              <a:rPr lang="en-IN" sz="2000" dirty="0">
                <a:latin typeface="Calibri"/>
              </a:rPr>
              <a:t>Academic credentials — degree certificates, mark sheets, provisional certificates — are still issued and verified largely as paper documents or static PDF/image files.</a:t>
            </a:r>
          </a:p>
          <a:p>
            <a:r>
              <a:rPr lang="en-IN" sz="2000" dirty="0">
                <a:latin typeface="Calibri"/>
              </a:rPr>
              <a:t>Verification today depends on </a:t>
            </a:r>
            <a:r>
              <a:rPr lang="en-IN" sz="2000" dirty="0">
                <a:highlight>
                  <a:srgbClr val="FFFF00"/>
                </a:highlight>
                <a:latin typeface="Calibri"/>
              </a:rPr>
              <a:t>manual, institution-specific processes — phone calls, emails, or physical visits to the issuing college</a:t>
            </a:r>
            <a:r>
              <a:rPr lang="en-IN" sz="2000" dirty="0">
                <a:latin typeface="Calibri"/>
              </a:rPr>
              <a:t> — which are slow and do not scale across employers, other universities, and government portals.</a:t>
            </a:r>
          </a:p>
          <a:p>
            <a:r>
              <a:rPr lang="en-IN" sz="2000" dirty="0">
                <a:latin typeface="Calibri"/>
              </a:rPr>
              <a:t>Digital certificates can be convincingly edited (fonts, grades, dates) with common editing tools, and a viewer has no independent way to check whether a certificate is genuine or altered.</a:t>
            </a:r>
          </a:p>
          <a:p>
            <a:r>
              <a:rPr lang="en-IN" sz="2000" dirty="0">
                <a:latin typeface="Calibri"/>
              </a:rPr>
              <a:t>Blockchain offers a tamper-evident, publicly verifiable record: once a cryptographic fingerprint (hash) of a credential is written on-chain, any change to the original document changes the hash and is immediately detectable.</a:t>
            </a:r>
          </a:p>
        </p:txBody>
      </p:sp>
      <p:pic>
        <p:nvPicPr>
          <p:cNvPr id="2" name="Picture 1">
            <a:extLst>
              <a:ext uri="{FF2B5EF4-FFF2-40B4-BE49-F238E27FC236}">
                <a16:creationId xmlns:a16="http://schemas.microsoft.com/office/drawing/2014/main" id="{D046E4DE-BCE0-C9B2-CDC2-1E28119D86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4256" y="134859"/>
            <a:ext cx="3184992" cy="563562"/>
          </a:xfrm>
          <a:prstGeom prst="rect">
            <a:avLst/>
          </a:prstGeom>
        </p:spPr>
      </p:pic>
      <p:pic>
        <p:nvPicPr>
          <p:cNvPr id="4" name="Picture 3">
            <a:extLst>
              <a:ext uri="{FF2B5EF4-FFF2-40B4-BE49-F238E27FC236}">
                <a16:creationId xmlns:a16="http://schemas.microsoft.com/office/drawing/2014/main" id="{C27A475D-6DC9-EA2A-D995-F27222992AF6}"/>
              </a:ext>
            </a:extLst>
          </p:cNvPr>
          <p:cNvPicPr>
            <a:picLocks noChangeAspect="1"/>
          </p:cNvPicPr>
          <p:nvPr/>
        </p:nvPicPr>
        <p:blipFill>
          <a:blip r:embed="rId3"/>
          <a:stretch>
            <a:fillRect/>
          </a:stretch>
        </p:blipFill>
        <p:spPr>
          <a:xfrm>
            <a:off x="7315200" y="1032832"/>
            <a:ext cx="4373697" cy="3259638"/>
          </a:xfrm>
          <a:prstGeom prst="rect">
            <a:avLst/>
          </a:prstGeom>
        </p:spPr>
      </p:pic>
      <p:sp>
        <p:nvSpPr>
          <p:cNvPr id="5" name="TextBox 4">
            <a:extLst>
              <a:ext uri="{FF2B5EF4-FFF2-40B4-BE49-F238E27FC236}">
                <a16:creationId xmlns:a16="http://schemas.microsoft.com/office/drawing/2014/main" id="{8EAB3B24-CAF6-38ED-2E16-53BC7601B89A}"/>
              </a:ext>
            </a:extLst>
          </p:cNvPr>
          <p:cNvSpPr txBox="1"/>
          <p:nvPr/>
        </p:nvSpPr>
        <p:spPr>
          <a:xfrm>
            <a:off x="6842794" y="4442215"/>
            <a:ext cx="5318507" cy="369332"/>
          </a:xfrm>
          <a:prstGeom prst="rect">
            <a:avLst/>
          </a:prstGeom>
          <a:noFill/>
        </p:spPr>
        <p:txBody>
          <a:bodyPr wrap="none" rtlCol="0">
            <a:spAutoFit/>
          </a:bodyPr>
          <a:lstStyle/>
          <a:p>
            <a:r>
              <a:rPr lang="en-US" dirty="0">
                <a:hlinkClick r:id="rId4"/>
              </a:rPr>
              <a:t>Fired over ‘fake’ certificates, Central Bank workers</a:t>
            </a:r>
            <a:endParaRPr lang="en-US" dirty="0"/>
          </a:p>
        </p:txBody>
      </p:sp>
      <p:sp>
        <p:nvSpPr>
          <p:cNvPr id="6" name="TextBox 5">
            <a:extLst>
              <a:ext uri="{FF2B5EF4-FFF2-40B4-BE49-F238E27FC236}">
                <a16:creationId xmlns:a16="http://schemas.microsoft.com/office/drawing/2014/main" id="{7BCDA9E9-77B8-3951-025F-D38D2C7E35B8}"/>
              </a:ext>
            </a:extLst>
          </p:cNvPr>
          <p:cNvSpPr txBox="1"/>
          <p:nvPr/>
        </p:nvSpPr>
        <p:spPr>
          <a:xfrm>
            <a:off x="6230380" y="4811547"/>
            <a:ext cx="6083717" cy="369332"/>
          </a:xfrm>
          <a:prstGeom prst="rect">
            <a:avLst/>
          </a:prstGeom>
          <a:noFill/>
        </p:spPr>
        <p:txBody>
          <a:bodyPr wrap="square" rtlCol="0">
            <a:spAutoFit/>
          </a:bodyPr>
          <a:lstStyle/>
          <a:p>
            <a:r>
              <a:rPr lang="en-US" dirty="0">
                <a:hlinkClick r:id="rId5"/>
              </a:rPr>
              <a:t>BSF constable — forged educational documents detected</a:t>
            </a:r>
            <a:endParaRPr lang="en-US" dirty="0"/>
          </a:p>
        </p:txBody>
      </p:sp>
      <p:sp>
        <p:nvSpPr>
          <p:cNvPr id="8" name="TextBox 7">
            <a:extLst>
              <a:ext uri="{FF2B5EF4-FFF2-40B4-BE49-F238E27FC236}">
                <a16:creationId xmlns:a16="http://schemas.microsoft.com/office/drawing/2014/main" id="{C0724C96-D034-55A3-3ED8-CF4D22F1FF06}"/>
              </a:ext>
            </a:extLst>
          </p:cNvPr>
          <p:cNvSpPr txBox="1"/>
          <p:nvPr/>
        </p:nvSpPr>
        <p:spPr>
          <a:xfrm>
            <a:off x="6824752" y="5180879"/>
            <a:ext cx="5237396" cy="369332"/>
          </a:xfrm>
          <a:prstGeom prst="rect">
            <a:avLst/>
          </a:prstGeom>
          <a:noFill/>
        </p:spPr>
        <p:txBody>
          <a:bodyPr wrap="none" rtlCol="0">
            <a:spAutoFit/>
          </a:bodyPr>
          <a:lstStyle/>
          <a:p>
            <a:r>
              <a:rPr lang="en-US" dirty="0">
                <a:hlinkClick r:id="rId6"/>
              </a:rPr>
              <a:t>Odisha Home Department — fake BCA certificate</a:t>
            </a:r>
            <a:endParaRPr lang="en-US" dirty="0"/>
          </a:p>
        </p:txBody>
      </p:sp>
      <p:sp>
        <p:nvSpPr>
          <p:cNvPr id="9" name="TextBox 8">
            <a:extLst>
              <a:ext uri="{FF2B5EF4-FFF2-40B4-BE49-F238E27FC236}">
                <a16:creationId xmlns:a16="http://schemas.microsoft.com/office/drawing/2014/main" id="{71914793-1233-097B-159A-46E56E76D6FB}"/>
              </a:ext>
            </a:extLst>
          </p:cNvPr>
          <p:cNvSpPr txBox="1"/>
          <p:nvPr/>
        </p:nvSpPr>
        <p:spPr>
          <a:xfrm>
            <a:off x="6824752" y="5640502"/>
            <a:ext cx="5104924" cy="369332"/>
          </a:xfrm>
          <a:prstGeom prst="rect">
            <a:avLst/>
          </a:prstGeom>
          <a:noFill/>
        </p:spPr>
        <p:txBody>
          <a:bodyPr wrap="none" rtlCol="0">
            <a:spAutoFit/>
          </a:bodyPr>
          <a:lstStyle/>
          <a:p>
            <a:r>
              <a:rPr lang="en-US" dirty="0">
                <a:hlinkClick r:id="rId7"/>
              </a:rPr>
              <a:t>EY India — employment background verification</a:t>
            </a:r>
            <a:endParaRPr lang="en-US" dirty="0"/>
          </a:p>
        </p:txBody>
      </p:sp>
    </p:spTree>
    <p:extLst>
      <p:ext uri="{BB962C8B-B14F-4D97-AF65-F5344CB8AC3E}">
        <p14:creationId xmlns:p14="http://schemas.microsoft.com/office/powerpoint/2010/main" val="308974581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03B4-DE94-29CC-B902-989E20834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E99C9E-6A0E-333F-5A49-29CB3CF69502}"/>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Review of literature</a:t>
            </a:r>
          </a:p>
        </p:txBody>
      </p:sp>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375176129"/>
              </p:ext>
            </p:extLst>
          </p:nvPr>
        </p:nvGraphicFramePr>
        <p:xfrm>
          <a:off x="427703" y="1135626"/>
          <a:ext cx="11356929" cy="5269230"/>
        </p:xfrm>
        <a:graphic>
          <a:graphicData uri="http://schemas.openxmlformats.org/drawingml/2006/table">
            <a:tbl>
              <a:tblPr firstRow="1" bandRow="1">
                <a:tableStyleId>{5C22544A-7EE6-4342-B048-85BDC9FD1C3A}</a:tableStyleId>
              </a:tblPr>
              <a:tblGrid>
                <a:gridCol w="707923">
                  <a:extLst>
                    <a:ext uri="{9D8B030D-6E8A-4147-A177-3AD203B41FA5}">
                      <a16:colId xmlns:a16="http://schemas.microsoft.com/office/drawing/2014/main" val="3476363090"/>
                    </a:ext>
                  </a:extLst>
                </a:gridCol>
                <a:gridCol w="2580968">
                  <a:extLst>
                    <a:ext uri="{9D8B030D-6E8A-4147-A177-3AD203B41FA5}">
                      <a16:colId xmlns:a16="http://schemas.microsoft.com/office/drawing/2014/main" val="3690190586"/>
                    </a:ext>
                  </a:extLst>
                </a:gridCol>
                <a:gridCol w="2249940">
                  <a:extLst>
                    <a:ext uri="{9D8B030D-6E8A-4147-A177-3AD203B41FA5}">
                      <a16:colId xmlns:a16="http://schemas.microsoft.com/office/drawing/2014/main" val="363996245"/>
                    </a:ext>
                  </a:extLst>
                </a:gridCol>
                <a:gridCol w="1837749">
                  <a:extLst>
                    <a:ext uri="{9D8B030D-6E8A-4147-A177-3AD203B41FA5}">
                      <a16:colId xmlns:a16="http://schemas.microsoft.com/office/drawing/2014/main" val="3098826648"/>
                    </a:ext>
                  </a:extLst>
                </a:gridCol>
                <a:gridCol w="2024287">
                  <a:extLst>
                    <a:ext uri="{9D8B030D-6E8A-4147-A177-3AD203B41FA5}">
                      <a16:colId xmlns:a16="http://schemas.microsoft.com/office/drawing/2014/main" val="646655925"/>
                    </a:ext>
                  </a:extLst>
                </a:gridCol>
                <a:gridCol w="1956062">
                  <a:extLst>
                    <a:ext uri="{9D8B030D-6E8A-4147-A177-3AD203B41FA5}">
                      <a16:colId xmlns:a16="http://schemas.microsoft.com/office/drawing/2014/main" val="923233871"/>
                    </a:ext>
                  </a:extLst>
                </a:gridCol>
              </a:tblGrid>
              <a:tr h="457200">
                <a:tc>
                  <a:txBody>
                    <a:bodyPr/>
                    <a:lstStyle/>
                    <a:p>
                      <a:pPr marL="0" marR="0" algn="ctr">
                        <a:lnSpc>
                          <a:spcPct val="107000"/>
                        </a:lnSpc>
                        <a:spcBef>
                          <a:spcPts val="0"/>
                        </a:spcBef>
                        <a:spcAft>
                          <a:spcPts val="0"/>
                        </a:spcAft>
                      </a:pPr>
                      <a:r>
                        <a:rPr lang="en-US" sz="1400" kern="1200" dirty="0" err="1">
                          <a:effectLst/>
                        </a:rPr>
                        <a:t>Sl.No</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Author Name, Journal, Publication Year</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Research/ Methodology </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Performance Metrics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Advantages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Disadvantages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891171937"/>
                  </a:ext>
                </a:extLst>
              </a:tr>
              <a:tr h="676656">
                <a:tc>
                  <a:txBody>
                    <a:bodyPr/>
                    <a:lstStyle/>
                    <a:p>
                      <a:pPr algn="l">
                        <a:lnSpc>
                          <a:spcPct val="100000"/>
                        </a:lnSpc>
                        <a:spcBef>
                          <a:spcPts val="0"/>
                        </a:spcBef>
                        <a:spcAft>
                          <a:spcPts val="0"/>
                        </a:spcAft>
                      </a:pPr>
                      <a:r>
                        <a:rPr sz="1050" dirty="0">
                          <a:solidFill>
                            <a:srgbClr val="1C2B2E"/>
                          </a:solidFill>
                        </a:rPr>
                        <a:t>1</a:t>
                      </a:r>
                    </a:p>
                  </a:txBody>
                  <a:tcPr marL="45000" marR="45000" marT="18000" marB="18000"/>
                </a:tc>
                <a:tc>
                  <a:txBody>
                    <a:bodyPr/>
                    <a:lstStyle/>
                    <a:p>
                      <a:pPr algn="l">
                        <a:lnSpc>
                          <a:spcPct val="100000"/>
                        </a:lnSpc>
                        <a:spcBef>
                          <a:spcPts val="0"/>
                        </a:spcBef>
                        <a:spcAft>
                          <a:spcPts val="0"/>
                        </a:spcAft>
                      </a:pPr>
                      <a:r>
                        <a:rPr sz="1050" dirty="0">
                          <a:solidFill>
                            <a:srgbClr val="1C2B2E"/>
                          </a:solidFill>
                        </a:rPr>
                        <a:t>Nikolić, Matić &amp; </a:t>
                      </a:r>
                      <a:r>
                        <a:rPr sz="1050" dirty="0" err="1">
                          <a:solidFill>
                            <a:srgbClr val="1C2B2E"/>
                          </a:solidFill>
                        </a:rPr>
                        <a:t>Čapko</a:t>
                      </a:r>
                      <a:r>
                        <a:rPr sz="1050" dirty="0">
                          <a:solidFill>
                            <a:srgbClr val="1C2B2E"/>
                          </a:solidFill>
                        </a:rPr>
                        <a:t> — TELFOR, 2022</a:t>
                      </a:r>
                    </a:p>
                  </a:txBody>
                  <a:tcPr marL="45000" marR="45000" marT="18000" marB="18000"/>
                </a:tc>
                <a:tc>
                  <a:txBody>
                    <a:bodyPr/>
                    <a:lstStyle/>
                    <a:p>
                      <a:pPr algn="l">
                        <a:lnSpc>
                          <a:spcPct val="100000"/>
                        </a:lnSpc>
                        <a:spcBef>
                          <a:spcPts val="0"/>
                        </a:spcBef>
                        <a:spcAft>
                          <a:spcPts val="0"/>
                        </a:spcAft>
                      </a:pPr>
                      <a:r>
                        <a:rPr sz="1000">
                          <a:solidFill>
                            <a:srgbClr val="1C2B2E"/>
                          </a:solidFill>
                        </a:rPr>
                        <a:t>"Ethernal" NFT-based certificate on Polygon Supernets</a:t>
                      </a:r>
                    </a:p>
                  </a:txBody>
                  <a:tcPr marL="45000" marR="45000" marT="18000" marB="18000"/>
                </a:tc>
                <a:tc>
                  <a:txBody>
                    <a:bodyPr/>
                    <a:lstStyle/>
                    <a:p>
                      <a:pPr algn="l">
                        <a:lnSpc>
                          <a:spcPct val="100000"/>
                        </a:lnSpc>
                        <a:spcBef>
                          <a:spcPts val="0"/>
                        </a:spcBef>
                        <a:spcAft>
                          <a:spcPts val="0"/>
                        </a:spcAft>
                      </a:pPr>
                      <a:r>
                        <a:rPr sz="1000">
                          <a:solidFill>
                            <a:srgbClr val="1C2B2E"/>
                          </a:solidFill>
                        </a:rPr>
                        <a:t>Non-transferable certificate tokens in student wallets</a:t>
                      </a:r>
                    </a:p>
                  </a:txBody>
                  <a:tcPr marL="45000" marR="45000" marT="18000" marB="18000"/>
                </a:tc>
                <a:tc>
                  <a:txBody>
                    <a:bodyPr/>
                    <a:lstStyle/>
                    <a:p>
                      <a:pPr algn="l">
                        <a:lnSpc>
                          <a:spcPct val="100000"/>
                        </a:lnSpc>
                        <a:spcBef>
                          <a:spcPts val="0"/>
                        </a:spcBef>
                        <a:spcAft>
                          <a:spcPts val="0"/>
                        </a:spcAft>
                      </a:pPr>
                      <a:r>
                        <a:rPr sz="1000">
                          <a:solidFill>
                            <a:srgbClr val="1C2B2E"/>
                          </a:solidFill>
                        </a:rPr>
                        <a:t>No third-party verifier needed; certificates cannot be resold/transferred</a:t>
                      </a:r>
                    </a:p>
                  </a:txBody>
                  <a:tcPr marL="45000" marR="45000" marT="18000" marB="18000"/>
                </a:tc>
                <a:tc>
                  <a:txBody>
                    <a:bodyPr/>
                    <a:lstStyle/>
                    <a:p>
                      <a:pPr algn="l">
                        <a:lnSpc>
                          <a:spcPct val="100000"/>
                        </a:lnSpc>
                        <a:spcBef>
                          <a:spcPts val="0"/>
                        </a:spcBef>
                        <a:spcAft>
                          <a:spcPts val="0"/>
                        </a:spcAft>
                      </a:pPr>
                      <a:r>
                        <a:rPr sz="1000">
                          <a:solidFill>
                            <a:srgbClr val="1C2B2E"/>
                          </a:solidFill>
                        </a:rPr>
                        <a:t>Wallet-based UX unfamiliar to non-technical users; limited performance data</a:t>
                      </a:r>
                    </a:p>
                  </a:txBody>
                  <a:tcPr marL="45000" marR="45000" marT="18000" marB="18000"/>
                </a:tc>
                <a:extLst>
                  <a:ext uri="{0D108BD9-81ED-4DB2-BD59-A6C34878D82A}">
                    <a16:rowId xmlns:a16="http://schemas.microsoft.com/office/drawing/2014/main" val="863371691"/>
                  </a:ext>
                </a:extLst>
              </a:tr>
              <a:tr h="676656">
                <a:tc>
                  <a:txBody>
                    <a:bodyPr/>
                    <a:lstStyle/>
                    <a:p>
                      <a:pPr algn="l">
                        <a:lnSpc>
                          <a:spcPct val="100000"/>
                        </a:lnSpc>
                        <a:spcBef>
                          <a:spcPts val="0"/>
                        </a:spcBef>
                        <a:spcAft>
                          <a:spcPts val="0"/>
                        </a:spcAft>
                      </a:pPr>
                      <a:r>
                        <a:rPr sz="1050">
                          <a:solidFill>
                            <a:srgbClr val="1C2B2E"/>
                          </a:solidFill>
                        </a:rPr>
                        <a:t>2</a:t>
                      </a:r>
                    </a:p>
                  </a:txBody>
                  <a:tcPr marL="45000" marR="45000" marT="18000" marB="18000"/>
                </a:tc>
                <a:tc>
                  <a:txBody>
                    <a:bodyPr/>
                    <a:lstStyle/>
                    <a:p>
                      <a:pPr algn="l">
                        <a:lnSpc>
                          <a:spcPct val="100000"/>
                        </a:lnSpc>
                        <a:spcBef>
                          <a:spcPts val="0"/>
                        </a:spcBef>
                        <a:spcAft>
                          <a:spcPts val="0"/>
                        </a:spcAft>
                      </a:pPr>
                      <a:r>
                        <a:rPr sz="1050" dirty="0">
                          <a:solidFill>
                            <a:srgbClr val="1C2B2E"/>
                          </a:solidFill>
                        </a:rPr>
                        <a:t>Soe Moe Aye et al. — ICAIT, 2025</a:t>
                      </a:r>
                    </a:p>
                  </a:txBody>
                  <a:tcPr marL="45000" marR="45000" marT="18000" marB="18000"/>
                </a:tc>
                <a:tc>
                  <a:txBody>
                    <a:bodyPr/>
                    <a:lstStyle/>
                    <a:p>
                      <a:pPr algn="l">
                        <a:lnSpc>
                          <a:spcPct val="100000"/>
                        </a:lnSpc>
                        <a:spcBef>
                          <a:spcPts val="0"/>
                        </a:spcBef>
                        <a:spcAft>
                          <a:spcPts val="0"/>
                        </a:spcAft>
                      </a:pPr>
                      <a:r>
                        <a:rPr sz="1000">
                          <a:solidFill>
                            <a:srgbClr val="1C2B2E"/>
                          </a:solidFill>
                        </a:rPr>
                        <a:t>Encrypted, content-addressed records anchored on Ethereum; file in IPFS</a:t>
                      </a:r>
                    </a:p>
                  </a:txBody>
                  <a:tcPr marL="45000" marR="45000" marT="18000" marB="18000"/>
                </a:tc>
                <a:tc>
                  <a:txBody>
                    <a:bodyPr/>
                    <a:lstStyle/>
                    <a:p>
                      <a:pPr algn="l">
                        <a:lnSpc>
                          <a:spcPct val="100000"/>
                        </a:lnSpc>
                        <a:spcBef>
                          <a:spcPts val="0"/>
                        </a:spcBef>
                        <a:spcAft>
                          <a:spcPts val="0"/>
                        </a:spcAft>
                      </a:pPr>
                      <a:r>
                        <a:rPr sz="1000">
                          <a:solidFill>
                            <a:srgbClr val="1C2B2E"/>
                          </a:solidFill>
                        </a:rPr>
                        <a:t>SIWE auth; minimal on-chain registry; Ethereum L1 vs ZK-rollup comparison</a:t>
                      </a:r>
                    </a:p>
                  </a:txBody>
                  <a:tcPr marL="45000" marR="45000" marT="18000" marB="18000"/>
                </a:tc>
                <a:tc>
                  <a:txBody>
                    <a:bodyPr/>
                    <a:lstStyle/>
                    <a:p>
                      <a:pPr algn="l">
                        <a:lnSpc>
                          <a:spcPct val="100000"/>
                        </a:lnSpc>
                        <a:spcBef>
                          <a:spcPts val="0"/>
                        </a:spcBef>
                        <a:spcAft>
                          <a:spcPts val="0"/>
                        </a:spcAft>
                      </a:pPr>
                      <a:r>
                        <a:rPr sz="1000">
                          <a:solidFill>
                            <a:srgbClr val="1C2B2E"/>
                          </a:solidFill>
                        </a:rPr>
                        <a:t>Strong privacy via proxy re-encryption + key rotation; low on-chain footprint</a:t>
                      </a:r>
                    </a:p>
                  </a:txBody>
                  <a:tcPr marL="45000" marR="45000" marT="18000" marB="18000"/>
                </a:tc>
                <a:tc>
                  <a:txBody>
                    <a:bodyPr/>
                    <a:lstStyle/>
                    <a:p>
                      <a:pPr algn="l">
                        <a:lnSpc>
                          <a:spcPct val="100000"/>
                        </a:lnSpc>
                        <a:spcBef>
                          <a:spcPts val="0"/>
                        </a:spcBef>
                        <a:spcAft>
                          <a:spcPts val="0"/>
                        </a:spcAft>
                      </a:pPr>
                      <a:r>
                        <a:rPr sz="1000">
                          <a:solidFill>
                            <a:srgbClr val="1C2B2E"/>
                          </a:solidFill>
                        </a:rPr>
                        <a:t>Added key-management complexity; overhead not fully quantified</a:t>
                      </a:r>
                    </a:p>
                  </a:txBody>
                  <a:tcPr marL="45000" marR="45000" marT="18000" marB="18000"/>
                </a:tc>
                <a:extLst>
                  <a:ext uri="{0D108BD9-81ED-4DB2-BD59-A6C34878D82A}">
                    <a16:rowId xmlns:a16="http://schemas.microsoft.com/office/drawing/2014/main" val="1726591487"/>
                  </a:ext>
                </a:extLst>
              </a:tr>
              <a:tr h="676656">
                <a:tc>
                  <a:txBody>
                    <a:bodyPr/>
                    <a:lstStyle/>
                    <a:p>
                      <a:pPr algn="l">
                        <a:lnSpc>
                          <a:spcPct val="100000"/>
                        </a:lnSpc>
                        <a:spcBef>
                          <a:spcPts val="0"/>
                        </a:spcBef>
                        <a:spcAft>
                          <a:spcPts val="0"/>
                        </a:spcAft>
                      </a:pPr>
                      <a:r>
                        <a:rPr sz="1050">
                          <a:solidFill>
                            <a:srgbClr val="1C2B2E"/>
                          </a:solidFill>
                        </a:rPr>
                        <a:t>3</a:t>
                      </a:r>
                    </a:p>
                  </a:txBody>
                  <a:tcPr marL="45000" marR="45000" marT="18000" marB="18000"/>
                </a:tc>
                <a:tc>
                  <a:txBody>
                    <a:bodyPr/>
                    <a:lstStyle/>
                    <a:p>
                      <a:pPr algn="l">
                        <a:lnSpc>
                          <a:spcPct val="100000"/>
                        </a:lnSpc>
                        <a:spcBef>
                          <a:spcPts val="0"/>
                        </a:spcBef>
                        <a:spcAft>
                          <a:spcPts val="0"/>
                        </a:spcAft>
                      </a:pPr>
                      <a:r>
                        <a:rPr sz="1050">
                          <a:solidFill>
                            <a:srgbClr val="1C2B2E"/>
                          </a:solidFill>
                        </a:rPr>
                        <a:t>Bharati et al. — ICCUBEA, 2024</a:t>
                      </a:r>
                    </a:p>
                  </a:txBody>
                  <a:tcPr marL="45000" marR="45000" marT="18000" marB="18000"/>
                </a:tc>
                <a:tc>
                  <a:txBody>
                    <a:bodyPr/>
                    <a:lstStyle/>
                    <a:p>
                      <a:pPr algn="l">
                        <a:lnSpc>
                          <a:spcPct val="100000"/>
                        </a:lnSpc>
                        <a:spcBef>
                          <a:spcPts val="0"/>
                        </a:spcBef>
                        <a:spcAft>
                          <a:spcPts val="0"/>
                        </a:spcAft>
                      </a:pPr>
                      <a:r>
                        <a:rPr sz="1000">
                          <a:solidFill>
                            <a:srgbClr val="1C2B2E"/>
                          </a:solidFill>
                        </a:rPr>
                        <a:t>Converts paper documents to e-files, hashes them, stores hash on-chain</a:t>
                      </a:r>
                    </a:p>
                  </a:txBody>
                  <a:tcPr marL="45000" marR="45000" marT="18000" marB="18000"/>
                </a:tc>
                <a:tc>
                  <a:txBody>
                    <a:bodyPr/>
                    <a:lstStyle/>
                    <a:p>
                      <a:pPr algn="l">
                        <a:lnSpc>
                          <a:spcPct val="100000"/>
                        </a:lnSpc>
                        <a:spcBef>
                          <a:spcPts val="0"/>
                        </a:spcBef>
                        <a:spcAft>
                          <a:spcPts val="0"/>
                        </a:spcAft>
                      </a:pPr>
                      <a:r>
                        <a:rPr sz="1000">
                          <a:solidFill>
                            <a:srgbClr val="1C2B2E"/>
                          </a:solidFill>
                        </a:rPr>
                        <a:t>QR + inquiry codes for mobile/website verification</a:t>
                      </a:r>
                    </a:p>
                  </a:txBody>
                  <a:tcPr marL="45000" marR="45000" marT="18000" marB="18000"/>
                </a:tc>
                <a:tc>
                  <a:txBody>
                    <a:bodyPr/>
                    <a:lstStyle/>
                    <a:p>
                      <a:pPr algn="l">
                        <a:lnSpc>
                          <a:spcPct val="100000"/>
                        </a:lnSpc>
                        <a:spcBef>
                          <a:spcPts val="0"/>
                        </a:spcBef>
                        <a:spcAft>
                          <a:spcPts val="0"/>
                        </a:spcAft>
                      </a:pPr>
                      <a:r>
                        <a:rPr sz="1000">
                          <a:solidFill>
                            <a:srgbClr val="1C2B2E"/>
                          </a:solidFill>
                        </a:rPr>
                        <a:t>Simple, practical retrofit for existing paper-based records</a:t>
                      </a:r>
                    </a:p>
                  </a:txBody>
                  <a:tcPr marL="45000" marR="45000" marT="18000" marB="18000"/>
                </a:tc>
                <a:tc>
                  <a:txBody>
                    <a:bodyPr/>
                    <a:lstStyle/>
                    <a:p>
                      <a:pPr algn="l">
                        <a:lnSpc>
                          <a:spcPct val="100000"/>
                        </a:lnSpc>
                        <a:spcBef>
                          <a:spcPts val="0"/>
                        </a:spcBef>
                        <a:spcAft>
                          <a:spcPts val="0"/>
                        </a:spcAft>
                      </a:pPr>
                      <a:r>
                        <a:rPr sz="1000">
                          <a:solidFill>
                            <a:srgbClr val="1C2B2E"/>
                          </a:solidFill>
                        </a:rPr>
                        <a:t>Basic hash-only check; no batching or advanced tamper detection</a:t>
                      </a:r>
                    </a:p>
                  </a:txBody>
                  <a:tcPr marL="45000" marR="45000" marT="18000" marB="18000"/>
                </a:tc>
                <a:extLst>
                  <a:ext uri="{0D108BD9-81ED-4DB2-BD59-A6C34878D82A}">
                    <a16:rowId xmlns:a16="http://schemas.microsoft.com/office/drawing/2014/main" val="3451593235"/>
                  </a:ext>
                </a:extLst>
              </a:tr>
              <a:tr h="676656">
                <a:tc>
                  <a:txBody>
                    <a:bodyPr/>
                    <a:lstStyle/>
                    <a:p>
                      <a:pPr algn="l">
                        <a:lnSpc>
                          <a:spcPct val="100000"/>
                        </a:lnSpc>
                        <a:spcBef>
                          <a:spcPts val="0"/>
                        </a:spcBef>
                        <a:spcAft>
                          <a:spcPts val="0"/>
                        </a:spcAft>
                      </a:pPr>
                      <a:r>
                        <a:rPr sz="1050">
                          <a:solidFill>
                            <a:srgbClr val="1C2B2E"/>
                          </a:solidFill>
                        </a:rPr>
                        <a:t>4</a:t>
                      </a:r>
                    </a:p>
                  </a:txBody>
                  <a:tcPr marL="45000" marR="45000" marT="18000" marB="18000"/>
                </a:tc>
                <a:tc>
                  <a:txBody>
                    <a:bodyPr/>
                    <a:lstStyle/>
                    <a:p>
                      <a:pPr algn="l">
                        <a:lnSpc>
                          <a:spcPct val="100000"/>
                        </a:lnSpc>
                        <a:spcBef>
                          <a:spcPts val="0"/>
                        </a:spcBef>
                        <a:spcAft>
                          <a:spcPts val="0"/>
                        </a:spcAft>
                      </a:pPr>
                      <a:r>
                        <a:rPr sz="1050">
                          <a:solidFill>
                            <a:srgbClr val="1C2B2E"/>
                          </a:solidFill>
                        </a:rPr>
                        <a:t>ICIRCA, 2026</a:t>
                      </a:r>
                    </a:p>
                  </a:txBody>
                  <a:tcPr marL="45000" marR="45000" marT="18000" marB="18000"/>
                </a:tc>
                <a:tc>
                  <a:txBody>
                    <a:bodyPr/>
                    <a:lstStyle/>
                    <a:p>
                      <a:pPr algn="l">
                        <a:lnSpc>
                          <a:spcPct val="100000"/>
                        </a:lnSpc>
                        <a:spcBef>
                          <a:spcPts val="0"/>
                        </a:spcBef>
                        <a:spcAft>
                          <a:spcPts val="0"/>
                        </a:spcAft>
                      </a:pPr>
                      <a:r>
                        <a:rPr sz="1000">
                          <a:solidFill>
                            <a:srgbClr val="1C2B2E"/>
                          </a:solidFill>
                        </a:rPr>
                        <a:t>Hybrid model: certificate + Verifiable Credential docs on IPFS</a:t>
                      </a:r>
                    </a:p>
                  </a:txBody>
                  <a:tcPr marL="45000" marR="45000" marT="18000" marB="18000"/>
                </a:tc>
                <a:tc>
                  <a:txBody>
                    <a:bodyPr/>
                    <a:lstStyle/>
                    <a:p>
                      <a:pPr algn="l">
                        <a:lnSpc>
                          <a:spcPct val="100000"/>
                        </a:lnSpc>
                        <a:spcBef>
                          <a:spcPts val="0"/>
                        </a:spcBef>
                        <a:spcAft>
                          <a:spcPts val="0"/>
                        </a:spcAft>
                      </a:pPr>
                      <a:r>
                        <a:rPr sz="1000">
                          <a:solidFill>
                            <a:srgbClr val="1C2B2E"/>
                          </a:solidFill>
                        </a:rPr>
                        <a:t>Merkle-tree hash batching; one-click QR verification</a:t>
                      </a:r>
                    </a:p>
                  </a:txBody>
                  <a:tcPr marL="45000" marR="45000" marT="18000" marB="18000"/>
                </a:tc>
                <a:tc>
                  <a:txBody>
                    <a:bodyPr/>
                    <a:lstStyle/>
                    <a:p>
                      <a:pPr algn="l">
                        <a:lnSpc>
                          <a:spcPct val="100000"/>
                        </a:lnSpc>
                        <a:spcBef>
                          <a:spcPts val="0"/>
                        </a:spcBef>
                        <a:spcAft>
                          <a:spcPts val="0"/>
                        </a:spcAft>
                      </a:pPr>
                      <a:r>
                        <a:rPr sz="1000">
                          <a:solidFill>
                            <a:srgbClr val="1C2B2E"/>
                          </a:solidFill>
                        </a:rPr>
                        <a:t>Large transaction-cost reduction via batching</a:t>
                      </a:r>
                    </a:p>
                  </a:txBody>
                  <a:tcPr marL="45000" marR="45000" marT="18000" marB="18000"/>
                </a:tc>
                <a:tc>
                  <a:txBody>
                    <a:bodyPr/>
                    <a:lstStyle/>
                    <a:p>
                      <a:pPr algn="l">
                        <a:lnSpc>
                          <a:spcPct val="100000"/>
                        </a:lnSpc>
                        <a:spcBef>
                          <a:spcPts val="0"/>
                        </a:spcBef>
                        <a:spcAft>
                          <a:spcPts val="0"/>
                        </a:spcAft>
                      </a:pPr>
                      <a:r>
                        <a:rPr sz="1000">
                          <a:solidFill>
                            <a:srgbClr val="1C2B2E"/>
                          </a:solidFill>
                        </a:rPr>
                        <a:t>Depends on IPFS pinning; Merkle-proof adds client complexity</a:t>
                      </a:r>
                    </a:p>
                  </a:txBody>
                  <a:tcPr marL="45000" marR="45000" marT="18000" marB="18000"/>
                </a:tc>
                <a:extLst>
                  <a:ext uri="{0D108BD9-81ED-4DB2-BD59-A6C34878D82A}">
                    <a16:rowId xmlns:a16="http://schemas.microsoft.com/office/drawing/2014/main" val="3572644663"/>
                  </a:ext>
                </a:extLst>
              </a:tr>
              <a:tr h="676656">
                <a:tc>
                  <a:txBody>
                    <a:bodyPr/>
                    <a:lstStyle/>
                    <a:p>
                      <a:pPr algn="l">
                        <a:lnSpc>
                          <a:spcPct val="100000"/>
                        </a:lnSpc>
                        <a:spcBef>
                          <a:spcPts val="0"/>
                        </a:spcBef>
                        <a:spcAft>
                          <a:spcPts val="0"/>
                        </a:spcAft>
                      </a:pPr>
                      <a:r>
                        <a:rPr sz="1050">
                          <a:solidFill>
                            <a:srgbClr val="1C2B2E"/>
                          </a:solidFill>
                        </a:rPr>
                        <a:t>5</a:t>
                      </a:r>
                    </a:p>
                  </a:txBody>
                  <a:tcPr marL="45000" marR="45000" marT="18000" marB="18000"/>
                </a:tc>
                <a:tc>
                  <a:txBody>
                    <a:bodyPr/>
                    <a:lstStyle/>
                    <a:p>
                      <a:pPr algn="l">
                        <a:lnSpc>
                          <a:spcPct val="100000"/>
                        </a:lnSpc>
                        <a:spcBef>
                          <a:spcPts val="0"/>
                        </a:spcBef>
                        <a:spcAft>
                          <a:spcPts val="0"/>
                        </a:spcAft>
                      </a:pPr>
                      <a:r>
                        <a:rPr sz="1050">
                          <a:solidFill>
                            <a:srgbClr val="1C2B2E"/>
                          </a:solidFill>
                        </a:rPr>
                        <a:t>RCSM, 2025</a:t>
                      </a:r>
                    </a:p>
                  </a:txBody>
                  <a:tcPr marL="45000" marR="45000" marT="18000" marB="18000"/>
                </a:tc>
                <a:tc>
                  <a:txBody>
                    <a:bodyPr/>
                    <a:lstStyle/>
                    <a:p>
                      <a:pPr algn="l">
                        <a:lnSpc>
                          <a:spcPct val="100000"/>
                        </a:lnSpc>
                        <a:spcBef>
                          <a:spcPts val="0"/>
                        </a:spcBef>
                        <a:spcAft>
                          <a:spcPts val="0"/>
                        </a:spcAft>
                      </a:pPr>
                      <a:r>
                        <a:rPr sz="1000">
                          <a:solidFill>
                            <a:srgbClr val="1C2B2E"/>
                          </a:solidFill>
                        </a:rPr>
                        <a:t>Permissioned blockchain + governance layer + layered storage (IPFS/Filecoin/Arweave)</a:t>
                      </a:r>
                    </a:p>
                  </a:txBody>
                  <a:tcPr marL="45000" marR="45000" marT="18000" marB="18000"/>
                </a:tc>
                <a:tc>
                  <a:txBody>
                    <a:bodyPr/>
                    <a:lstStyle/>
                    <a:p>
                      <a:pPr algn="l">
                        <a:lnSpc>
                          <a:spcPct val="100000"/>
                        </a:lnSpc>
                        <a:spcBef>
                          <a:spcPts val="0"/>
                        </a:spcBef>
                        <a:spcAft>
                          <a:spcPts val="0"/>
                        </a:spcAft>
                      </a:pPr>
                      <a:r>
                        <a:rPr sz="1000">
                          <a:solidFill>
                            <a:srgbClr val="1C2B2E"/>
                          </a:solidFill>
                        </a:rPr>
                        <a:t>zk-rollup auth; multimodal verification (image, signature, OCR)</a:t>
                      </a:r>
                    </a:p>
                  </a:txBody>
                  <a:tcPr marL="45000" marR="45000" marT="18000" marB="18000"/>
                </a:tc>
                <a:tc>
                  <a:txBody>
                    <a:bodyPr/>
                    <a:lstStyle/>
                    <a:p>
                      <a:pPr algn="l">
                        <a:lnSpc>
                          <a:spcPct val="100000"/>
                        </a:lnSpc>
                        <a:spcBef>
                          <a:spcPts val="0"/>
                        </a:spcBef>
                        <a:spcAft>
                          <a:spcPts val="0"/>
                        </a:spcAft>
                      </a:pPr>
                      <a:r>
                        <a:rPr sz="1000">
                          <a:solidFill>
                            <a:srgbClr val="1C2B2E"/>
                          </a:solidFill>
                        </a:rPr>
                        <a:t>82% lower verification latency, ~100x throughput vs. baseline (reported)</a:t>
                      </a:r>
                    </a:p>
                  </a:txBody>
                  <a:tcPr marL="45000" marR="45000" marT="18000" marB="18000"/>
                </a:tc>
                <a:tc>
                  <a:txBody>
                    <a:bodyPr/>
                    <a:lstStyle/>
                    <a:p>
                      <a:pPr algn="l">
                        <a:lnSpc>
                          <a:spcPct val="100000"/>
                        </a:lnSpc>
                        <a:spcBef>
                          <a:spcPts val="0"/>
                        </a:spcBef>
                        <a:spcAft>
                          <a:spcPts val="0"/>
                        </a:spcAft>
                      </a:pPr>
                      <a:r>
                        <a:rPr sz="1000">
                          <a:solidFill>
                            <a:srgbClr val="1C2B2E"/>
                          </a:solidFill>
                        </a:rPr>
                        <a:t>Governance layer adds complexity; permissioned model is less decentralized</a:t>
                      </a:r>
                    </a:p>
                  </a:txBody>
                  <a:tcPr marL="45000" marR="45000" marT="18000" marB="18000"/>
                </a:tc>
                <a:extLst>
                  <a:ext uri="{0D108BD9-81ED-4DB2-BD59-A6C34878D82A}">
                    <a16:rowId xmlns:a16="http://schemas.microsoft.com/office/drawing/2014/main" val="178868883"/>
                  </a:ext>
                </a:extLst>
              </a:tr>
              <a:tr h="676656">
                <a:tc>
                  <a:txBody>
                    <a:bodyPr/>
                    <a:lstStyle/>
                    <a:p>
                      <a:pPr algn="l">
                        <a:lnSpc>
                          <a:spcPct val="100000"/>
                        </a:lnSpc>
                        <a:spcBef>
                          <a:spcPts val="0"/>
                        </a:spcBef>
                        <a:spcAft>
                          <a:spcPts val="0"/>
                        </a:spcAft>
                      </a:pPr>
                      <a:r>
                        <a:rPr sz="1050">
                          <a:solidFill>
                            <a:srgbClr val="1C2B2E"/>
                          </a:solidFill>
                        </a:rPr>
                        <a:t>6</a:t>
                      </a:r>
                    </a:p>
                  </a:txBody>
                  <a:tcPr marL="45000" marR="45000" marT="18000" marB="18000"/>
                </a:tc>
                <a:tc>
                  <a:txBody>
                    <a:bodyPr/>
                    <a:lstStyle/>
                    <a:p>
                      <a:pPr algn="l">
                        <a:lnSpc>
                          <a:spcPct val="100000"/>
                        </a:lnSpc>
                        <a:spcBef>
                          <a:spcPts val="0"/>
                        </a:spcBef>
                        <a:spcAft>
                          <a:spcPts val="0"/>
                        </a:spcAft>
                      </a:pPr>
                      <a:r>
                        <a:rPr sz="1050">
                          <a:solidFill>
                            <a:srgbClr val="1C2B2E"/>
                          </a:solidFill>
                        </a:rPr>
                        <a:t>ICUIS, 2025</a:t>
                      </a:r>
                    </a:p>
                  </a:txBody>
                  <a:tcPr marL="45000" marR="45000" marT="18000" marB="18000"/>
                </a:tc>
                <a:tc>
                  <a:txBody>
                    <a:bodyPr/>
                    <a:lstStyle/>
                    <a:p>
                      <a:pPr algn="l">
                        <a:lnSpc>
                          <a:spcPct val="100000"/>
                        </a:lnSpc>
                        <a:spcBef>
                          <a:spcPts val="0"/>
                        </a:spcBef>
                        <a:spcAft>
                          <a:spcPts val="0"/>
                        </a:spcAft>
                      </a:pPr>
                      <a:r>
                        <a:rPr sz="1000">
                          <a:solidFill>
                            <a:srgbClr val="1C2B2E"/>
                          </a:solidFill>
                        </a:rPr>
                        <a:t>Ethereum smart contract metadata; file + JSON metadata on IPFS</a:t>
                      </a:r>
                    </a:p>
                  </a:txBody>
                  <a:tcPr marL="45000" marR="45000" marT="18000" marB="18000"/>
                </a:tc>
                <a:tc>
                  <a:txBody>
                    <a:bodyPr/>
                    <a:lstStyle/>
                    <a:p>
                      <a:pPr algn="l">
                        <a:lnSpc>
                          <a:spcPct val="100000"/>
                        </a:lnSpc>
                        <a:spcBef>
                          <a:spcPts val="0"/>
                        </a:spcBef>
                        <a:spcAft>
                          <a:spcPts val="0"/>
                        </a:spcAft>
                      </a:pPr>
                      <a:r>
                        <a:rPr sz="1000">
                          <a:solidFill>
                            <a:srgbClr val="1C2B2E"/>
                          </a:solidFill>
                        </a:rPr>
                        <a:t>Dual-hash binding; OCR + NLP semantic verification</a:t>
                      </a:r>
                    </a:p>
                  </a:txBody>
                  <a:tcPr marL="45000" marR="45000" marT="18000" marB="18000"/>
                </a:tc>
                <a:tc>
                  <a:txBody>
                    <a:bodyPr/>
                    <a:lstStyle/>
                    <a:p>
                      <a:pPr algn="l">
                        <a:lnSpc>
                          <a:spcPct val="100000"/>
                        </a:lnSpc>
                        <a:spcBef>
                          <a:spcPts val="0"/>
                        </a:spcBef>
                        <a:spcAft>
                          <a:spcPts val="0"/>
                        </a:spcAft>
                      </a:pPr>
                      <a:r>
                        <a:rPr sz="1000">
                          <a:solidFill>
                            <a:srgbClr val="1C2B2E"/>
                          </a:solidFill>
                        </a:rPr>
                        <a:t>95% name-matching precision on a 400-certificate test set</a:t>
                      </a:r>
                    </a:p>
                  </a:txBody>
                  <a:tcPr marL="45000" marR="45000" marT="18000" marB="18000"/>
                </a:tc>
                <a:tc>
                  <a:txBody>
                    <a:bodyPr/>
                    <a:lstStyle/>
                    <a:p>
                      <a:pPr algn="l">
                        <a:lnSpc>
                          <a:spcPct val="100000"/>
                        </a:lnSpc>
                        <a:spcBef>
                          <a:spcPts val="0"/>
                        </a:spcBef>
                        <a:spcAft>
                          <a:spcPts val="0"/>
                        </a:spcAft>
                      </a:pPr>
                      <a:r>
                        <a:rPr sz="1000">
                          <a:solidFill>
                            <a:srgbClr val="1C2B2E"/>
                          </a:solidFill>
                        </a:rPr>
                        <a:t>NLP/OCR pipeline adds overhead; tested at modest scale</a:t>
                      </a:r>
                    </a:p>
                  </a:txBody>
                  <a:tcPr marL="45000" marR="45000" marT="18000" marB="18000"/>
                </a:tc>
                <a:extLst>
                  <a:ext uri="{0D108BD9-81ED-4DB2-BD59-A6C34878D82A}">
                    <a16:rowId xmlns:a16="http://schemas.microsoft.com/office/drawing/2014/main" val="495116932"/>
                  </a:ext>
                </a:extLst>
              </a:tr>
              <a:tr h="676656">
                <a:tc>
                  <a:txBody>
                    <a:bodyPr/>
                    <a:lstStyle/>
                    <a:p>
                      <a:pPr algn="l">
                        <a:lnSpc>
                          <a:spcPct val="100000"/>
                        </a:lnSpc>
                        <a:spcBef>
                          <a:spcPts val="0"/>
                        </a:spcBef>
                        <a:spcAft>
                          <a:spcPts val="0"/>
                        </a:spcAft>
                      </a:pPr>
                      <a:r>
                        <a:rPr sz="1050">
                          <a:solidFill>
                            <a:srgbClr val="1C2B2E"/>
                          </a:solidFill>
                        </a:rPr>
                        <a:t>7</a:t>
                      </a:r>
                    </a:p>
                  </a:txBody>
                  <a:tcPr marL="45000" marR="45000" marT="18000" marB="18000"/>
                </a:tc>
                <a:tc>
                  <a:txBody>
                    <a:bodyPr/>
                    <a:lstStyle/>
                    <a:p>
                      <a:pPr algn="l">
                        <a:lnSpc>
                          <a:spcPct val="100000"/>
                        </a:lnSpc>
                        <a:spcBef>
                          <a:spcPts val="0"/>
                        </a:spcBef>
                        <a:spcAft>
                          <a:spcPts val="0"/>
                        </a:spcAft>
                      </a:pPr>
                      <a:r>
                        <a:rPr sz="1050">
                          <a:solidFill>
                            <a:srgbClr val="1C2B2E"/>
                          </a:solidFill>
                        </a:rPr>
                        <a:t>ICCAMS, 2025</a:t>
                      </a:r>
                    </a:p>
                  </a:txBody>
                  <a:tcPr marL="45000" marR="45000" marT="18000" marB="18000"/>
                </a:tc>
                <a:tc>
                  <a:txBody>
                    <a:bodyPr/>
                    <a:lstStyle/>
                    <a:p>
                      <a:pPr algn="l">
                        <a:lnSpc>
                          <a:spcPct val="100000"/>
                        </a:lnSpc>
                        <a:spcBef>
                          <a:spcPts val="0"/>
                        </a:spcBef>
                        <a:spcAft>
                          <a:spcPts val="0"/>
                        </a:spcAft>
                      </a:pPr>
                      <a:r>
                        <a:rPr sz="1000">
                          <a:solidFill>
                            <a:srgbClr val="1C2B2E"/>
                          </a:solidFill>
                        </a:rPr>
                        <a:t>Hybrid blockchain: private institutional nodes + public verifier nodes</a:t>
                      </a:r>
                    </a:p>
                  </a:txBody>
                  <a:tcPr marL="45000" marR="45000" marT="18000" marB="18000"/>
                </a:tc>
                <a:tc>
                  <a:txBody>
                    <a:bodyPr/>
                    <a:lstStyle/>
                    <a:p>
                      <a:pPr algn="l">
                        <a:lnSpc>
                          <a:spcPct val="100000"/>
                        </a:lnSpc>
                        <a:spcBef>
                          <a:spcPts val="0"/>
                        </a:spcBef>
                        <a:spcAft>
                          <a:spcPts val="0"/>
                        </a:spcAft>
                      </a:pPr>
                      <a:r>
                        <a:rPr sz="1000">
                          <a:solidFill>
                            <a:srgbClr val="1C2B2E"/>
                          </a:solidFill>
                        </a:rPr>
                        <a:t>SHA-256 hashing, QR-embedded signed PDF, BFT consensus</a:t>
                      </a:r>
                    </a:p>
                  </a:txBody>
                  <a:tcPr marL="45000" marR="45000" marT="18000" marB="18000"/>
                </a:tc>
                <a:tc>
                  <a:txBody>
                    <a:bodyPr/>
                    <a:lstStyle/>
                    <a:p>
                      <a:pPr algn="l">
                        <a:lnSpc>
                          <a:spcPct val="100000"/>
                        </a:lnSpc>
                        <a:spcBef>
                          <a:spcPts val="0"/>
                        </a:spcBef>
                        <a:spcAft>
                          <a:spcPts val="0"/>
                        </a:spcAft>
                      </a:pPr>
                      <a:r>
                        <a:rPr sz="1000">
                          <a:solidFill>
                            <a:srgbClr val="1C2B2E"/>
                          </a:solidFill>
                        </a:rPr>
                        <a:t>Lightweight — 0.02s block replication, ~200KB RAM/transaction (reported)</a:t>
                      </a:r>
                    </a:p>
                  </a:txBody>
                  <a:tcPr marL="45000" marR="45000" marT="18000" marB="18000"/>
                </a:tc>
                <a:tc>
                  <a:txBody>
                    <a:bodyPr/>
                    <a:lstStyle/>
                    <a:p>
                      <a:pPr algn="l">
                        <a:lnSpc>
                          <a:spcPct val="100000"/>
                        </a:lnSpc>
                        <a:spcBef>
                          <a:spcPts val="0"/>
                        </a:spcBef>
                        <a:spcAft>
                          <a:spcPts val="0"/>
                        </a:spcAft>
                      </a:pPr>
                      <a:r>
                        <a:rPr sz="1000" dirty="0">
                          <a:solidFill>
                            <a:srgbClr val="1C2B2E"/>
                          </a:solidFill>
                        </a:rPr>
                        <a:t>Requires institutional node infrastructure; BFT setup complexity</a:t>
                      </a:r>
                    </a:p>
                  </a:txBody>
                  <a:tcPr marL="45000" marR="45000" marT="18000" marB="18000"/>
                </a:tc>
                <a:extLst>
                  <a:ext uri="{0D108BD9-81ED-4DB2-BD59-A6C34878D82A}">
                    <a16:rowId xmlns:a16="http://schemas.microsoft.com/office/drawing/2014/main" val="716179203"/>
                  </a:ext>
                </a:extLst>
              </a:tr>
            </a:tbl>
          </a:graphicData>
        </a:graphic>
      </p:graphicFrame>
      <p:pic>
        <p:nvPicPr>
          <p:cNvPr id="5" name="Picture 4">
            <a:extLst>
              <a:ext uri="{FF2B5EF4-FFF2-40B4-BE49-F238E27FC236}">
                <a16:creationId xmlns:a16="http://schemas.microsoft.com/office/drawing/2014/main" id="{271B53F3-540A-8282-CDE9-91C7F1D75B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140300"/>
            <a:ext cx="3135306" cy="563562"/>
          </a:xfrm>
          <a:prstGeom prst="rect">
            <a:avLst/>
          </a:prstGeom>
        </p:spPr>
      </p:pic>
    </p:spTree>
    <p:extLst>
      <p:ext uri="{BB962C8B-B14F-4D97-AF65-F5344CB8AC3E}">
        <p14:creationId xmlns:p14="http://schemas.microsoft.com/office/powerpoint/2010/main" val="9525765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0046-BF80-C7AC-4092-5F6B766C4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006D7-2A1D-A4B2-63D6-92A249697848}"/>
              </a:ext>
            </a:extLst>
          </p:cNvPr>
          <p:cNvSpPr>
            <a:spLocks noGrp="1"/>
          </p:cNvSpPr>
          <p:nvPr>
            <p:ph idx="1"/>
          </p:nvPr>
        </p:nvSpPr>
        <p:spPr>
          <a:xfrm>
            <a:off x="609601" y="1159263"/>
            <a:ext cx="7170548" cy="5470137"/>
          </a:xfrm>
        </p:spPr>
        <p:txBody>
          <a:bodyPr vert="horz" wrap="square" lIns="91440" tIns="45720" rIns="91440" bIns="45720" rtlCol="0" anchor="t">
            <a:normAutofit fontScale="85000" lnSpcReduction="20000"/>
          </a:bodyPr>
          <a:lstStyle/>
          <a:p>
            <a:r>
              <a:rPr lang="en-IN" sz="2000" b="1" dirty="0"/>
              <a:t>Blockchain can make academic certificates more trustworthy</a:t>
            </a:r>
            <a:r>
              <a:rPr lang="en-IN" sz="2000" dirty="0"/>
              <a:t> by providing decentralization, transparency, immutability, and secure verification. </a:t>
            </a:r>
            <a:r>
              <a:rPr lang="en-IN" sz="2000" b="1" dirty="0"/>
              <a:t>[Img-1]</a:t>
            </a:r>
            <a:endParaRPr lang="en-IN" sz="2000" dirty="0"/>
          </a:p>
          <a:p>
            <a:r>
              <a:rPr lang="en-IN" sz="2000" b="1" dirty="0"/>
              <a:t>Smart contracts can make certificate management easier and more automated</a:t>
            </a:r>
            <a:r>
              <a:rPr lang="en-IN" sz="2000" dirty="0"/>
              <a:t>, especially for issuing, verifying, and revoking certificates. </a:t>
            </a:r>
            <a:r>
              <a:rPr lang="en-IN" sz="2000" b="1" dirty="0"/>
              <a:t>[Img-1, Img-4]</a:t>
            </a:r>
            <a:endParaRPr lang="en-IN" sz="2000" dirty="0"/>
          </a:p>
          <a:p>
            <a:r>
              <a:rPr lang="en-IN" sz="2000" b="1" dirty="0"/>
              <a:t>Most approaches combine blockchain with IPFS</a:t>
            </a:r>
            <a:r>
              <a:rPr lang="en-IN" sz="2000" dirty="0"/>
              <a:t>, keeping the actual certificate file off-chain while storing its hash or reference on the blockchain for verification. </a:t>
            </a:r>
            <a:r>
              <a:rPr lang="en-IN" sz="2000" b="1" dirty="0"/>
              <a:t>[Img-2, Img-4]</a:t>
            </a:r>
            <a:endParaRPr lang="en-IN" sz="2000" dirty="0"/>
          </a:p>
          <a:p>
            <a:r>
              <a:rPr lang="en-IN" sz="2000" b="1" dirty="0"/>
              <a:t>QR codes make certificate verification quick and convenient</a:t>
            </a:r>
            <a:r>
              <a:rPr lang="en-IN" sz="2000" dirty="0"/>
              <a:t> by connecting the certificate directly to its blockchain/IPFS record. </a:t>
            </a:r>
            <a:r>
              <a:rPr lang="en-IN" sz="2000" b="1" dirty="0"/>
              <a:t>[Img-3, Img-4]</a:t>
            </a:r>
            <a:endParaRPr lang="en-IN" sz="2000" dirty="0"/>
          </a:p>
          <a:p>
            <a:r>
              <a:rPr lang="en-IN" sz="2000" b="1" dirty="0"/>
              <a:t>OCR and NLP can make verification more reliable</a:t>
            </a:r>
            <a:r>
              <a:rPr lang="en-IN" sz="2000" dirty="0"/>
              <a:t> by extracting information from a certificate and comparing it with the trusted blockchain record. </a:t>
            </a:r>
            <a:r>
              <a:rPr lang="en-IN" sz="2000" b="1" dirty="0"/>
              <a:t>[Img-2, Img-4]</a:t>
            </a:r>
            <a:endParaRPr lang="en-IN" sz="2000" dirty="0"/>
          </a:p>
          <a:p>
            <a:r>
              <a:rPr lang="en-IN" sz="2000" b="1" dirty="0"/>
              <a:t>Newer approaches go beyond simple hash checking</a:t>
            </a:r>
            <a:r>
              <a:rPr lang="en-IN" sz="2000" dirty="0"/>
              <a:t> and try to detect changes in the actual certificate content, even when the visual format looks unchanged. </a:t>
            </a:r>
            <a:r>
              <a:rPr lang="en-IN" sz="2000" b="1" dirty="0"/>
              <a:t>[Img-2]</a:t>
            </a:r>
            <a:endParaRPr lang="en-IN" sz="2000" dirty="0"/>
          </a:p>
          <a:p>
            <a:r>
              <a:rPr lang="en-IN" sz="2000" b="1" dirty="0"/>
              <a:t>The research shows a move toward a complete digital verification process</a:t>
            </a:r>
            <a:r>
              <a:rPr lang="en-IN" sz="2000" dirty="0"/>
              <a:t>, from generating and storing certificates to QR-based access and automated verification. </a:t>
            </a:r>
            <a:r>
              <a:rPr lang="en-IN" sz="2000" b="1" dirty="0"/>
              <a:t>[Img-3, Img-4]</a:t>
            </a:r>
            <a:endParaRPr lang="en-IN" sz="2000" dirty="0"/>
          </a:p>
          <a:p>
            <a:r>
              <a:rPr lang="en-IN" sz="2000" b="1" dirty="0"/>
              <a:t>Overall, the reviewed systems use blockchain mainly for trust and verification, while IPFS is used to store the actual certificate documents.</a:t>
            </a:r>
            <a:r>
              <a:rPr lang="en-IN" sz="2000" dirty="0"/>
              <a:t> </a:t>
            </a:r>
            <a:r>
              <a:rPr lang="en-IN" sz="2000" b="1" dirty="0"/>
              <a:t>[Img-1, Img-2, Img-4]</a:t>
            </a:r>
            <a:endParaRPr lang="en-IN" sz="2000" dirty="0"/>
          </a:p>
        </p:txBody>
      </p:sp>
      <p:sp>
        <p:nvSpPr>
          <p:cNvPr id="3" name="Title 2">
            <a:extLst>
              <a:ext uri="{FF2B5EF4-FFF2-40B4-BE49-F238E27FC236}">
                <a16:creationId xmlns:a16="http://schemas.microsoft.com/office/drawing/2014/main" id="{39A6E23D-A5D8-BE38-914C-4697198F055E}"/>
              </a:ext>
            </a:extLst>
          </p:cNvPr>
          <p:cNvSpPr>
            <a:spLocks noGrp="1"/>
          </p:cNvSpPr>
          <p:nvPr>
            <p:ph type="title"/>
          </p:nvPr>
        </p:nvSpPr>
        <p:spPr>
          <a:xfrm>
            <a:off x="609600" y="228600"/>
            <a:ext cx="7440118"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Observations from the Literature Review</a:t>
            </a:r>
          </a:p>
        </p:txBody>
      </p:sp>
      <p:pic>
        <p:nvPicPr>
          <p:cNvPr id="5" name="Picture 4">
            <a:extLst>
              <a:ext uri="{FF2B5EF4-FFF2-40B4-BE49-F238E27FC236}">
                <a16:creationId xmlns:a16="http://schemas.microsoft.com/office/drawing/2014/main" id="{47D2E993-E474-0C27-DF8A-10B6A433EC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3999" y="228601"/>
            <a:ext cx="2639561" cy="563562"/>
          </a:xfrm>
          <a:prstGeom prst="rect">
            <a:avLst/>
          </a:prstGeom>
        </p:spPr>
      </p:pic>
      <p:pic>
        <p:nvPicPr>
          <p:cNvPr id="6" name="Picture 5">
            <a:extLst>
              <a:ext uri="{FF2B5EF4-FFF2-40B4-BE49-F238E27FC236}">
                <a16:creationId xmlns:a16="http://schemas.microsoft.com/office/drawing/2014/main" id="{F458C7F6-CA08-E2A8-E1E5-E9C39E5C8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9718" y="1249043"/>
            <a:ext cx="4115664" cy="4783488"/>
          </a:xfrm>
          <a:prstGeom prst="rect">
            <a:avLst/>
          </a:prstGeom>
        </p:spPr>
      </p:pic>
      <p:sp>
        <p:nvSpPr>
          <p:cNvPr id="7" name="TextBox 6">
            <a:extLst>
              <a:ext uri="{FF2B5EF4-FFF2-40B4-BE49-F238E27FC236}">
                <a16:creationId xmlns:a16="http://schemas.microsoft.com/office/drawing/2014/main" id="{76D3EC64-60F4-81CA-7705-B1E0E34AD514}"/>
              </a:ext>
            </a:extLst>
          </p:cNvPr>
          <p:cNvSpPr txBox="1"/>
          <p:nvPr/>
        </p:nvSpPr>
        <p:spPr>
          <a:xfrm>
            <a:off x="9462173" y="6017034"/>
            <a:ext cx="840295" cy="307777"/>
          </a:xfrm>
          <a:prstGeom prst="rect">
            <a:avLst/>
          </a:prstGeom>
          <a:noFill/>
        </p:spPr>
        <p:txBody>
          <a:bodyPr wrap="none" rtlCol="0">
            <a:spAutoFit/>
          </a:bodyPr>
          <a:lstStyle/>
          <a:p>
            <a:r>
              <a:rPr lang="en-US" sz="1400" dirty="0"/>
              <a:t>Image-1</a:t>
            </a:r>
          </a:p>
        </p:txBody>
      </p:sp>
    </p:spTree>
    <p:extLst>
      <p:ext uri="{BB962C8B-B14F-4D97-AF65-F5344CB8AC3E}">
        <p14:creationId xmlns:p14="http://schemas.microsoft.com/office/powerpoint/2010/main" val="269480186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4E8FD521-EF43-AB03-6174-940F6FA17B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5892" y="1408857"/>
            <a:ext cx="3326728" cy="3922560"/>
          </a:xfrm>
          <a:prstGeom prst="rect">
            <a:avLst/>
          </a:prstGeom>
        </p:spPr>
      </p:pic>
      <p:pic>
        <p:nvPicPr>
          <p:cNvPr id="17" name="Picture 16">
            <a:extLst>
              <a:ext uri="{FF2B5EF4-FFF2-40B4-BE49-F238E27FC236}">
                <a16:creationId xmlns:a16="http://schemas.microsoft.com/office/drawing/2014/main" id="{D96BAA58-3E0F-CA9F-34C4-CA2CF7DE6D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2634" y="1623839"/>
            <a:ext cx="3475664" cy="3422193"/>
          </a:xfrm>
          <a:prstGeom prst="rect">
            <a:avLst/>
          </a:prstGeom>
        </p:spPr>
      </p:pic>
      <p:pic>
        <p:nvPicPr>
          <p:cNvPr id="19" name="Picture 18">
            <a:extLst>
              <a:ext uri="{FF2B5EF4-FFF2-40B4-BE49-F238E27FC236}">
                <a16:creationId xmlns:a16="http://schemas.microsoft.com/office/drawing/2014/main" id="{B2CE06F1-A3E5-C724-61CF-0225D02916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18312" y="1495492"/>
            <a:ext cx="2930604" cy="3550539"/>
          </a:xfrm>
          <a:prstGeom prst="rect">
            <a:avLst/>
          </a:prstGeom>
        </p:spPr>
      </p:pic>
      <p:sp>
        <p:nvSpPr>
          <p:cNvPr id="20" name="TextBox 19">
            <a:extLst>
              <a:ext uri="{FF2B5EF4-FFF2-40B4-BE49-F238E27FC236}">
                <a16:creationId xmlns:a16="http://schemas.microsoft.com/office/drawing/2014/main" id="{6D00F37E-BD1B-6009-E160-832433FDE0EE}"/>
              </a:ext>
            </a:extLst>
          </p:cNvPr>
          <p:cNvSpPr txBox="1"/>
          <p:nvPr/>
        </p:nvSpPr>
        <p:spPr>
          <a:xfrm>
            <a:off x="1271936" y="5449143"/>
            <a:ext cx="747320" cy="276999"/>
          </a:xfrm>
          <a:prstGeom prst="rect">
            <a:avLst/>
          </a:prstGeom>
          <a:noFill/>
        </p:spPr>
        <p:txBody>
          <a:bodyPr wrap="none" rtlCol="0">
            <a:spAutoFit/>
          </a:bodyPr>
          <a:lstStyle/>
          <a:p>
            <a:r>
              <a:rPr lang="en-US" sz="1200" dirty="0"/>
              <a:t>Image-2</a:t>
            </a:r>
            <a:endParaRPr lang="en-US" dirty="0"/>
          </a:p>
        </p:txBody>
      </p:sp>
      <p:sp>
        <p:nvSpPr>
          <p:cNvPr id="24" name="TextBox 23">
            <a:extLst>
              <a:ext uri="{FF2B5EF4-FFF2-40B4-BE49-F238E27FC236}">
                <a16:creationId xmlns:a16="http://schemas.microsoft.com/office/drawing/2014/main" id="{B7F95FAB-DAA7-6A0C-38FE-CB34434225A6}"/>
              </a:ext>
            </a:extLst>
          </p:cNvPr>
          <p:cNvSpPr txBox="1"/>
          <p:nvPr/>
        </p:nvSpPr>
        <p:spPr>
          <a:xfrm>
            <a:off x="355893" y="232475"/>
            <a:ext cx="657184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Observations from the Literature Review</a:t>
            </a:r>
            <a:endParaRPr lang="en-US" sz="2800" dirty="0"/>
          </a:p>
        </p:txBody>
      </p:sp>
      <p:sp>
        <p:nvSpPr>
          <p:cNvPr id="25" name="TextBox 24">
            <a:extLst>
              <a:ext uri="{FF2B5EF4-FFF2-40B4-BE49-F238E27FC236}">
                <a16:creationId xmlns:a16="http://schemas.microsoft.com/office/drawing/2014/main" id="{D12F5B32-99E8-99E7-64E8-7345DB4E9B38}"/>
              </a:ext>
            </a:extLst>
          </p:cNvPr>
          <p:cNvSpPr txBox="1"/>
          <p:nvPr/>
        </p:nvSpPr>
        <p:spPr>
          <a:xfrm>
            <a:off x="5530318" y="5279865"/>
            <a:ext cx="840295" cy="307777"/>
          </a:xfrm>
          <a:prstGeom prst="rect">
            <a:avLst/>
          </a:prstGeom>
          <a:noFill/>
        </p:spPr>
        <p:txBody>
          <a:bodyPr wrap="none" rtlCol="0">
            <a:spAutoFit/>
          </a:bodyPr>
          <a:lstStyle/>
          <a:p>
            <a:r>
              <a:rPr lang="en-US" sz="1400" dirty="0"/>
              <a:t>Image-3</a:t>
            </a:r>
          </a:p>
        </p:txBody>
      </p:sp>
      <p:sp>
        <p:nvSpPr>
          <p:cNvPr id="26" name="TextBox 25">
            <a:extLst>
              <a:ext uri="{FF2B5EF4-FFF2-40B4-BE49-F238E27FC236}">
                <a16:creationId xmlns:a16="http://schemas.microsoft.com/office/drawing/2014/main" id="{209E6B16-F6E5-11A9-2E75-DBBFD82C8DDA}"/>
              </a:ext>
            </a:extLst>
          </p:cNvPr>
          <p:cNvSpPr txBox="1"/>
          <p:nvPr/>
        </p:nvSpPr>
        <p:spPr>
          <a:xfrm>
            <a:off x="9190495" y="5160937"/>
            <a:ext cx="1336241" cy="307777"/>
          </a:xfrm>
          <a:prstGeom prst="rect">
            <a:avLst/>
          </a:prstGeom>
          <a:noFill/>
        </p:spPr>
        <p:txBody>
          <a:bodyPr wrap="square" rtlCol="0">
            <a:spAutoFit/>
          </a:bodyPr>
          <a:lstStyle/>
          <a:p>
            <a:r>
              <a:rPr lang="en-US" sz="1400" dirty="0"/>
              <a:t>Image-4</a:t>
            </a:r>
          </a:p>
        </p:txBody>
      </p:sp>
    </p:spTree>
    <p:extLst>
      <p:ext uri="{BB962C8B-B14F-4D97-AF65-F5344CB8AC3E}">
        <p14:creationId xmlns:p14="http://schemas.microsoft.com/office/powerpoint/2010/main" val="167730864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8F11-9544-18C8-69F6-B6B1393AAE0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8DDB803-989A-168F-3BB3-F50B19A18BB5}"/>
              </a:ext>
            </a:extLst>
          </p:cNvPr>
          <p:cNvGraphicFramePr>
            <a:graphicFrameLocks noGrp="1"/>
          </p:cNvGraphicFramePr>
          <p:nvPr>
            <p:ph idx="1"/>
            <p:extLst>
              <p:ext uri="{D42A27DB-BD31-4B8C-83A1-F6EECF244321}">
                <p14:modId xmlns:p14="http://schemas.microsoft.com/office/powerpoint/2010/main" val="710675471"/>
              </p:ext>
            </p:extLst>
          </p:nvPr>
        </p:nvGraphicFramePr>
        <p:xfrm>
          <a:off x="821410" y="1119187"/>
          <a:ext cx="10685948" cy="5439871"/>
        </p:xfrm>
        <a:graphic>
          <a:graphicData uri="http://schemas.openxmlformats.org/drawingml/2006/table">
            <a:tbl>
              <a:tblPr/>
              <a:tblGrid>
                <a:gridCol w="3603096">
                  <a:extLst>
                    <a:ext uri="{9D8B030D-6E8A-4147-A177-3AD203B41FA5}">
                      <a16:colId xmlns:a16="http://schemas.microsoft.com/office/drawing/2014/main" val="1499175076"/>
                    </a:ext>
                  </a:extLst>
                </a:gridCol>
                <a:gridCol w="3541426">
                  <a:extLst>
                    <a:ext uri="{9D8B030D-6E8A-4147-A177-3AD203B41FA5}">
                      <a16:colId xmlns:a16="http://schemas.microsoft.com/office/drawing/2014/main" val="2387867503"/>
                    </a:ext>
                  </a:extLst>
                </a:gridCol>
                <a:gridCol w="3541426">
                  <a:extLst>
                    <a:ext uri="{9D8B030D-6E8A-4147-A177-3AD203B41FA5}">
                      <a16:colId xmlns:a16="http://schemas.microsoft.com/office/drawing/2014/main" val="2683927868"/>
                    </a:ext>
                  </a:extLst>
                </a:gridCol>
              </a:tblGrid>
              <a:tr h="354143">
                <a:tc>
                  <a:txBody>
                    <a:bodyPr/>
                    <a:lstStyle/>
                    <a:p>
                      <a:pPr>
                        <a:buNone/>
                      </a:pPr>
                      <a:r>
                        <a:rPr lang="en-IN" sz="2000" b="1" dirty="0">
                          <a:latin typeface="Times New Roman" panose="02020603050405020304" pitchFamily="18" charset="0"/>
                          <a:cs typeface="Times New Roman" panose="02020603050405020304" pitchFamily="18" charset="0"/>
                        </a:rPr>
                        <a:t>Existing Research / Finding</a:t>
                      </a:r>
                      <a:endParaRPr lang="en-IN" sz="20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Gap / Limitation</a:t>
                      </a:r>
                      <a:endParaRPr lang="en-IN" sz="20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000" b="1" dirty="0">
                          <a:latin typeface="Times New Roman" panose="02020603050405020304" pitchFamily="18" charset="0"/>
                          <a:cs typeface="Times New Roman" panose="02020603050405020304" pitchFamily="18" charset="0"/>
                        </a:rPr>
                        <a:t>Our Project Approach</a:t>
                      </a:r>
                      <a:endParaRPr lang="en-IN" sz="20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2024433824"/>
                  </a:ext>
                </a:extLst>
              </a:tr>
              <a:tr h="885357">
                <a:tc>
                  <a:txBody>
                    <a:bodyPr/>
                    <a:lstStyle/>
                    <a:p>
                      <a:pPr>
                        <a:buNone/>
                      </a:pPr>
                      <a:r>
                        <a:rPr lang="en-IN" sz="1700" dirty="0">
                          <a:latin typeface="Times New Roman" panose="02020603050405020304" pitchFamily="18" charset="0"/>
                          <a:cs typeface="Times New Roman" panose="02020603050405020304" pitchFamily="18" charset="0"/>
                        </a:rPr>
                        <a:t>Too much data stored on blockchain can increase cost and expose metadata.</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High cost &amp; privacy risk</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dirty="0">
                          <a:latin typeface="Times New Roman" panose="02020603050405020304" pitchFamily="18" charset="0"/>
                          <a:cs typeface="Times New Roman" panose="02020603050405020304" pitchFamily="18" charset="0"/>
                        </a:rPr>
                        <a:t>Store certificate details off-chain; keep only essential hash/ID on blockchain.</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8554898"/>
                  </a:ext>
                </a:extLst>
              </a:tr>
              <a:tr h="619750">
                <a:tc>
                  <a:txBody>
                    <a:bodyPr/>
                    <a:lstStyle/>
                    <a:p>
                      <a:pPr>
                        <a:buNone/>
                      </a:pPr>
                      <a:r>
                        <a:rPr lang="en-IN" sz="1700">
                          <a:latin typeface="Times New Roman" panose="02020603050405020304" pitchFamily="18" charset="0"/>
                          <a:cs typeface="Times New Roman" panose="02020603050405020304" pitchFamily="18" charset="0"/>
                        </a:rPr>
                        <a:t>Many systems are tested only in small or limited environments.</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Scalability is not fully proven</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Use lightweight blockchain records and off-chain certificate storage.</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1832508"/>
                  </a:ext>
                </a:extLst>
              </a:tr>
              <a:tr h="885357">
                <a:tc>
                  <a:txBody>
                    <a:bodyPr/>
                    <a:lstStyle/>
                    <a:p>
                      <a:pPr>
                        <a:buNone/>
                      </a:pPr>
                      <a:r>
                        <a:rPr lang="en-IN" sz="1700">
                          <a:latin typeface="Times New Roman" panose="02020603050405020304" pitchFamily="18" charset="0"/>
                          <a:cs typeface="Times New Roman" panose="02020603050405020304" pitchFamily="18" charset="0"/>
                        </a:rPr>
                        <a:t>Different universities may use different blockchain and certificate systems.</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Limited interoperability</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Use APIs, credential ID and QR-based verification for easier integration.</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6222030"/>
                  </a:ext>
                </a:extLst>
              </a:tr>
              <a:tr h="885357">
                <a:tc>
                  <a:txBody>
                    <a:bodyPr/>
                    <a:lstStyle/>
                    <a:p>
                      <a:pPr>
                        <a:buNone/>
                      </a:pPr>
                      <a:r>
                        <a:rPr lang="en-IN" sz="1700">
                          <a:latin typeface="Times New Roman" panose="02020603050405020304" pitchFamily="18" charset="0"/>
                          <a:cs typeface="Times New Roman" panose="02020603050405020304" pitchFamily="18" charset="0"/>
                        </a:rPr>
                        <a:t>Blockchain records are tamper-proof, but student information can still be exposed.</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Privacy concerns</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Keep detailed student information off-chain and use role-based access.</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560020"/>
                  </a:ext>
                </a:extLst>
              </a:tr>
              <a:tr h="885357">
                <a:tc>
                  <a:txBody>
                    <a:bodyPr/>
                    <a:lstStyle/>
                    <a:p>
                      <a:pPr>
                        <a:buNone/>
                      </a:pPr>
                      <a:r>
                        <a:rPr lang="en-IN" sz="1700">
                          <a:latin typeface="Times New Roman" panose="02020603050405020304" pitchFamily="18" charset="0"/>
                          <a:cs typeface="Times New Roman" panose="02020603050405020304" pitchFamily="18" charset="0"/>
                        </a:rPr>
                        <a:t>Existing studies do not always provide consistent performance comparisons.</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Limited performance evaluation</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Measure verification time, transaction time, storage size and success rate.</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037698"/>
                  </a:ext>
                </a:extLst>
              </a:tr>
              <a:tr h="885357">
                <a:tc>
                  <a:txBody>
                    <a:bodyPr/>
                    <a:lstStyle/>
                    <a:p>
                      <a:pPr>
                        <a:buNone/>
                      </a:pPr>
                      <a:r>
                        <a:rPr lang="en-IN" sz="1700">
                          <a:latin typeface="Times New Roman" panose="02020603050405020304" pitchFamily="18" charset="0"/>
                          <a:cs typeface="Times New Roman" panose="02020603050405020304" pitchFamily="18" charset="0"/>
                        </a:rPr>
                        <a:t>Advanced solutions such as DIDs, zero-knowledge proofs and cross-chain systems add complexity.</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700" b="1" dirty="0">
                          <a:latin typeface="Times New Roman" panose="02020603050405020304" pitchFamily="18" charset="0"/>
                          <a:cs typeface="Times New Roman" panose="02020603050405020304" pitchFamily="18" charset="0"/>
                        </a:rPr>
                        <a:t>Complex implementation</a:t>
                      </a:r>
                      <a:endParaRPr lang="en-IN" sz="1700" dirty="0">
                        <a:latin typeface="Times New Roman" panose="02020603050405020304" pitchFamily="18" charset="0"/>
                        <a:cs typeface="Times New Roman" panose="02020603050405020304" pitchFamily="18" charset="0"/>
                      </a:endParaRP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dirty="0">
                          <a:latin typeface="Times New Roman" panose="02020603050405020304" pitchFamily="18" charset="0"/>
                          <a:cs typeface="Times New Roman" panose="02020603050405020304" pitchFamily="18" charset="0"/>
                        </a:rPr>
                        <a:t>Focus on a simpler hybrid architecture suitable for a practical prototype.</a:t>
                      </a:r>
                    </a:p>
                  </a:txBody>
                  <a:tcPr marL="88536" marR="88536" marT="44268" marB="44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7200596"/>
                  </a:ext>
                </a:extLst>
              </a:tr>
            </a:tbl>
          </a:graphicData>
        </a:graphic>
      </p:graphicFrame>
      <p:sp>
        <p:nvSpPr>
          <p:cNvPr id="3" name="Title 2">
            <a:extLst>
              <a:ext uri="{FF2B5EF4-FFF2-40B4-BE49-F238E27FC236}">
                <a16:creationId xmlns:a16="http://schemas.microsoft.com/office/drawing/2014/main" id="{BBD3710E-1FD6-A145-E602-76470D00842A}"/>
              </a:ext>
            </a:extLst>
          </p:cNvPr>
          <p:cNvSpPr>
            <a:spLocks noGrp="1"/>
          </p:cNvSpPr>
          <p:nvPr>
            <p:ph type="title"/>
          </p:nvPr>
        </p:nvSpPr>
        <p:spPr>
          <a:xfrm>
            <a:off x="609600" y="228600"/>
            <a:ext cx="7140315"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Limitations from the Literature Review</a:t>
            </a:r>
          </a:p>
        </p:txBody>
      </p:sp>
      <p:pic>
        <p:nvPicPr>
          <p:cNvPr id="5" name="Picture 4">
            <a:extLst>
              <a:ext uri="{FF2B5EF4-FFF2-40B4-BE49-F238E27FC236}">
                <a16:creationId xmlns:a16="http://schemas.microsoft.com/office/drawing/2014/main" id="{24488C9D-2D30-3125-69F0-8049573055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300192"/>
            <a:ext cx="2783174" cy="491970"/>
          </a:xfrm>
          <a:prstGeom prst="rect">
            <a:avLst/>
          </a:prstGeom>
        </p:spPr>
      </p:pic>
    </p:spTree>
    <p:extLst>
      <p:ext uri="{BB962C8B-B14F-4D97-AF65-F5344CB8AC3E}">
        <p14:creationId xmlns:p14="http://schemas.microsoft.com/office/powerpoint/2010/main" val="69518536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wrap="square" lIns="91440" tIns="45720" rIns="91440" bIns="45720" rtlCol="0" anchor="t">
            <a:normAutofit/>
          </a:bodyPr>
          <a:lstStyle/>
          <a:p>
            <a:pPr marL="0">
              <a:spcAft>
                <a:spcPts val="0"/>
              </a:spcAft>
              <a:defRPr/>
            </a:pPr>
            <a:r>
              <a:rPr lang="en-IN" sz="2800" b="1" dirty="0">
                <a:solidFill>
                  <a:srgbClr val="2E5568"/>
                </a:solidFill>
                <a:latin typeface="Calibri"/>
              </a:rPr>
              <a:t>Problem Statement</a:t>
            </a:r>
          </a:p>
          <a:p>
            <a:pPr>
              <a:buFont typeface="Wingdings" pitchFamily="2" charset="2"/>
              <a:buChar char="Ø"/>
            </a:pPr>
            <a:r>
              <a:rPr lang="en-US" sz="2200" dirty="0">
                <a:latin typeface="Times New Roman" panose="02020603050405020304" pitchFamily="18" charset="0"/>
                <a:cs typeface="Times New Roman" panose="02020603050405020304" pitchFamily="18" charset="0"/>
              </a:rPr>
              <a:t>Degree certificate forgery remains a serious problem in India, affecting employers, educational institutions, and students. Manual verification processes are slow, expensive, and prone to error. There is no standardized, tamper-proof system for issuing and verifying academic credentials. Students face delays in employment and higher education admissions due to cumbersome verification procedures.</a:t>
            </a:r>
            <a:endParaRPr lang="en-IN" sz="2200" dirty="0">
              <a:latin typeface="Times New Roman" panose="02020603050405020304" pitchFamily="18" charset="0"/>
              <a:cs typeface="Times New Roman" panose="02020603050405020304" pitchFamily="18" charset="0"/>
            </a:endParaRPr>
          </a:p>
          <a:p>
            <a:pPr marL="0" indent="0">
              <a:spcAft>
                <a:spcPts val="0"/>
              </a:spcAft>
              <a:buNone/>
              <a:defRPr/>
            </a:pPr>
            <a:endParaRPr lang="en-IN" sz="2000" dirty="0">
              <a:latin typeface="Calibri"/>
            </a:endParaRPr>
          </a:p>
          <a:p>
            <a:pPr>
              <a:defRPr/>
            </a:pPr>
            <a:r>
              <a:rPr lang="en-IN" sz="2800" b="1" dirty="0">
                <a:solidFill>
                  <a:srgbClr val="2E5568"/>
                </a:solidFill>
                <a:latin typeface="Times New Roman" panose="02020603050405020304" pitchFamily="18" charset="0"/>
                <a:cs typeface="Times New Roman" panose="02020603050405020304" pitchFamily="18" charset="0"/>
              </a:rPr>
              <a:t>Scope:</a:t>
            </a:r>
            <a:r>
              <a:rPr lang="en-IN" sz="2400" b="1" dirty="0">
                <a:solidFill>
                  <a:srgbClr val="2E5568"/>
                </a:solidFill>
                <a:latin typeface="Times New Roman" panose="02020603050405020304" pitchFamily="18" charset="0"/>
                <a:cs typeface="Times New Roman" panose="02020603050405020304" pitchFamily="18" charset="0"/>
              </a:rPr>
              <a:t> </a:t>
            </a:r>
          </a:p>
          <a:p>
            <a:pPr>
              <a:buFont typeface="Wingdings" pitchFamily="2" charset="2"/>
              <a:buChar char="Ø"/>
              <a:defRPr/>
            </a:pPr>
            <a:r>
              <a:rPr lang="en-US" sz="2400" dirty="0">
                <a:latin typeface="Times New Roman" panose="02020603050405020304" pitchFamily="18" charset="0"/>
                <a:cs typeface="Times New Roman" panose="02020603050405020304" pitchFamily="18" charset="0"/>
              </a:rPr>
              <a:t>The project covers the issuance, secure storage, verification, and revocation of academic certificates using blockchain and off-chain storage. It includes an Admin/Issuer dashboard, Student interface, and Verifier portal, with QR codes and credential IDs for quick verification. The system will also support secure management of certificate records and detection of altered or revoked certificates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a:xfrm>
            <a:off x="609600" y="228600"/>
            <a:ext cx="7485089" cy="563562"/>
          </a:xfrm>
        </p:spPr>
        <p:txBody>
          <a:bodyPr>
            <a:noAutofit/>
          </a:bodyPr>
          <a:lstStyle/>
          <a:p>
            <a:r>
              <a:rPr lang="en-US" sz="3200" b="1" dirty="0">
                <a:latin typeface="Times New Roman" panose="02020603050405020304" pitchFamily="18" charset="0"/>
                <a:cs typeface="Times New Roman" panose="02020603050405020304" pitchFamily="18" charset="0"/>
              </a:rPr>
              <a:t>Problem Statement / Scope of the Project</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9FE1904-C542-AA1E-2C15-5A81417C96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4197" y="229141"/>
            <a:ext cx="2900179" cy="563021"/>
          </a:xfrm>
          <a:prstGeom prst="rect">
            <a:avLst/>
          </a:prstGeom>
        </p:spPr>
      </p:pic>
    </p:spTree>
    <p:extLst>
      <p:ext uri="{BB962C8B-B14F-4D97-AF65-F5344CB8AC3E}">
        <p14:creationId xmlns:p14="http://schemas.microsoft.com/office/powerpoint/2010/main" val="323998097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1525-3BCB-4374-17CC-3091B41675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47EA18-0651-E7BB-17C7-C377043CE058}"/>
              </a:ext>
            </a:extLst>
          </p:cNvPr>
          <p:cNvSpPr>
            <a:spLocks noGrp="1"/>
          </p:cNvSpPr>
          <p:nvPr>
            <p:ph idx="1"/>
          </p:nvPr>
        </p:nvSpPr>
        <p:spPr>
          <a:xfrm>
            <a:off x="609600" y="1052736"/>
            <a:ext cx="10972800" cy="5400599"/>
          </a:xfrm>
        </p:spPr>
        <p:txBody>
          <a:bodyPr vert="horz" wrap="square" lIns="91440" tIns="45720" rIns="91440" bIns="45720" rtlCol="0" anchor="t">
            <a:normAutofit/>
          </a:bodyPr>
          <a:lstStyle/>
          <a:p>
            <a:pPr marL="0">
              <a:spcAft>
                <a:spcPts val="0"/>
              </a:spcAft>
              <a:defRPr/>
            </a:pPr>
            <a:r>
              <a:rPr lang="en-IN" sz="2400" b="1" dirty="0">
                <a:latin typeface="Times New Roman" panose="02020603050405020304" pitchFamily="18" charset="0"/>
                <a:cs typeface="Times New Roman" panose="02020603050405020304" pitchFamily="18" charset="0"/>
              </a:rPr>
              <a:t>A blockchain-backed verification layer added on top of the university's existing academic-record system.</a:t>
            </a:r>
          </a:p>
          <a:p>
            <a:pPr marL="0">
              <a:defRPr/>
            </a:pPr>
            <a:r>
              <a:rPr lang="en-IN" sz="2400" dirty="0">
                <a:latin typeface="Times New Roman" panose="02020603050405020304" pitchFamily="18" charset="0"/>
                <a:cs typeface="Times New Roman" panose="02020603050405020304" pitchFamily="18" charset="0"/>
              </a:rPr>
              <a:t>Our proposed idea connects colleges and students by issuing </a:t>
            </a:r>
            <a:r>
              <a:rPr lang="en-IN" sz="2400" b="1" dirty="0">
                <a:latin typeface="Times New Roman" panose="02020603050405020304" pitchFamily="18" charset="0"/>
                <a:cs typeface="Times New Roman" panose="02020603050405020304" pitchFamily="18" charset="0"/>
              </a:rPr>
              <a:t>blockchain-verified digital certificates</a:t>
            </a:r>
            <a:r>
              <a:rPr lang="en-IN" sz="2400" dirty="0">
                <a:latin typeface="Times New Roman" panose="02020603050405020304" pitchFamily="18" charset="0"/>
                <a:cs typeface="Times New Roman" panose="02020603050405020304" pitchFamily="18" charset="0"/>
              </a:rPr>
              <a:t> that students can securely share and verify anywhere.</a:t>
            </a:r>
          </a:p>
          <a:p>
            <a:pPr marL="0" indent="0">
              <a:buNone/>
              <a:defRPr/>
            </a:pPr>
            <a:endParaRPr lang="en-IN" sz="2400" b="1" dirty="0">
              <a:latin typeface="Times New Roman" panose="02020603050405020304" pitchFamily="18" charset="0"/>
              <a:cs typeface="Times New Roman" panose="02020603050405020304" pitchFamily="18" charset="0"/>
            </a:endParaRPr>
          </a:p>
          <a:p>
            <a:pPr marL="971550" lvl="1" indent="-342900">
              <a:buFont typeface="Wingdings" pitchFamily="2" charset="2"/>
              <a:buChar char="Ø"/>
              <a:defRPr/>
            </a:pPr>
            <a:r>
              <a:rPr lang="en-IN" sz="2000" dirty="0">
                <a:latin typeface="Times New Roman" panose="02020603050405020304" pitchFamily="18" charset="0"/>
                <a:cs typeface="Times New Roman" panose="02020603050405020304" pitchFamily="18" charset="0"/>
              </a:rPr>
              <a:t>The college database continues to manage full student and academic data as normal.</a:t>
            </a:r>
          </a:p>
          <a:p>
            <a:pPr marL="971550" lvl="1" indent="-342900">
              <a:buFont typeface="Wingdings" pitchFamily="2" charset="2"/>
              <a:buChar char="Ø"/>
              <a:defRPr/>
            </a:pPr>
            <a:r>
              <a:rPr lang="en-IN" sz="2000" dirty="0">
                <a:latin typeface="Times New Roman" panose="02020603050405020304" pitchFamily="18" charset="0"/>
                <a:cs typeface="Times New Roman" panose="02020603050405020304" pitchFamily="18" charset="0"/>
              </a:rPr>
              <a:t>At issuance, a SHA-256 hash of each credential — plus issuer ID, credential type and status — is written to a smart contract on an Ethereum-compatible network.</a:t>
            </a:r>
          </a:p>
          <a:p>
            <a:pPr marL="971550" lvl="1" indent="-342900">
              <a:buFont typeface="Wingdings" pitchFamily="2" charset="2"/>
              <a:buChar char="Ø"/>
              <a:defRPr/>
            </a:pPr>
            <a:r>
              <a:rPr lang="en-IN" sz="2000" dirty="0">
                <a:latin typeface="Times New Roman" panose="02020603050405020304" pitchFamily="18" charset="0"/>
                <a:cs typeface="Times New Roman" panose="02020603050405020304" pitchFamily="18" charset="0"/>
              </a:rPr>
              <a:t>Students receive their usual certificate plus a QR code; anyone — an employer, another university, a government portal — can scan the QR or enter the credential ID to instantly recompute and compare the hash on-chain, without contacting the university.</a:t>
            </a:r>
          </a:p>
          <a:p>
            <a:pPr marL="971550" lvl="1" indent="-342900">
              <a:buFont typeface="Wingdings" pitchFamily="2" charset="2"/>
              <a:buChar char="Ø"/>
              <a:defRPr/>
            </a:pPr>
            <a:r>
              <a:rPr lang="en-IN" sz="2000" dirty="0">
                <a:latin typeface="Times New Roman" panose="02020603050405020304" pitchFamily="18" charset="0"/>
                <a:cs typeface="Times New Roman" panose="02020603050405020304" pitchFamily="18" charset="0"/>
              </a:rPr>
              <a:t>Revocation updates the on-chain status rather than deleting historical data, so the full issue-to-revoke trail stays auditable.</a:t>
            </a:r>
          </a:p>
        </p:txBody>
      </p:sp>
      <p:sp>
        <p:nvSpPr>
          <p:cNvPr id="3" name="Title 2">
            <a:extLst>
              <a:ext uri="{FF2B5EF4-FFF2-40B4-BE49-F238E27FC236}">
                <a16:creationId xmlns:a16="http://schemas.microsoft.com/office/drawing/2014/main" id="{19BE5AE2-40E3-427C-DEBA-FA190D02BEC1}"/>
              </a:ext>
            </a:extLst>
          </p:cNvPr>
          <p:cNvSpPr>
            <a:spLocks noGrp="1"/>
          </p:cNvSpPr>
          <p:nvPr>
            <p:ph type="title"/>
          </p:nvPr>
        </p:nvSpPr>
        <p:spPr/>
        <p:txBody>
          <a:bodyPr>
            <a:noAutofit/>
          </a:bodyPr>
          <a:lstStyle/>
          <a:p>
            <a:r>
              <a:rPr lang="en-IN" sz="3200" b="1" dirty="0">
                <a:latin typeface="Times New Roman" panose="02020603050405020304" pitchFamily="18" charset="0"/>
                <a:cs typeface="Times New Roman" panose="02020603050405020304" pitchFamily="18" charset="0"/>
              </a:rPr>
              <a:t>Proposed Idea</a:t>
            </a:r>
          </a:p>
        </p:txBody>
      </p:sp>
      <p:pic>
        <p:nvPicPr>
          <p:cNvPr id="5" name="Picture 4">
            <a:extLst>
              <a:ext uri="{FF2B5EF4-FFF2-40B4-BE49-F238E27FC236}">
                <a16:creationId xmlns:a16="http://schemas.microsoft.com/office/drawing/2014/main" id="{8EAABE41-1A78-C313-15FA-4DAE2C1B93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9266" y="228601"/>
            <a:ext cx="2990120" cy="563562"/>
          </a:xfrm>
          <a:prstGeom prst="rect">
            <a:avLst/>
          </a:prstGeom>
        </p:spPr>
      </p:pic>
    </p:spTree>
    <p:extLst>
      <p:ext uri="{BB962C8B-B14F-4D97-AF65-F5344CB8AC3E}">
        <p14:creationId xmlns:p14="http://schemas.microsoft.com/office/powerpoint/2010/main" val="153296704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wrap="square" lIns="91440" tIns="45720" rIns="91440" bIns="45720" rtlCol="0" anchor="t">
            <a:normAutofit/>
          </a:bodyPr>
          <a:lstStyle/>
          <a:p>
            <a:pPr marL="0" indent="0">
              <a:buNone/>
              <a:defRPr/>
            </a:pPr>
            <a:r>
              <a:rPr lang="en-IN" sz="2000" b="1" dirty="0">
                <a:latin typeface="Calibri"/>
              </a:rPr>
              <a:t>Iterative, module-by-module build-and-test methodology:</a:t>
            </a: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Proposed Research / Methodology</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9172F0-DC24-A9DB-0F68-54E3881FD5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2016" y="228600"/>
            <a:ext cx="2775262" cy="520477"/>
          </a:xfrm>
          <a:prstGeom prst="rect">
            <a:avLst/>
          </a:prstGeom>
        </p:spPr>
      </p:pic>
      <p:graphicFrame>
        <p:nvGraphicFramePr>
          <p:cNvPr id="4" name="Table 3">
            <a:extLst>
              <a:ext uri="{FF2B5EF4-FFF2-40B4-BE49-F238E27FC236}">
                <a16:creationId xmlns:a16="http://schemas.microsoft.com/office/drawing/2014/main" id="{2646E290-AA48-E1B6-8852-1C04BEEED2DA}"/>
              </a:ext>
            </a:extLst>
          </p:cNvPr>
          <p:cNvGraphicFramePr>
            <a:graphicFrameLocks noGrp="1"/>
          </p:cNvGraphicFramePr>
          <p:nvPr>
            <p:extLst>
              <p:ext uri="{D42A27DB-BD31-4B8C-83A1-F6EECF244321}">
                <p14:modId xmlns:p14="http://schemas.microsoft.com/office/powerpoint/2010/main" val="3567969265"/>
              </p:ext>
            </p:extLst>
          </p:nvPr>
        </p:nvGraphicFramePr>
        <p:xfrm>
          <a:off x="782320" y="1503680"/>
          <a:ext cx="9438640" cy="4946030"/>
        </p:xfrm>
        <a:graphic>
          <a:graphicData uri="http://schemas.openxmlformats.org/drawingml/2006/table">
            <a:tbl>
              <a:tblPr/>
              <a:tblGrid>
                <a:gridCol w="3439137">
                  <a:extLst>
                    <a:ext uri="{9D8B030D-6E8A-4147-A177-3AD203B41FA5}">
                      <a16:colId xmlns:a16="http://schemas.microsoft.com/office/drawing/2014/main" val="1458593207"/>
                    </a:ext>
                  </a:extLst>
                </a:gridCol>
                <a:gridCol w="5999503">
                  <a:extLst>
                    <a:ext uri="{9D8B030D-6E8A-4147-A177-3AD203B41FA5}">
                      <a16:colId xmlns:a16="http://schemas.microsoft.com/office/drawing/2014/main" val="1933637296"/>
                    </a:ext>
                  </a:extLst>
                </a:gridCol>
              </a:tblGrid>
              <a:tr h="294259">
                <a:tc>
                  <a:txBody>
                    <a:bodyPr/>
                    <a:lstStyle/>
                    <a:p>
                      <a:pPr>
                        <a:buNone/>
                      </a:pPr>
                      <a:r>
                        <a:rPr lang="en-IN" sz="2000" b="1" dirty="0">
                          <a:latin typeface="Times New Roman" panose="02020603050405020304" pitchFamily="18" charset="0"/>
                          <a:cs typeface="Times New Roman" panose="02020603050405020304" pitchFamily="18" charset="0"/>
                        </a:rPr>
                        <a:t>Module / Stage</a:t>
                      </a:r>
                      <a:endParaRPr lang="en-IN" sz="20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000" b="1"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184993928"/>
                  </a:ext>
                </a:extLst>
              </a:tr>
              <a:tr h="521280">
                <a:tc>
                  <a:txBody>
                    <a:bodyPr/>
                    <a:lstStyle/>
                    <a:p>
                      <a:pPr>
                        <a:buNone/>
                      </a:pPr>
                      <a:r>
                        <a:rPr lang="en-IN" sz="1400" b="1" dirty="0">
                          <a:latin typeface="Times New Roman" panose="02020603050405020304" pitchFamily="18" charset="0"/>
                          <a:cs typeface="Times New Roman" panose="02020603050405020304" pitchFamily="18" charset="0"/>
                        </a:rPr>
                        <a:t>Requirements &amp; System Design</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Study requirements and define </a:t>
                      </a:r>
                      <a:r>
                        <a:rPr lang="en-IN" sz="1400" b="1" dirty="0">
                          <a:latin typeface="Times New Roman" panose="02020603050405020304" pitchFamily="18" charset="0"/>
                          <a:cs typeface="Times New Roman" panose="02020603050405020304" pitchFamily="18" charset="0"/>
                        </a:rPr>
                        <a:t>Admin, Student, and Employer/Verifier</a:t>
                      </a:r>
                      <a:r>
                        <a:rPr lang="en-IN" sz="1400" dirty="0">
                          <a:latin typeface="Times New Roman" panose="02020603050405020304" pitchFamily="18" charset="0"/>
                          <a:cs typeface="Times New Roman" panose="02020603050405020304" pitchFamily="18" charset="0"/>
                        </a:rPr>
                        <a:t> roles, data flow, and on-chain/off-chain separation.</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7878867"/>
                  </a:ext>
                </a:extLst>
              </a:tr>
              <a:tr h="521280">
                <a:tc>
                  <a:txBody>
                    <a:bodyPr/>
                    <a:lstStyle/>
                    <a:p>
                      <a:pPr>
                        <a:buNone/>
                      </a:pPr>
                      <a:r>
                        <a:rPr lang="en-IN" sz="1400" b="1" dirty="0">
                          <a:latin typeface="Times New Roman" panose="02020603050405020304" pitchFamily="18" charset="0"/>
                          <a:cs typeface="Times New Roman" panose="02020603050405020304" pitchFamily="18" charset="0"/>
                        </a:rPr>
                        <a:t>Academic Data Layer</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Use </a:t>
                      </a:r>
                      <a:r>
                        <a:rPr lang="en-IN" sz="1400" b="1">
                          <a:latin typeface="Times New Roman" panose="02020603050405020304" pitchFamily="18" charset="0"/>
                          <a:cs typeface="Times New Roman" panose="02020603050405020304" pitchFamily="18" charset="0"/>
                        </a:rPr>
                        <a:t>PostgreSQL</a:t>
                      </a:r>
                      <a:r>
                        <a:rPr lang="en-IN" sz="1400">
                          <a:latin typeface="Times New Roman" panose="02020603050405020304" pitchFamily="18" charset="0"/>
                          <a:cs typeface="Times New Roman" panose="02020603050405020304" pitchFamily="18" charset="0"/>
                        </a:rPr>
                        <a:t> to manage student, academic, and administrative records off-chain, integrated with existing college data.</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062814"/>
                  </a:ext>
                </a:extLst>
              </a:tr>
              <a:tr h="400983">
                <a:tc>
                  <a:txBody>
                    <a:bodyPr/>
                    <a:lstStyle/>
                    <a:p>
                      <a:pPr>
                        <a:buNone/>
                      </a:pPr>
                      <a:r>
                        <a:rPr lang="en-IN" sz="1400" b="1" dirty="0">
                          <a:latin typeface="Times New Roman" panose="02020603050405020304" pitchFamily="18" charset="0"/>
                          <a:cs typeface="Times New Roman" panose="02020603050405020304" pitchFamily="18" charset="0"/>
                        </a:rPr>
                        <a:t>Frontend Development</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Develop </a:t>
                      </a:r>
                      <a:r>
                        <a:rPr lang="en-IN" sz="1400" b="1">
                          <a:latin typeface="Times New Roman" panose="02020603050405020304" pitchFamily="18" charset="0"/>
                          <a:cs typeface="Times New Roman" panose="02020603050405020304" pitchFamily="18" charset="0"/>
                        </a:rPr>
                        <a:t>React.js</a:t>
                      </a:r>
                      <a:r>
                        <a:rPr lang="en-IN" sz="1400">
                          <a:latin typeface="Times New Roman" panose="02020603050405020304" pitchFamily="18" charset="0"/>
                          <a:cs typeface="Times New Roman" panose="02020603050405020304" pitchFamily="18" charset="0"/>
                        </a:rPr>
                        <a:t> interfaces for the </a:t>
                      </a:r>
                      <a:r>
                        <a:rPr lang="en-IN" sz="1400" b="1">
                          <a:latin typeface="Times New Roman" panose="02020603050405020304" pitchFamily="18" charset="0"/>
                          <a:cs typeface="Times New Roman" panose="02020603050405020304" pitchFamily="18" charset="0"/>
                        </a:rPr>
                        <a:t>Admin Console, Student Portal, and Verification UI</a:t>
                      </a:r>
                      <a:r>
                        <a:rPr lang="en-IN" sz="1400">
                          <a:latin typeface="Times New Roman" panose="02020603050405020304" pitchFamily="18" charset="0"/>
                          <a:cs typeface="Times New Roman" panose="02020603050405020304" pitchFamily="18" charset="0"/>
                        </a:rPr>
                        <a:t>.</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117744"/>
                  </a:ext>
                </a:extLst>
              </a:tr>
              <a:tr h="521280">
                <a:tc>
                  <a:txBody>
                    <a:bodyPr/>
                    <a:lstStyle/>
                    <a:p>
                      <a:pPr>
                        <a:buNone/>
                      </a:pPr>
                      <a:r>
                        <a:rPr lang="en-IN" sz="1400" b="1" dirty="0">
                          <a:latin typeface="Times New Roman" panose="02020603050405020304" pitchFamily="18" charset="0"/>
                          <a:cs typeface="Times New Roman" panose="02020603050405020304" pitchFamily="18" charset="0"/>
                        </a:rPr>
                        <a:t>Backend Development</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Develop </a:t>
                      </a:r>
                      <a:r>
                        <a:rPr lang="en-IN" sz="1400" b="1">
                          <a:latin typeface="Times New Roman" panose="02020603050405020304" pitchFamily="18" charset="0"/>
                          <a:cs typeface="Times New Roman" panose="02020603050405020304" pitchFamily="18" charset="0"/>
                        </a:rPr>
                        <a:t>Node.js + Express REST APIs</a:t>
                      </a:r>
                      <a:r>
                        <a:rPr lang="en-IN" sz="1400">
                          <a:latin typeface="Times New Roman" panose="02020603050405020304" pitchFamily="18" charset="0"/>
                          <a:cs typeface="Times New Roman" panose="02020603050405020304" pitchFamily="18" charset="0"/>
                        </a:rPr>
                        <a:t> for authentication, credential management, verification, and blockchain integration.</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280308"/>
                  </a:ext>
                </a:extLst>
              </a:tr>
              <a:tr h="532060">
                <a:tc>
                  <a:txBody>
                    <a:bodyPr/>
                    <a:lstStyle/>
                    <a:p>
                      <a:pPr>
                        <a:buNone/>
                      </a:pPr>
                      <a:r>
                        <a:rPr lang="en-IN" sz="1400" b="1" dirty="0">
                          <a:latin typeface="Times New Roman" panose="02020603050405020304" pitchFamily="18" charset="0"/>
                          <a:cs typeface="Times New Roman" panose="02020603050405020304" pitchFamily="18" charset="0"/>
                        </a:rPr>
                        <a:t>Smart Contract Development</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Develop </a:t>
                      </a:r>
                      <a:r>
                        <a:rPr lang="en-IN" sz="1400" b="1" dirty="0">
                          <a:latin typeface="Times New Roman" panose="02020603050405020304" pitchFamily="18" charset="0"/>
                          <a:cs typeface="Times New Roman" panose="02020603050405020304" pitchFamily="18" charset="0"/>
                        </a:rPr>
                        <a:t>Solidity smart contracts</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issueCredential</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verifyCredential</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revokeCredential</a:t>
                      </a:r>
                      <a:r>
                        <a:rPr lang="en-IN" sz="1400" dirty="0">
                          <a:latin typeface="Times New Roman" panose="02020603050405020304" pitchFamily="18" charset="0"/>
                          <a:cs typeface="Times New Roman" panose="02020603050405020304" pitchFamily="18" charset="0"/>
                        </a:rPr>
                        <a:t> functions on an Ethereum-compatible test network.</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2419904"/>
                  </a:ext>
                </a:extLst>
              </a:tr>
              <a:tr h="521280">
                <a:tc>
                  <a:txBody>
                    <a:bodyPr/>
                    <a:lstStyle/>
                    <a:p>
                      <a:pPr>
                        <a:buNone/>
                      </a:pPr>
                      <a:r>
                        <a:rPr lang="en-IN" sz="1400" b="1">
                          <a:latin typeface="Times New Roman" panose="02020603050405020304" pitchFamily="18" charset="0"/>
                          <a:cs typeface="Times New Roman" panose="02020603050405020304" pitchFamily="18" charset="0"/>
                        </a:rPr>
                        <a:t>Credential Integration</a:t>
                      </a:r>
                      <a:endParaRPr lang="en-IN" sz="140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Generate a </a:t>
                      </a:r>
                      <a:r>
                        <a:rPr lang="en-IN" sz="1400" b="1" dirty="0">
                          <a:latin typeface="Times New Roman" panose="02020603050405020304" pitchFamily="18" charset="0"/>
                          <a:cs typeface="Times New Roman" panose="02020603050405020304" pitchFamily="18" charset="0"/>
                        </a:rPr>
                        <a:t>SHA-256 hash, QR code, and PDF certificate</a:t>
                      </a:r>
                      <a:r>
                        <a:rPr lang="en-IN" sz="1400" dirty="0">
                          <a:latin typeface="Times New Roman" panose="02020603050405020304" pitchFamily="18" charset="0"/>
                          <a:cs typeface="Times New Roman" panose="02020603050405020304" pitchFamily="18" charset="0"/>
                        </a:rPr>
                        <a:t> for each credential and connect the backend to the smart contract using </a:t>
                      </a:r>
                      <a:r>
                        <a:rPr lang="en-IN" sz="1400" b="1" dirty="0" err="1">
                          <a:latin typeface="Times New Roman" panose="02020603050405020304" pitchFamily="18" charset="0"/>
                          <a:cs typeface="Times New Roman" panose="02020603050405020304" pitchFamily="18" charset="0"/>
                        </a:rPr>
                        <a:t>ethers.js</a:t>
                      </a:r>
                      <a:r>
                        <a:rPr lang="en-IN" sz="1400" dirty="0">
                          <a:latin typeface="Times New Roman" panose="02020603050405020304" pitchFamily="18" charset="0"/>
                          <a:cs typeface="Times New Roman" panose="02020603050405020304" pitchFamily="18" charset="0"/>
                        </a:rPr>
                        <a:t>.</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497787"/>
                  </a:ext>
                </a:extLst>
              </a:tr>
              <a:tr h="761869">
                <a:tc>
                  <a:txBody>
                    <a:bodyPr/>
                    <a:lstStyle/>
                    <a:p>
                      <a:pPr>
                        <a:buNone/>
                      </a:pPr>
                      <a:r>
                        <a:rPr lang="en-IN" sz="1400" b="1">
                          <a:latin typeface="Times New Roman" panose="02020603050405020304" pitchFamily="18" charset="0"/>
                          <a:cs typeface="Times New Roman" panose="02020603050405020304" pitchFamily="18" charset="0"/>
                        </a:rPr>
                        <a:t>Verification &amp; Testing</a:t>
                      </a:r>
                      <a:endParaRPr lang="en-IN" sz="140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Verify credentials through </a:t>
                      </a:r>
                      <a:r>
                        <a:rPr lang="en-IN" sz="1400" b="1" dirty="0">
                          <a:latin typeface="Times New Roman" panose="02020603050405020304" pitchFamily="18" charset="0"/>
                          <a:cs typeface="Times New Roman" panose="02020603050405020304" pitchFamily="18" charset="0"/>
                        </a:rPr>
                        <a:t>QR scanning or Credential ID lookup</a:t>
                      </a:r>
                      <a:r>
                        <a:rPr lang="en-IN" sz="1400" dirty="0">
                          <a:latin typeface="Times New Roman" panose="02020603050405020304" pitchFamily="18" charset="0"/>
                          <a:cs typeface="Times New Roman" panose="02020603050405020304" pitchFamily="18" charset="0"/>
                        </a:rPr>
                        <a:t> and perform </a:t>
                      </a:r>
                      <a:r>
                        <a:rPr lang="en-IN" sz="1400" b="1" dirty="0">
                          <a:latin typeface="Times New Roman" panose="02020603050405020304" pitchFamily="18" charset="0"/>
                          <a:cs typeface="Times New Roman" panose="02020603050405020304" pitchFamily="18" charset="0"/>
                        </a:rPr>
                        <a:t>10 structured test scenarios</a:t>
                      </a:r>
                      <a:r>
                        <a:rPr lang="en-IN" sz="1400" dirty="0">
                          <a:latin typeface="Times New Roman" panose="02020603050405020304" pitchFamily="18" charset="0"/>
                          <a:cs typeface="Times New Roman" panose="02020603050405020304" pitchFamily="18" charset="0"/>
                        </a:rPr>
                        <a:t> covering valid, modified, revoked, unauthorized, and infrastructure-failure cases.</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8657807"/>
                  </a:ext>
                </a:extLst>
              </a:tr>
              <a:tr h="761869">
                <a:tc>
                  <a:txBody>
                    <a:bodyPr/>
                    <a:lstStyle/>
                    <a:p>
                      <a:pPr>
                        <a:buNone/>
                      </a:pPr>
                      <a:r>
                        <a:rPr lang="en-IN" sz="1400" b="1" dirty="0">
                          <a:latin typeface="Times New Roman" panose="02020603050405020304" pitchFamily="18" charset="0"/>
                          <a:cs typeface="Times New Roman" panose="02020603050405020304" pitchFamily="18" charset="0"/>
                        </a:rPr>
                        <a:t>Deployment &amp; Evaluation</a:t>
                      </a:r>
                      <a:endParaRPr lang="en-IN" sz="1400" dirty="0">
                        <a:latin typeface="Times New Roman" panose="02020603050405020304" pitchFamily="18" charset="0"/>
                        <a:cs typeface="Times New Roman" panose="02020603050405020304" pitchFamily="18" charset="0"/>
                      </a:endParaRP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Deploy the prototype with the </a:t>
                      </a:r>
                      <a:r>
                        <a:rPr lang="en-IN" sz="1400" b="1" dirty="0">
                          <a:latin typeface="Times New Roman" panose="02020603050405020304" pitchFamily="18" charset="0"/>
                          <a:cs typeface="Times New Roman" panose="02020603050405020304" pitchFamily="18" charset="0"/>
                        </a:rPr>
                        <a:t>frontend on </a:t>
                      </a:r>
                      <a:r>
                        <a:rPr lang="en-IN" sz="1400" b="1" dirty="0" err="1">
                          <a:latin typeface="Times New Roman" panose="02020603050405020304" pitchFamily="18" charset="0"/>
                          <a:cs typeface="Times New Roman" panose="02020603050405020304" pitchFamily="18" charset="0"/>
                        </a:rPr>
                        <a:t>Vercel</a:t>
                      </a:r>
                      <a:r>
                        <a:rPr lang="en-IN" sz="1400" dirty="0">
                          <a:latin typeface="Times New Roman" panose="02020603050405020304" pitchFamily="18" charset="0"/>
                          <a:cs typeface="Times New Roman" panose="02020603050405020304" pitchFamily="18" charset="0"/>
                        </a:rPr>
                        <a:t>, online backend APIs, and smart contract on an </a:t>
                      </a:r>
                      <a:r>
                        <a:rPr lang="en-IN" sz="1400" b="1" dirty="0">
                          <a:latin typeface="Times New Roman" panose="02020603050405020304" pitchFamily="18" charset="0"/>
                          <a:cs typeface="Times New Roman" panose="02020603050405020304" pitchFamily="18" charset="0"/>
                        </a:rPr>
                        <a:t>Ethereum-compatible test network</a:t>
                      </a:r>
                      <a:r>
                        <a:rPr lang="en-IN" sz="1400" dirty="0">
                          <a:latin typeface="Times New Roman" panose="02020603050405020304" pitchFamily="18" charset="0"/>
                          <a:cs typeface="Times New Roman" panose="02020603050405020304" pitchFamily="18" charset="0"/>
                        </a:rPr>
                        <a:t>, followed by real-world scenario evaluation.</a:t>
                      </a:r>
                    </a:p>
                  </a:txBody>
                  <a:tcPr marL="36796" marR="36796" marT="18398" marB="183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6926534"/>
                  </a:ext>
                </a:extLst>
              </a:tr>
            </a:tbl>
          </a:graphicData>
        </a:graphic>
      </p:graphicFrame>
    </p:spTree>
    <p:extLst>
      <p:ext uri="{BB962C8B-B14F-4D97-AF65-F5344CB8AC3E}">
        <p14:creationId xmlns:p14="http://schemas.microsoft.com/office/powerpoint/2010/main" val="231149294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C6BACC7-1F25-8320-2B38-A53B2858AFAF}"/>
              </a:ext>
            </a:extLst>
          </p:cNvPr>
          <p:cNvGraphicFramePr>
            <a:graphicFrameLocks noGrp="1"/>
          </p:cNvGraphicFramePr>
          <p:nvPr>
            <p:ph idx="1"/>
            <p:extLst>
              <p:ext uri="{D42A27DB-BD31-4B8C-83A1-F6EECF244321}">
                <p14:modId xmlns:p14="http://schemas.microsoft.com/office/powerpoint/2010/main" val="648137976"/>
              </p:ext>
            </p:extLst>
          </p:nvPr>
        </p:nvGraphicFramePr>
        <p:xfrm>
          <a:off x="944880" y="1097280"/>
          <a:ext cx="8117424" cy="4114801"/>
        </p:xfrm>
        <a:graphic>
          <a:graphicData uri="http://schemas.openxmlformats.org/drawingml/2006/table">
            <a:tbl>
              <a:tblPr/>
              <a:tblGrid>
                <a:gridCol w="4058712">
                  <a:extLst>
                    <a:ext uri="{9D8B030D-6E8A-4147-A177-3AD203B41FA5}">
                      <a16:colId xmlns:a16="http://schemas.microsoft.com/office/drawing/2014/main" val="105891700"/>
                    </a:ext>
                  </a:extLst>
                </a:gridCol>
                <a:gridCol w="4058712">
                  <a:extLst>
                    <a:ext uri="{9D8B030D-6E8A-4147-A177-3AD203B41FA5}">
                      <a16:colId xmlns:a16="http://schemas.microsoft.com/office/drawing/2014/main" val="1529871756"/>
                    </a:ext>
                  </a:extLst>
                </a:gridCol>
              </a:tblGrid>
              <a:tr h="374073">
                <a:tc>
                  <a:txBody>
                    <a:bodyPr/>
                    <a:lstStyle/>
                    <a:p>
                      <a:pPr>
                        <a:buNone/>
                      </a:pPr>
                      <a:r>
                        <a:rPr lang="en-IN" sz="1600" b="1" dirty="0"/>
                        <a:t>Requirement</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IN" sz="1600" b="1" dirty="0"/>
                        <a:t>Details</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12896002"/>
                  </a:ext>
                </a:extLst>
              </a:tr>
              <a:tr h="935182">
                <a:tc>
                  <a:txBody>
                    <a:bodyPr/>
                    <a:lstStyle/>
                    <a:p>
                      <a:pPr>
                        <a:buNone/>
                      </a:pPr>
                      <a:r>
                        <a:rPr lang="en-IN" sz="1600" b="1" dirty="0"/>
                        <a:t>Development Machine</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buNone/>
                      </a:pPr>
                      <a:r>
                        <a:rPr lang="en-IN" sz="1600" dirty="0"/>
                        <a:t>Intel i5 / AMD </a:t>
                      </a:r>
                      <a:r>
                        <a:rPr lang="en-IN" sz="1600" dirty="0" err="1"/>
                        <a:t>Ryzen</a:t>
                      </a:r>
                      <a:r>
                        <a:rPr lang="en-IN" sz="1600" dirty="0"/>
                        <a:t> 5 or higher, </a:t>
                      </a:r>
                      <a:r>
                        <a:rPr lang="en-IN" sz="1600" b="1" dirty="0"/>
                        <a:t>8 GB RAM minimum (16 GB recommended)</a:t>
                      </a:r>
                      <a:r>
                        <a:rPr lang="en-IN" sz="1600" dirty="0"/>
                        <a:t>, SSD storage.</a:t>
                      </a:r>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7931026"/>
                  </a:ext>
                </a:extLst>
              </a:tr>
              <a:tr h="935182">
                <a:tc>
                  <a:txBody>
                    <a:bodyPr/>
                    <a:lstStyle/>
                    <a:p>
                      <a:pPr>
                        <a:buNone/>
                      </a:pPr>
                      <a:r>
                        <a:rPr lang="en-IN" sz="1600" b="1" dirty="0"/>
                        <a:t>Institutional Hardware</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buNone/>
                      </a:pPr>
                      <a:r>
                        <a:rPr lang="en-IN" sz="1600" dirty="0"/>
                        <a:t>No specialized hardware is required; blockchain network and hosting are </a:t>
                      </a:r>
                      <a:r>
                        <a:rPr lang="en-IN" sz="1600" b="1" dirty="0"/>
                        <a:t>cloud/</a:t>
                      </a:r>
                      <a:r>
                        <a:rPr lang="en-IN" sz="1600" b="1" dirty="0" err="1"/>
                        <a:t>testnet</a:t>
                      </a:r>
                      <a:r>
                        <a:rPr lang="en-IN" sz="1600" b="1" dirty="0"/>
                        <a:t>-based</a:t>
                      </a:r>
                      <a:r>
                        <a:rPr lang="en-IN" sz="1600" dirty="0"/>
                        <a:t>.</a:t>
                      </a:r>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3411643"/>
                  </a:ext>
                </a:extLst>
              </a:tr>
              <a:tr h="935182">
                <a:tc>
                  <a:txBody>
                    <a:bodyPr/>
                    <a:lstStyle/>
                    <a:p>
                      <a:pPr>
                        <a:buNone/>
                      </a:pPr>
                      <a:r>
                        <a:rPr lang="en-IN" sz="1600" b="1" dirty="0"/>
                        <a:t>Smartphone for Verification</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buNone/>
                      </a:pPr>
                      <a:r>
                        <a:rPr lang="en-IN" sz="1600" dirty="0"/>
                        <a:t>A modern smartphone for </a:t>
                      </a:r>
                      <a:r>
                        <a:rPr lang="en-IN" sz="1600" b="1" dirty="0"/>
                        <a:t>QR-code scanning</a:t>
                      </a:r>
                      <a:r>
                        <a:rPr lang="en-IN" sz="1600" dirty="0"/>
                        <a:t> during certificate verification.</a:t>
                      </a:r>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978099"/>
                  </a:ext>
                </a:extLst>
              </a:tr>
              <a:tr h="935182">
                <a:tc>
                  <a:txBody>
                    <a:bodyPr/>
                    <a:lstStyle/>
                    <a:p>
                      <a:pPr>
                        <a:buNone/>
                      </a:pPr>
                      <a:r>
                        <a:rPr lang="en-IN" sz="1600" b="1" dirty="0"/>
                        <a:t>Internet Connectivity</a:t>
                      </a:r>
                      <a:endParaRPr lang="en-IN" sz="1600" dirty="0"/>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buNone/>
                      </a:pPr>
                      <a:r>
                        <a:rPr lang="en-IN" sz="1600" dirty="0"/>
                        <a:t>Stable internet connection for accessing the </a:t>
                      </a:r>
                      <a:r>
                        <a:rPr lang="en-IN" sz="1600" b="1" dirty="0"/>
                        <a:t>blockchain test network and cloud-hosted services</a:t>
                      </a:r>
                      <a:r>
                        <a:rPr lang="en-IN" sz="1600" dirty="0"/>
                        <a:t>.</a:t>
                      </a:r>
                    </a:p>
                  </a:txBody>
                  <a:tcPr marL="83608" marR="83608" marT="41804" marB="4180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9818891"/>
                  </a:ext>
                </a:extLst>
              </a:tr>
            </a:tbl>
          </a:graphicData>
        </a:graphic>
      </p:graphicFrame>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4694294"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Hardware Requirements</a:t>
            </a:r>
          </a:p>
        </p:txBody>
      </p:sp>
      <p:pic>
        <p:nvPicPr>
          <p:cNvPr id="5" name="Picture 4">
            <a:extLst>
              <a:ext uri="{FF2B5EF4-FFF2-40B4-BE49-F238E27FC236}">
                <a16:creationId xmlns:a16="http://schemas.microsoft.com/office/drawing/2014/main" id="{E315328B-2062-6B94-DEDE-8CFD1B404E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7184" y="151141"/>
            <a:ext cx="3179997" cy="550457"/>
          </a:xfrm>
          <a:prstGeom prst="rect">
            <a:avLst/>
          </a:prstGeom>
        </p:spPr>
      </p:pic>
    </p:spTree>
    <p:extLst>
      <p:ext uri="{BB962C8B-B14F-4D97-AF65-F5344CB8AC3E}">
        <p14:creationId xmlns:p14="http://schemas.microsoft.com/office/powerpoint/2010/main" val="140662484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Software Requirements</a:t>
            </a:r>
          </a:p>
        </p:txBody>
      </p:sp>
      <p:pic>
        <p:nvPicPr>
          <p:cNvPr id="5" name="Picture 4">
            <a:extLst>
              <a:ext uri="{FF2B5EF4-FFF2-40B4-BE49-F238E27FC236}">
                <a16:creationId xmlns:a16="http://schemas.microsoft.com/office/drawing/2014/main" id="{09455320-2D9F-FA39-6651-A4D0ED124F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29010" y="241174"/>
            <a:ext cx="2818151" cy="550457"/>
          </a:xfrm>
          <a:prstGeom prst="rect">
            <a:avLst/>
          </a:prstGeom>
        </p:spPr>
      </p:pic>
      <p:graphicFrame>
        <p:nvGraphicFramePr>
          <p:cNvPr id="8" name="Content Placeholder 7">
            <a:extLst>
              <a:ext uri="{FF2B5EF4-FFF2-40B4-BE49-F238E27FC236}">
                <a16:creationId xmlns:a16="http://schemas.microsoft.com/office/drawing/2014/main" id="{710F5AAA-CEF4-8E98-97FD-B99316757D15}"/>
              </a:ext>
            </a:extLst>
          </p:cNvPr>
          <p:cNvGraphicFramePr>
            <a:graphicFrameLocks noGrp="1"/>
          </p:cNvGraphicFramePr>
          <p:nvPr>
            <p:ph idx="1"/>
            <p:extLst>
              <p:ext uri="{D42A27DB-BD31-4B8C-83A1-F6EECF244321}">
                <p14:modId xmlns:p14="http://schemas.microsoft.com/office/powerpoint/2010/main" val="4161535794"/>
              </p:ext>
            </p:extLst>
          </p:nvPr>
        </p:nvGraphicFramePr>
        <p:xfrm>
          <a:off x="1016000" y="1267300"/>
          <a:ext cx="9733280" cy="4117497"/>
        </p:xfrm>
        <a:graphic>
          <a:graphicData uri="http://schemas.openxmlformats.org/drawingml/2006/table">
            <a:tbl>
              <a:tblPr/>
              <a:tblGrid>
                <a:gridCol w="737180">
                  <a:extLst>
                    <a:ext uri="{9D8B030D-6E8A-4147-A177-3AD203B41FA5}">
                      <a16:colId xmlns:a16="http://schemas.microsoft.com/office/drawing/2014/main" val="3678219921"/>
                    </a:ext>
                  </a:extLst>
                </a:gridCol>
                <a:gridCol w="2920420">
                  <a:extLst>
                    <a:ext uri="{9D8B030D-6E8A-4147-A177-3AD203B41FA5}">
                      <a16:colId xmlns:a16="http://schemas.microsoft.com/office/drawing/2014/main" val="2818724684"/>
                    </a:ext>
                  </a:extLst>
                </a:gridCol>
                <a:gridCol w="6075680">
                  <a:extLst>
                    <a:ext uri="{9D8B030D-6E8A-4147-A177-3AD203B41FA5}">
                      <a16:colId xmlns:a16="http://schemas.microsoft.com/office/drawing/2014/main" val="1406248451"/>
                    </a:ext>
                  </a:extLst>
                </a:gridCol>
              </a:tblGrid>
              <a:tr h="470571">
                <a:tc>
                  <a:txBody>
                    <a:bodyPr/>
                    <a:lstStyle/>
                    <a:p>
                      <a:pPr algn="r">
                        <a:buNone/>
                      </a:pPr>
                      <a:r>
                        <a:rPr lang="en-IN" b="1" dirty="0"/>
                        <a:t>No.</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Category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Software / Technologies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2847384"/>
                  </a:ext>
                </a:extLst>
              </a:tr>
              <a:tr h="470571">
                <a:tc>
                  <a:txBody>
                    <a:bodyPr/>
                    <a:lstStyle/>
                    <a:p>
                      <a:pPr algn="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Programming Languages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Solidity 0.8.24, JavaScript (Node.js 20), 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6473569"/>
                  </a:ext>
                </a:extLst>
              </a:tr>
              <a:tr h="470571">
                <a:tc>
                  <a:txBody>
                    <a:bodyPr/>
                    <a:lstStyle/>
                    <a:p>
                      <a:pPr algn="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Frontend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React.js 19 + Vite, Tailwind CSS (Vercel)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3966694"/>
                  </a:ext>
                </a:extLst>
              </a:tr>
              <a:tr h="470571">
                <a:tc>
                  <a:txBody>
                    <a:bodyPr/>
                    <a:lstStyle/>
                    <a:p>
                      <a:pPr algn="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Backend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Node.js + Express REST API (Vercel serverless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9810"/>
                  </a:ext>
                </a:extLst>
              </a:tr>
              <a:tr h="823500">
                <a:tc>
                  <a:txBody>
                    <a:bodyPr/>
                    <a:lstStyle/>
                    <a:p>
                      <a:pPr algn="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Blockchain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Ethereum Sepolia testnet, OpenZeppelin, Hardhat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5741613"/>
                  </a:ext>
                </a:extLst>
              </a:tr>
              <a:tr h="470571">
                <a:tc>
                  <a:txBody>
                    <a:bodyPr/>
                    <a:lstStyle/>
                    <a:p>
                      <a:pPr algn="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Storage &amp; Database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PostgreSQL 17 on Supabase (IPFS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045215"/>
                  </a:ext>
                </a:extLst>
              </a:tr>
              <a:tr h="470571">
                <a:tc>
                  <a:txBody>
                    <a:bodyPr/>
                    <a:lstStyle/>
                    <a:p>
                      <a:pPr algn="r">
                        <a:buNone/>
                      </a:pPr>
                      <a:r>
                        <a:rPr lang="en-I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Integration &amp; Security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ethers.js v6, MetaMask, JWT, scrypt, Helmet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73427"/>
                  </a:ext>
                </a:extLst>
              </a:tr>
              <a:tr h="470571">
                <a:tc>
                  <a:txBody>
                    <a:bodyPr/>
                    <a:lstStyle/>
                    <a:p>
                      <a:pPr algn="r">
                        <a:buNone/>
                      </a:pPr>
                      <a:r>
                        <a:rPr lang="en-IN"/>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Development Tools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Git/GitHub, Vercel CLI, Docker, Mocha/Chai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3504142"/>
                  </a:ext>
                </a:extLst>
              </a:tr>
            </a:tbl>
          </a:graphicData>
        </a:graphic>
      </p:graphicFrame>
    </p:spTree>
    <p:extLst>
      <p:ext uri="{BB962C8B-B14F-4D97-AF65-F5344CB8AC3E}">
        <p14:creationId xmlns:p14="http://schemas.microsoft.com/office/powerpoint/2010/main" val="419777398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37F2E8EE-CD24-2C42-4A67-9564FE554A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6396C8-E2F5-DB41-7F32-97AA6CD8942D}"/>
              </a:ext>
            </a:extLst>
          </p:cNvPr>
          <p:cNvSpPr>
            <a:spLocks noGrp="1"/>
          </p:cNvSpPr>
          <p:nvPr>
            <p:ph idx="1"/>
          </p:nvPr>
        </p:nvSpPr>
        <p:spPr>
          <a:xfrm>
            <a:off x="753485" y="1060814"/>
            <a:ext cx="10034105" cy="5201817"/>
          </a:xfrm>
        </p:spPr>
        <p:txBody>
          <a:bodyPr vert="horz" lIns="91440" tIns="45720" rIns="91440" bIns="45720" rtlCol="0" anchor="t">
            <a:normAutofit/>
          </a:bodyPr>
          <a:lstStyle/>
          <a:p>
            <a:pPr>
              <a:buNone/>
            </a:pPr>
            <a:r>
              <a:rPr lang="en-US" sz="2400" dirty="0">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43B9D8FE-2220-5A3B-7132-BC49787B79A1}"/>
              </a:ext>
            </a:extLst>
          </p:cNvPr>
          <p:cNvSpPr>
            <a:spLocks noGrp="1"/>
          </p:cNvSpPr>
          <p:nvPr>
            <p:ph type="title"/>
          </p:nvPr>
        </p:nvSpPr>
        <p:spPr>
          <a:xfrm>
            <a:off x="792106" y="138036"/>
            <a:ext cx="10972800" cy="563562"/>
          </a:xfrm>
        </p:spPr>
        <p:txBody>
          <a:bodyPr>
            <a:noAutofit/>
          </a:bodyPr>
          <a:lstStyle/>
          <a:p>
            <a:pPr>
              <a:lnSpc>
                <a:spcPct val="150000"/>
              </a:lnSpc>
            </a:pPr>
            <a:r>
              <a:rPr lang="en-IN" sz="3200" b="1" dirty="0">
                <a:latin typeface="Times New Roman" panose="02020603050405020304" pitchFamily="18" charset="0"/>
                <a:cs typeface="Times New Roman" panose="02020603050405020304" pitchFamily="18" charset="0"/>
              </a:rPr>
              <a:t>Flow Diagram</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9E31CD9-0893-71CD-A52F-CE13AF034A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6830" y="138036"/>
            <a:ext cx="2715302" cy="580437"/>
          </a:xfrm>
          <a:prstGeom prst="rect">
            <a:avLst/>
          </a:prstGeom>
        </p:spPr>
      </p:pic>
      <p:pic>
        <p:nvPicPr>
          <p:cNvPr id="8" name="Picture 7">
            <a:extLst>
              <a:ext uri="{FF2B5EF4-FFF2-40B4-BE49-F238E27FC236}">
                <a16:creationId xmlns:a16="http://schemas.microsoft.com/office/drawing/2014/main" id="{72C2B30B-AD4B-2F96-F113-AC0C0E43BF53}"/>
              </a:ext>
            </a:extLst>
          </p:cNvPr>
          <p:cNvPicPr>
            <a:picLocks noChangeAspect="1"/>
          </p:cNvPicPr>
          <p:nvPr/>
        </p:nvPicPr>
        <p:blipFill>
          <a:blip r:embed="rId4"/>
          <a:srcRect t="18862" b="5287"/>
          <a:stretch>
            <a:fillRect/>
          </a:stretch>
        </p:blipFill>
        <p:spPr>
          <a:xfrm>
            <a:off x="166624" y="894686"/>
            <a:ext cx="8152185" cy="5534071"/>
          </a:xfrm>
          <a:prstGeom prst="rect">
            <a:avLst/>
          </a:prstGeom>
        </p:spPr>
      </p:pic>
      <p:pic>
        <p:nvPicPr>
          <p:cNvPr id="10" name="Picture 9">
            <a:extLst>
              <a:ext uri="{FF2B5EF4-FFF2-40B4-BE49-F238E27FC236}">
                <a16:creationId xmlns:a16="http://schemas.microsoft.com/office/drawing/2014/main" id="{0BB6D806-FCC9-169A-A8B1-9EFA24DB342C}"/>
              </a:ext>
            </a:extLst>
          </p:cNvPr>
          <p:cNvPicPr>
            <a:picLocks noChangeAspect="1"/>
          </p:cNvPicPr>
          <p:nvPr/>
        </p:nvPicPr>
        <p:blipFill>
          <a:blip r:embed="rId5"/>
          <a:stretch>
            <a:fillRect/>
          </a:stretch>
        </p:blipFill>
        <p:spPr>
          <a:xfrm>
            <a:off x="8615583" y="1786466"/>
            <a:ext cx="3376549" cy="3376549"/>
          </a:xfrm>
          <a:prstGeom prst="rect">
            <a:avLst/>
          </a:prstGeom>
        </p:spPr>
      </p:pic>
    </p:spTree>
    <p:extLst>
      <p:ext uri="{BB962C8B-B14F-4D97-AF65-F5344CB8AC3E}">
        <p14:creationId xmlns:p14="http://schemas.microsoft.com/office/powerpoint/2010/main" val="2661305800"/>
      </p:ext>
    </p:extLst>
  </p:cSld>
  <p:clrMapOvr>
    <a:overrideClrMapping bg1="lt1" tx1="dk1" bg2="lt2" tx2="dk2" accent1="accent1" accent2="accent2" accent3="accent3" accent4="accent4" accent5="accent5" accent6="accent6" hlink="hlink" folHlink="folHlink"/>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9EF7A-D100-228A-91F7-55D819A217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9A16D7-8892-69C5-8E3F-CA899A02E59C}"/>
              </a:ext>
            </a:extLst>
          </p:cNvPr>
          <p:cNvSpPr>
            <a:spLocks noGrp="1"/>
          </p:cNvSpPr>
          <p:nvPr>
            <p:ph idx="1"/>
          </p:nvPr>
        </p:nvSpPr>
        <p:spPr>
          <a:xfrm>
            <a:off x="753485" y="1060814"/>
            <a:ext cx="10034105" cy="5201817"/>
          </a:xfrm>
        </p:spPr>
        <p:txBody>
          <a:bodyPr vert="horz" lIns="91440" tIns="45720" rIns="91440" bIns="45720" rtlCol="0" anchor="t">
            <a:normAutofit/>
          </a:bodyPr>
          <a:lstStyle/>
          <a:p>
            <a:pPr>
              <a:buNone/>
            </a:pPr>
            <a:r>
              <a:rPr lang="en-US" b="0" dirty="0">
                <a:latin typeface="Times New Roman" panose="02020603050405020304" pitchFamily="18" charset="0"/>
                <a:cs typeface="Times New Roman" panose="02020603050405020304" pitchFamily="18" charset="0"/>
              </a:rPr>
              <a:t>1. </a:t>
            </a:r>
            <a:r>
              <a:rPr sz="1800" b="1" dirty="0"/>
              <a:t>Admin Console Module</a:t>
            </a:r>
            <a:r>
              <a:rPr sz="1600" b="0" dirty="0"/>
              <a:t> — credential issuance, revocation, and record management (Admin role).</a:t>
            </a:r>
          </a:p>
          <a:p>
            <a:pPr>
              <a:buNone/>
            </a:pPr>
            <a:r>
              <a:rPr lang="en-US" b="0" dirty="0">
                <a:latin typeface="Times New Roman" panose="02020603050405020304" pitchFamily="18" charset="0"/>
                <a:cs typeface="Times New Roman" panose="02020603050405020304" pitchFamily="18" charset="0"/>
              </a:rPr>
              <a:t>2. </a:t>
            </a:r>
            <a:r>
              <a:rPr sz="1800" b="1" dirty="0"/>
              <a:t>Student Portal Module</a:t>
            </a:r>
            <a:r>
              <a:rPr sz="1600" b="0" dirty="0"/>
              <a:t> — credential viewing, download, and QR-based sharing (Student role).</a:t>
            </a:r>
          </a:p>
          <a:p>
            <a:pPr>
              <a:buNone/>
            </a:pPr>
            <a:r>
              <a:rPr lang="en-US" b="0" dirty="0">
                <a:latin typeface="Times New Roman" panose="02020603050405020304" pitchFamily="18" charset="0"/>
                <a:cs typeface="Times New Roman" panose="02020603050405020304" pitchFamily="18" charset="0"/>
              </a:rPr>
              <a:t>3. </a:t>
            </a:r>
            <a:r>
              <a:rPr sz="1800" b="1" dirty="0"/>
              <a:t>Verification Module</a:t>
            </a:r>
            <a:r>
              <a:rPr sz="1600" b="0" dirty="0"/>
              <a:t> — QR scan / credential-ID lookup and hash comparison (Employer / public role).</a:t>
            </a:r>
          </a:p>
          <a:p>
            <a:pPr>
              <a:buNone/>
            </a:pPr>
            <a:r>
              <a:rPr lang="en-US" b="0" dirty="0">
                <a:latin typeface="Times New Roman" panose="02020603050405020304" pitchFamily="18" charset="0"/>
                <a:cs typeface="Times New Roman" panose="02020603050405020304" pitchFamily="18" charset="0"/>
              </a:rPr>
              <a:t>4. </a:t>
            </a:r>
            <a:r>
              <a:rPr sz="1800" b="1" dirty="0"/>
              <a:t>Blockchain &amp; Backend Services Module</a:t>
            </a:r>
            <a:r>
              <a:rPr sz="1600" b="0" dirty="0"/>
              <a:t> — Auth Service, Credential Service, Verification Service, Blockchain Bridge, and the Solidity smart-contract registry.</a:t>
            </a:r>
            <a:endParaRPr lang="en-US" sz="1600" b="0" dirty="0"/>
          </a:p>
          <a:p>
            <a:pPr>
              <a:buNone/>
            </a:pPr>
            <a:endParaRPr sz="1600" b="0" dirty="0"/>
          </a:p>
        </p:txBody>
      </p:sp>
      <p:sp>
        <p:nvSpPr>
          <p:cNvPr id="3" name="Title 2">
            <a:extLst>
              <a:ext uri="{FF2B5EF4-FFF2-40B4-BE49-F238E27FC236}">
                <a16:creationId xmlns:a16="http://schemas.microsoft.com/office/drawing/2014/main" id="{ED121F08-AD64-6706-BBF1-E99AD8E172AB}"/>
              </a:ext>
            </a:extLst>
          </p:cNvPr>
          <p:cNvSpPr>
            <a:spLocks noGrp="1"/>
          </p:cNvSpPr>
          <p:nvPr>
            <p:ph type="title"/>
          </p:nvPr>
        </p:nvSpPr>
        <p:spPr>
          <a:xfrm>
            <a:off x="792106" y="138036"/>
            <a:ext cx="4244589"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Proposed Modules</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41F741-6C92-DBA8-8287-DCADD1E7CA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7013" y="169256"/>
            <a:ext cx="2685321" cy="550457"/>
          </a:xfrm>
          <a:prstGeom prst="rect">
            <a:avLst/>
          </a:prstGeom>
        </p:spPr>
      </p:pic>
      <p:pic>
        <p:nvPicPr>
          <p:cNvPr id="6" name="Picture 5">
            <a:extLst>
              <a:ext uri="{FF2B5EF4-FFF2-40B4-BE49-F238E27FC236}">
                <a16:creationId xmlns:a16="http://schemas.microsoft.com/office/drawing/2014/main" id="{0A1D0902-AF74-619A-37C7-F1C70D3A154A}"/>
              </a:ext>
            </a:extLst>
          </p:cNvPr>
          <p:cNvPicPr>
            <a:picLocks noChangeAspect="1"/>
          </p:cNvPicPr>
          <p:nvPr/>
        </p:nvPicPr>
        <p:blipFill>
          <a:blip r:embed="rId3"/>
          <a:stretch>
            <a:fillRect/>
          </a:stretch>
        </p:blipFill>
        <p:spPr>
          <a:xfrm>
            <a:off x="634230" y="3705790"/>
            <a:ext cx="3778970" cy="2519313"/>
          </a:xfrm>
          <a:prstGeom prst="rect">
            <a:avLst/>
          </a:prstGeom>
        </p:spPr>
      </p:pic>
      <p:pic>
        <p:nvPicPr>
          <p:cNvPr id="7" name="Picture 6">
            <a:extLst>
              <a:ext uri="{FF2B5EF4-FFF2-40B4-BE49-F238E27FC236}">
                <a16:creationId xmlns:a16="http://schemas.microsoft.com/office/drawing/2014/main" id="{F0B52EC3-CFE3-AA0F-2714-613AE32DFD06}"/>
              </a:ext>
            </a:extLst>
          </p:cNvPr>
          <p:cNvPicPr>
            <a:picLocks noChangeAspect="1"/>
          </p:cNvPicPr>
          <p:nvPr/>
        </p:nvPicPr>
        <p:blipFill>
          <a:blip r:embed="rId4"/>
          <a:stretch>
            <a:fillRect/>
          </a:stretch>
        </p:blipFill>
        <p:spPr>
          <a:xfrm>
            <a:off x="4505160" y="3705790"/>
            <a:ext cx="3763909" cy="2556842"/>
          </a:xfrm>
          <a:prstGeom prst="rect">
            <a:avLst/>
          </a:prstGeom>
        </p:spPr>
      </p:pic>
      <p:pic>
        <p:nvPicPr>
          <p:cNvPr id="8" name="Picture 7">
            <a:extLst>
              <a:ext uri="{FF2B5EF4-FFF2-40B4-BE49-F238E27FC236}">
                <a16:creationId xmlns:a16="http://schemas.microsoft.com/office/drawing/2014/main" id="{8102D372-63BE-5351-D670-4FBB485E7979}"/>
              </a:ext>
            </a:extLst>
          </p:cNvPr>
          <p:cNvPicPr>
            <a:picLocks noChangeAspect="1"/>
          </p:cNvPicPr>
          <p:nvPr/>
        </p:nvPicPr>
        <p:blipFill>
          <a:blip r:embed="rId5"/>
          <a:stretch>
            <a:fillRect/>
          </a:stretch>
        </p:blipFill>
        <p:spPr>
          <a:xfrm>
            <a:off x="8361029" y="3727162"/>
            <a:ext cx="3685821" cy="2535470"/>
          </a:xfrm>
          <a:prstGeom prst="rect">
            <a:avLst/>
          </a:prstGeom>
        </p:spPr>
      </p:pic>
      <p:sp>
        <p:nvSpPr>
          <p:cNvPr id="9" name="TextBox 8">
            <a:extLst>
              <a:ext uri="{FF2B5EF4-FFF2-40B4-BE49-F238E27FC236}">
                <a16:creationId xmlns:a16="http://schemas.microsoft.com/office/drawing/2014/main" id="{447D47B9-698B-B208-0C70-5AD3407EA9DD}"/>
              </a:ext>
            </a:extLst>
          </p:cNvPr>
          <p:cNvSpPr txBox="1"/>
          <p:nvPr/>
        </p:nvSpPr>
        <p:spPr>
          <a:xfrm>
            <a:off x="1355074" y="6378765"/>
            <a:ext cx="1996059" cy="307777"/>
          </a:xfrm>
          <a:prstGeom prst="rect">
            <a:avLst/>
          </a:prstGeom>
          <a:noFill/>
        </p:spPr>
        <p:txBody>
          <a:bodyPr wrap="none" rtlCol="0">
            <a:spAutoFit/>
          </a:bodyPr>
          <a:lstStyle/>
          <a:p>
            <a:r>
              <a:rPr lang="en-US" sz="1400" dirty="0"/>
              <a:t>Admin console module</a:t>
            </a:r>
          </a:p>
        </p:txBody>
      </p:sp>
      <p:sp>
        <p:nvSpPr>
          <p:cNvPr id="10" name="TextBox 9">
            <a:extLst>
              <a:ext uri="{FF2B5EF4-FFF2-40B4-BE49-F238E27FC236}">
                <a16:creationId xmlns:a16="http://schemas.microsoft.com/office/drawing/2014/main" id="{8DB980C3-4F29-4F77-26AC-C059B0370160}"/>
              </a:ext>
            </a:extLst>
          </p:cNvPr>
          <p:cNvSpPr txBox="1"/>
          <p:nvPr/>
        </p:nvSpPr>
        <p:spPr>
          <a:xfrm>
            <a:off x="5497417" y="6389781"/>
            <a:ext cx="1935145" cy="307777"/>
          </a:xfrm>
          <a:prstGeom prst="rect">
            <a:avLst/>
          </a:prstGeom>
          <a:noFill/>
        </p:spPr>
        <p:txBody>
          <a:bodyPr wrap="none" rtlCol="0">
            <a:spAutoFit/>
          </a:bodyPr>
          <a:lstStyle/>
          <a:p>
            <a:r>
              <a:rPr lang="en-US" sz="1400" dirty="0"/>
              <a:t>Student portal module</a:t>
            </a:r>
          </a:p>
        </p:txBody>
      </p:sp>
      <p:sp>
        <p:nvSpPr>
          <p:cNvPr id="12" name="TextBox 11">
            <a:extLst>
              <a:ext uri="{FF2B5EF4-FFF2-40B4-BE49-F238E27FC236}">
                <a16:creationId xmlns:a16="http://schemas.microsoft.com/office/drawing/2014/main" id="{770BCF75-9A7F-3C65-FDF3-F906D857FD5E}"/>
              </a:ext>
            </a:extLst>
          </p:cNvPr>
          <p:cNvSpPr txBox="1"/>
          <p:nvPr/>
        </p:nvSpPr>
        <p:spPr>
          <a:xfrm>
            <a:off x="9551623" y="6389783"/>
            <a:ext cx="1697644" cy="307777"/>
          </a:xfrm>
          <a:prstGeom prst="rect">
            <a:avLst/>
          </a:prstGeom>
          <a:noFill/>
        </p:spPr>
        <p:txBody>
          <a:bodyPr wrap="none" rtlCol="0">
            <a:spAutoFit/>
          </a:bodyPr>
          <a:lstStyle/>
          <a:p>
            <a:r>
              <a:rPr lang="en-IN" sz="1400" dirty="0"/>
              <a:t>Verification Module</a:t>
            </a:r>
            <a:endParaRPr lang="en-US" sz="1400" dirty="0"/>
          </a:p>
        </p:txBody>
      </p:sp>
    </p:spTree>
    <p:extLst>
      <p:ext uri="{BB962C8B-B14F-4D97-AF65-F5344CB8AC3E}">
        <p14:creationId xmlns:p14="http://schemas.microsoft.com/office/powerpoint/2010/main" val="315141420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58223-842F-E06E-5A4A-6B7EEA7E02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153325-B3C0-3BBC-88F7-6BC2915412B0}"/>
              </a:ext>
            </a:extLst>
          </p:cNvPr>
          <p:cNvSpPr>
            <a:spLocks noGrp="1"/>
          </p:cNvSpPr>
          <p:nvPr>
            <p:ph idx="1"/>
          </p:nvPr>
        </p:nvSpPr>
        <p:spPr>
          <a:xfrm>
            <a:off x="681323" y="731838"/>
            <a:ext cx="10106268" cy="5530793"/>
          </a:xfrm>
        </p:spPr>
        <p:txBody>
          <a:bodyPr vert="horz" wrap="square" lIns="91440" tIns="45720" rIns="91440" bIns="45720" rtlCol="0" anchor="t">
            <a:normAutofit/>
          </a:bodyPr>
          <a:lstStyle/>
          <a:p>
            <a:pPr marL="0"/>
            <a:r>
              <a:rPr lang="en-IN" sz="1800" dirty="0">
                <a:latin typeface="Calibri"/>
              </a:rPr>
              <a:t>All 10 scenarios are automated end-to-end tests that run against the real Solidity contract and Express API (71 automated tests in total, all passing):</a:t>
            </a:r>
          </a:p>
          <a:p>
            <a:pPr marL="0"/>
            <a:endParaRPr lang="en-IN" sz="1800" dirty="0">
              <a:latin typeface="Calibri"/>
            </a:endParaRPr>
          </a:p>
        </p:txBody>
      </p:sp>
      <p:sp>
        <p:nvSpPr>
          <p:cNvPr id="3" name="Title 2">
            <a:extLst>
              <a:ext uri="{FF2B5EF4-FFF2-40B4-BE49-F238E27FC236}">
                <a16:creationId xmlns:a16="http://schemas.microsoft.com/office/drawing/2014/main" id="{A32D421F-1615-2669-0698-211111DAE13D}"/>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Experimentation</a:t>
            </a:r>
          </a:p>
        </p:txBody>
      </p:sp>
      <p:pic>
        <p:nvPicPr>
          <p:cNvPr id="5" name="Picture 4">
            <a:extLst>
              <a:ext uri="{FF2B5EF4-FFF2-40B4-BE49-F238E27FC236}">
                <a16:creationId xmlns:a16="http://schemas.microsoft.com/office/drawing/2014/main" id="{CDC60FC0-D47B-5ADE-2B68-D06E7335D2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1721" y="138036"/>
            <a:ext cx="2445479" cy="457333"/>
          </a:xfrm>
          <a:prstGeom prst="rect">
            <a:avLst/>
          </a:prstGeom>
        </p:spPr>
      </p:pic>
      <p:graphicFrame>
        <p:nvGraphicFramePr>
          <p:cNvPr id="4" name="Table 3">
            <a:extLst>
              <a:ext uri="{FF2B5EF4-FFF2-40B4-BE49-F238E27FC236}">
                <a16:creationId xmlns:a16="http://schemas.microsoft.com/office/drawing/2014/main" id="{7B0876CE-CBBA-8D4A-ED00-C69836D828DF}"/>
              </a:ext>
            </a:extLst>
          </p:cNvPr>
          <p:cNvGraphicFramePr>
            <a:graphicFrameLocks noGrp="1"/>
          </p:cNvGraphicFramePr>
          <p:nvPr>
            <p:extLst>
              <p:ext uri="{D42A27DB-BD31-4B8C-83A1-F6EECF244321}">
                <p14:modId xmlns:p14="http://schemas.microsoft.com/office/powerpoint/2010/main" val="2504061857"/>
              </p:ext>
            </p:extLst>
          </p:nvPr>
        </p:nvGraphicFramePr>
        <p:xfrm>
          <a:off x="681324" y="1509311"/>
          <a:ext cx="10217052" cy="4616854"/>
        </p:xfrm>
        <a:graphic>
          <a:graphicData uri="http://schemas.openxmlformats.org/drawingml/2006/table">
            <a:tbl>
              <a:tblPr/>
              <a:tblGrid>
                <a:gridCol w="3656994">
                  <a:extLst>
                    <a:ext uri="{9D8B030D-6E8A-4147-A177-3AD203B41FA5}">
                      <a16:colId xmlns:a16="http://schemas.microsoft.com/office/drawing/2014/main" val="1141139850"/>
                    </a:ext>
                  </a:extLst>
                </a:gridCol>
                <a:gridCol w="3986297">
                  <a:extLst>
                    <a:ext uri="{9D8B030D-6E8A-4147-A177-3AD203B41FA5}">
                      <a16:colId xmlns:a16="http://schemas.microsoft.com/office/drawing/2014/main" val="2447484960"/>
                    </a:ext>
                  </a:extLst>
                </a:gridCol>
                <a:gridCol w="2573761">
                  <a:extLst>
                    <a:ext uri="{9D8B030D-6E8A-4147-A177-3AD203B41FA5}">
                      <a16:colId xmlns:a16="http://schemas.microsoft.com/office/drawing/2014/main" val="3998726197"/>
                    </a:ext>
                  </a:extLst>
                </a:gridCol>
              </a:tblGrid>
              <a:tr h="419714">
                <a:tc>
                  <a:txBody>
                    <a:bodyPr/>
                    <a:lstStyle/>
                    <a:p>
                      <a:pPr marL="0" indent="0" algn="l" fontAlgn="base">
                        <a:lnSpc>
                          <a:spcPts val="1200"/>
                        </a:lnSpc>
                        <a:buNone/>
                      </a:pPr>
                      <a:r>
                        <a:rPr lang="en-US" sz="1600" b="1" i="0" dirty="0">
                          <a:solidFill>
                            <a:srgbClr val="57696E"/>
                          </a:solidFill>
                          <a:effectLst/>
                          <a:latin typeface="Calibri" panose="020F0502020204030204" pitchFamily="34" charset="0"/>
                        </a:rPr>
                        <a:t>Test case</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DEE7E9"/>
                    </a:solidFill>
                  </a:tcPr>
                </a:tc>
                <a:tc>
                  <a:txBody>
                    <a:bodyPr/>
                    <a:lstStyle/>
                    <a:p>
                      <a:pPr marL="0" indent="0" algn="l" fontAlgn="base">
                        <a:lnSpc>
                          <a:spcPts val="1200"/>
                        </a:lnSpc>
                        <a:buNone/>
                      </a:pPr>
                      <a:r>
                        <a:rPr lang="en-US" sz="1600" b="1" i="0">
                          <a:solidFill>
                            <a:srgbClr val="57696E"/>
                          </a:solidFill>
                          <a:effectLst/>
                          <a:latin typeface="Calibri" panose="020F0502020204030204" pitchFamily="34" charset="0"/>
                        </a:rPr>
                        <a:t>Condition</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DEE7E9"/>
                    </a:solidFill>
                  </a:tcPr>
                </a:tc>
                <a:tc>
                  <a:txBody>
                    <a:bodyPr/>
                    <a:lstStyle/>
                    <a:p>
                      <a:pPr marL="0" indent="0" algn="l" fontAlgn="base">
                        <a:lnSpc>
                          <a:spcPts val="1200"/>
                        </a:lnSpc>
                        <a:buNone/>
                      </a:pPr>
                      <a:r>
                        <a:rPr lang="en-US" sz="1600" b="1" i="0">
                          <a:solidFill>
                            <a:srgbClr val="57696E"/>
                          </a:solidFill>
                          <a:effectLst/>
                          <a:latin typeface="Calibri" panose="020F0502020204030204" pitchFamily="34" charset="0"/>
                        </a:rPr>
                        <a:t>Result</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DEE7E9"/>
                    </a:solidFill>
                  </a:tcPr>
                </a:tc>
                <a:extLst>
                  <a:ext uri="{0D108BD9-81ED-4DB2-BD59-A6C34878D82A}">
                    <a16:rowId xmlns:a16="http://schemas.microsoft.com/office/drawing/2014/main" val="3389411094"/>
                  </a:ext>
                </a:extLst>
              </a:tr>
              <a:tr h="419714">
                <a:tc>
                  <a:txBody>
                    <a:bodyPr/>
                    <a:lstStyle/>
                    <a:p>
                      <a:pPr marL="0" indent="0" algn="l" fontAlgn="base">
                        <a:lnSpc>
                          <a:spcPts val="1275"/>
                        </a:lnSpc>
                        <a:buNone/>
                      </a:pPr>
                      <a:r>
                        <a:rPr lang="en-US" sz="1600" b="0" i="0" dirty="0">
                          <a:solidFill>
                            <a:srgbClr val="1C2B2E"/>
                          </a:solidFill>
                          <a:effectLst/>
                          <a:latin typeface="Calibri" panose="020F0502020204030204" pitchFamily="34" charset="0"/>
                        </a:rPr>
                        <a:t>Valid credential</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chemeClr val="accent3">
                        <a:lumMod val="60000"/>
                        <a:lumOff val="40000"/>
                      </a:schemeClr>
                    </a:solidFill>
                  </a:tcPr>
                </a:tc>
                <a:tc>
                  <a:txBody>
                    <a:bodyPr/>
                    <a:lstStyle/>
                    <a:p>
                      <a:pPr marL="0" indent="0" algn="l" fontAlgn="base">
                        <a:lnSpc>
                          <a:spcPts val="1275"/>
                        </a:lnSpc>
                        <a:buNone/>
                      </a:pPr>
                      <a:r>
                        <a:rPr lang="en-US" sz="1600" b="0" i="0" dirty="0">
                          <a:solidFill>
                            <a:srgbClr val="57696E"/>
                          </a:solidFill>
                          <a:effectLst/>
                          <a:latin typeface="Calibri" panose="020F0502020204030204" pitchFamily="34" charset="0"/>
                        </a:rPr>
                        <a:t>Original certificate</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chemeClr val="accent3">
                        <a:lumMod val="60000"/>
                        <a:lumOff val="40000"/>
                      </a:schemeClr>
                    </a:solidFill>
                  </a:tcPr>
                </a:tc>
                <a:tc>
                  <a:txBody>
                    <a:bodyPr/>
                    <a:lstStyle/>
                    <a:p>
                      <a:pPr marL="0" indent="0" algn="ctr" fontAlgn="base">
                        <a:lnSpc>
                          <a:spcPts val="1200"/>
                        </a:lnSpc>
                        <a:buNone/>
                      </a:pPr>
                      <a:r>
                        <a:rPr lang="en-US" sz="1600" b="1" i="0" dirty="0">
                          <a:solidFill>
                            <a:srgbClr val="2F7A4A"/>
                          </a:solidFill>
                          <a:effectLst/>
                          <a:latin typeface="Calibri" panose="020F0502020204030204" pitchFamily="34" charset="0"/>
                        </a:rPr>
                        <a:t>Verified</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47985451"/>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Modified certificate</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dirty="0">
                          <a:solidFill>
                            <a:srgbClr val="57696E"/>
                          </a:solidFill>
                          <a:effectLst/>
                          <a:latin typeface="Calibri" panose="020F0502020204030204" pitchFamily="34" charset="0"/>
                        </a:rPr>
                        <a:t>PDF content changed</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Hash mismatch</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4193748180"/>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Invalid credential ID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a:solidFill>
                            <a:srgbClr val="57696E"/>
                          </a:solidFill>
                          <a:effectLst/>
                          <a:latin typeface="Calibri" panose="020F0502020204030204" pitchFamily="34" charset="0"/>
                        </a:rPr>
                        <a:t>Unknown ID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Not found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4166545511"/>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Revoked credential</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dirty="0">
                          <a:solidFill>
                            <a:srgbClr val="57696E"/>
                          </a:solidFill>
                          <a:effectLst/>
                          <a:latin typeface="Calibri" panose="020F0502020204030204" pitchFamily="34" charset="0"/>
                        </a:rPr>
                        <a:t>University revoked it</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B4823A"/>
                          </a:solidFill>
                          <a:effectLst/>
                          <a:latin typeface="Calibri" panose="020F0502020204030204" pitchFamily="34" charset="0"/>
                        </a:rPr>
                        <a:t>Revoked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5EAD4"/>
                    </a:solidFill>
                  </a:tcPr>
                </a:tc>
                <a:extLst>
                  <a:ext uri="{0D108BD9-81ED-4DB2-BD59-A6C34878D82A}">
                    <a16:rowId xmlns:a16="http://schemas.microsoft.com/office/drawing/2014/main" val="3403567336"/>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Wrong issuer</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a:solidFill>
                            <a:srgbClr val="57696E"/>
                          </a:solidFill>
                          <a:effectLst/>
                          <a:latin typeface="Calibri" panose="020F0502020204030204" pitchFamily="34" charset="0"/>
                        </a:rPr>
                        <a:t>Unauthorized issuer</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Verification failed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3943215380"/>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Duplicate credential ID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a:solidFill>
                            <a:srgbClr val="57696E"/>
                          </a:solidFill>
                          <a:effectLst/>
                          <a:latin typeface="Calibri" panose="020F0502020204030204" pitchFamily="34" charset="0"/>
                        </a:rPr>
                        <a:t>Existing ID reused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Rejected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1081761784"/>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Unauthorized issuance</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a:solidFill>
                            <a:srgbClr val="57696E"/>
                          </a:solidFill>
                          <a:effectLst/>
                          <a:latin typeface="Calibri" panose="020F0502020204030204" pitchFamily="34" charset="0"/>
                        </a:rPr>
                        <a:t>Non-admin attempts issue</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Access denied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3670642582"/>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Blockchain unavailable</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a:solidFill>
                            <a:srgbClr val="57696E"/>
                          </a:solidFill>
                          <a:effectLst/>
                          <a:latin typeface="Calibri" panose="020F0502020204030204" pitchFamily="34" charset="0"/>
                        </a:rPr>
                        <a:t>Network / contract down</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B4823A"/>
                          </a:solidFill>
                          <a:effectLst/>
                          <a:latin typeface="Calibri" panose="020F0502020204030204" pitchFamily="34" charset="0"/>
                        </a:rPr>
                        <a:t>Unavailable</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5EAD4"/>
                    </a:solidFill>
                  </a:tcPr>
                </a:tc>
                <a:extLst>
                  <a:ext uri="{0D108BD9-81ED-4DB2-BD59-A6C34878D82A}">
                    <a16:rowId xmlns:a16="http://schemas.microsoft.com/office/drawing/2014/main" val="3029711346"/>
                  </a:ext>
                </a:extLst>
              </a:tr>
              <a:tr h="419714">
                <a:tc>
                  <a:txBody>
                    <a:bodyPr/>
                    <a:lstStyle/>
                    <a:p>
                      <a:pPr marL="0" indent="0" algn="l" fontAlgn="base">
                        <a:lnSpc>
                          <a:spcPts val="1275"/>
                        </a:lnSpc>
                        <a:buNone/>
                      </a:pPr>
                      <a:r>
                        <a:rPr lang="en-US" sz="1600" b="0" i="0">
                          <a:solidFill>
                            <a:srgbClr val="1C2B2E"/>
                          </a:solidFill>
                          <a:effectLst/>
                          <a:latin typeface="Calibri" panose="020F0502020204030204" pitchFamily="34" charset="0"/>
                        </a:rPr>
                        <a:t>Invalid file format</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l" fontAlgn="base">
                        <a:lnSpc>
                          <a:spcPts val="1275"/>
                        </a:lnSpc>
                        <a:buNone/>
                      </a:pPr>
                      <a:r>
                        <a:rPr lang="en-US" sz="1600" b="0" i="0" dirty="0">
                          <a:solidFill>
                            <a:srgbClr val="57696E"/>
                          </a:solidFill>
                          <a:effectLst/>
                          <a:latin typeface="Calibri" panose="020F0502020204030204" pitchFamily="34" charset="0"/>
                        </a:rPr>
                        <a:t>Corrupted / unsupported</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noFill/>
                  </a:tcPr>
                </a:tc>
                <a:tc>
                  <a:txBody>
                    <a:bodyPr/>
                    <a:lstStyle/>
                    <a:p>
                      <a:pPr marL="0" indent="0" algn="ctr" fontAlgn="base">
                        <a:lnSpc>
                          <a:spcPts val="1200"/>
                        </a:lnSpc>
                        <a:buNone/>
                      </a:pPr>
                      <a:r>
                        <a:rPr lang="en-US" sz="1600" b="1" i="0">
                          <a:solidFill>
                            <a:srgbClr val="A34A42"/>
                          </a:solidFill>
                          <a:effectLst/>
                          <a:latin typeface="Calibri" panose="020F0502020204030204" pitchFamily="34" charset="0"/>
                        </a:rPr>
                        <a:t>File rejected</a:t>
                      </a:r>
                      <a:r>
                        <a:rPr lang="en-US" sz="1600" b="0" i="0">
                          <a:solidFill>
                            <a:srgbClr val="000000"/>
                          </a:solidFill>
                          <a:effectLst/>
                          <a:latin typeface="Calibri" panose="020F0502020204030204" pitchFamily="34" charset="0"/>
                        </a:rPr>
                        <a:t>​</a:t>
                      </a:r>
                      <a:endParaRPr lang="en-US" sz="3600" b="0" i="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F1DFDC"/>
                    </a:solidFill>
                  </a:tcPr>
                </a:tc>
                <a:extLst>
                  <a:ext uri="{0D108BD9-81ED-4DB2-BD59-A6C34878D82A}">
                    <a16:rowId xmlns:a16="http://schemas.microsoft.com/office/drawing/2014/main" val="333883394"/>
                  </a:ext>
                </a:extLst>
              </a:tr>
              <a:tr h="419714">
                <a:tc>
                  <a:txBody>
                    <a:bodyPr/>
                    <a:lstStyle/>
                    <a:p>
                      <a:pPr marL="0" indent="0" algn="l" fontAlgn="base">
                        <a:lnSpc>
                          <a:spcPts val="1275"/>
                        </a:lnSpc>
                        <a:buNone/>
                      </a:pPr>
                      <a:r>
                        <a:rPr lang="en-US" sz="1600" b="0" i="0" dirty="0">
                          <a:solidFill>
                            <a:srgbClr val="1C2B2E"/>
                          </a:solidFill>
                          <a:effectLst/>
                          <a:latin typeface="Calibri" panose="020F0502020204030204" pitchFamily="34" charset="0"/>
                        </a:rPr>
                        <a:t>Corrected credential</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chemeClr val="accent3">
                        <a:lumMod val="60000"/>
                        <a:lumOff val="40000"/>
                      </a:schemeClr>
                    </a:solidFill>
                  </a:tcPr>
                </a:tc>
                <a:tc>
                  <a:txBody>
                    <a:bodyPr/>
                    <a:lstStyle/>
                    <a:p>
                      <a:pPr marL="0" indent="0" algn="l" fontAlgn="base">
                        <a:lnSpc>
                          <a:spcPts val="1275"/>
                        </a:lnSpc>
                        <a:buNone/>
                      </a:pPr>
                      <a:r>
                        <a:rPr lang="en-US" sz="1600" b="0" i="0" dirty="0">
                          <a:solidFill>
                            <a:srgbClr val="57696E"/>
                          </a:solidFill>
                          <a:effectLst/>
                          <a:latin typeface="Calibri" panose="020F0502020204030204" pitchFamily="34" charset="0"/>
                        </a:rPr>
                        <a:t>Old revoked, new issued</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chemeClr val="accent3">
                        <a:lumMod val="60000"/>
                        <a:lumOff val="40000"/>
                      </a:schemeClr>
                    </a:solidFill>
                  </a:tcPr>
                </a:tc>
                <a:tc>
                  <a:txBody>
                    <a:bodyPr/>
                    <a:lstStyle/>
                    <a:p>
                      <a:pPr marL="0" indent="0" algn="ctr" fontAlgn="base">
                        <a:lnSpc>
                          <a:spcPts val="1200"/>
                        </a:lnSpc>
                        <a:buNone/>
                      </a:pPr>
                      <a:r>
                        <a:rPr lang="en-US" sz="1600" b="1" i="0" dirty="0">
                          <a:solidFill>
                            <a:srgbClr val="2F7A4A"/>
                          </a:solidFill>
                          <a:effectLst/>
                          <a:latin typeface="Calibri" panose="020F0502020204030204" pitchFamily="34" charset="0"/>
                        </a:rPr>
                        <a:t>New credential valid</a:t>
                      </a:r>
                      <a:r>
                        <a:rPr lang="en-US" sz="1600" b="0" i="0" dirty="0">
                          <a:solidFill>
                            <a:srgbClr val="000000"/>
                          </a:solidFill>
                          <a:effectLst/>
                          <a:latin typeface="Calibri" panose="020F0502020204030204" pitchFamily="34" charset="0"/>
                        </a:rPr>
                        <a:t>​</a:t>
                      </a:r>
                      <a:endParaRPr lang="en-US" sz="3600" b="0" i="0" dirty="0">
                        <a:solidFill>
                          <a:srgbClr val="000000"/>
                        </a:solidFill>
                        <a:effectLst/>
                      </a:endParaRPr>
                    </a:p>
                  </a:txBody>
                  <a:tcPr marL="82290" marR="82290" marT="41145" marB="41145" anchor="ctr">
                    <a:lnL w="9525" cap="flat" cmpd="sng" algn="ctr">
                      <a:solidFill>
                        <a:srgbClr val="D7DFE0"/>
                      </a:solidFill>
                      <a:prstDash val="solid"/>
                      <a:round/>
                      <a:headEnd type="none" w="med" len="med"/>
                      <a:tailEnd type="none" w="med" len="med"/>
                    </a:lnL>
                    <a:lnR w="9525" cap="flat" cmpd="sng" algn="ctr">
                      <a:solidFill>
                        <a:srgbClr val="D7DFE0"/>
                      </a:solidFill>
                      <a:prstDash val="solid"/>
                      <a:round/>
                      <a:headEnd type="none" w="med" len="med"/>
                      <a:tailEnd type="none" w="med" len="med"/>
                    </a:lnR>
                    <a:lnT w="9525" cap="flat" cmpd="sng" algn="ctr">
                      <a:solidFill>
                        <a:srgbClr val="D7DFE0"/>
                      </a:solidFill>
                      <a:prstDash val="solid"/>
                      <a:round/>
                      <a:headEnd type="none" w="med" len="med"/>
                      <a:tailEnd type="none" w="med" len="med"/>
                    </a:lnT>
                    <a:lnB w="9525" cap="flat" cmpd="sng" algn="ctr">
                      <a:solidFill>
                        <a:srgbClr val="D7DFE0"/>
                      </a:solidFill>
                      <a:prstDash val="solid"/>
                      <a:round/>
                      <a:headEnd type="none" w="med" len="med"/>
                      <a:tailEnd type="none" w="med" len="med"/>
                    </a:lnB>
                    <a:solidFill>
                      <a:srgbClr val="E7F3EA"/>
                    </a:solidFill>
                  </a:tcPr>
                </a:tc>
                <a:extLst>
                  <a:ext uri="{0D108BD9-81ED-4DB2-BD59-A6C34878D82A}">
                    <a16:rowId xmlns:a16="http://schemas.microsoft.com/office/drawing/2014/main" val="2628280215"/>
                  </a:ext>
                </a:extLst>
              </a:tr>
            </a:tbl>
          </a:graphicData>
        </a:graphic>
      </p:graphicFrame>
    </p:spTree>
    <p:extLst>
      <p:ext uri="{BB962C8B-B14F-4D97-AF65-F5344CB8AC3E}">
        <p14:creationId xmlns:p14="http://schemas.microsoft.com/office/powerpoint/2010/main" val="215059312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67CF-4D55-95C9-8717-250E451EFB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26F7BD-3071-22EF-42C0-1D08731CDB40}"/>
              </a:ext>
            </a:extLst>
          </p:cNvPr>
          <p:cNvSpPr>
            <a:spLocks noGrp="1"/>
          </p:cNvSpPr>
          <p:nvPr>
            <p:ph idx="1"/>
          </p:nvPr>
        </p:nvSpPr>
        <p:spPr>
          <a:xfrm>
            <a:off x="609600" y="887833"/>
            <a:ext cx="10972800" cy="5223154"/>
          </a:xfrm>
        </p:spPr>
        <p:txBody>
          <a:bodyPr vert="horz" wrap="square" lIns="91440" tIns="45720" rIns="91440" bIns="45720" rtlCol="0" anchor="t">
            <a:normAutofit/>
          </a:bodyPr>
          <a:lstStyle/>
          <a:p>
            <a:pPr marL="0" indent="0">
              <a:buNone/>
            </a:pPr>
            <a:r>
              <a:rPr lang="en-IN" sz="1300" i="1" dirty="0">
                <a:latin typeface="Calibri"/>
              </a:rPr>
              <a:t>Authors, Year, Title of the Paper, Journal / Conference, Volume and Page Details, DOI</a:t>
            </a:r>
          </a:p>
          <a:p>
            <a:pPr marL="0" indent="0">
              <a:buNone/>
            </a:pPr>
            <a:r>
              <a:rPr lang="en-IN" sz="1300" dirty="0">
                <a:latin typeface="Calibri"/>
              </a:rPr>
              <a:t>1. </a:t>
            </a:r>
            <a:r>
              <a:rPr lang="en-IN" sz="1300" b="1" dirty="0">
                <a:latin typeface="Calibri"/>
              </a:rPr>
              <a:t>S. Nikolić, S. Matić, and D. </a:t>
            </a:r>
            <a:r>
              <a:rPr lang="en-IN" sz="1300" b="1" dirty="0" err="1">
                <a:latin typeface="Calibri"/>
              </a:rPr>
              <a:t>Čapko</a:t>
            </a:r>
            <a:r>
              <a:rPr lang="en-IN" sz="1300" b="1" dirty="0">
                <a:latin typeface="Calibri"/>
              </a:rPr>
              <a:t>, "Development of a Blockchain-Based Application for Digital Certificates in Education," </a:t>
            </a:r>
            <a:r>
              <a:rPr lang="en-IN" sz="1300" dirty="0">
                <a:latin typeface="Calibri"/>
              </a:rPr>
              <a:t>in 2022 30th Telecommunications Forum (TELFOR), Novi Sad, Serbia, 2022, </a:t>
            </a:r>
            <a:r>
              <a:rPr lang="en-IN" sz="1300" dirty="0" err="1">
                <a:latin typeface="Calibri"/>
              </a:rPr>
              <a:t>doi</a:t>
            </a:r>
            <a:r>
              <a:rPr lang="en-IN" sz="1300" dirty="0">
                <a:latin typeface="Calibri"/>
              </a:rPr>
              <a:t>: 10.1109/TELFOR56187.2022.9983672.</a:t>
            </a:r>
          </a:p>
          <a:p>
            <a:pPr marL="0" indent="0">
              <a:buNone/>
            </a:pPr>
            <a:r>
              <a:rPr lang="en-IN" sz="1300" dirty="0">
                <a:latin typeface="Calibri"/>
              </a:rPr>
              <a:t>2</a:t>
            </a:r>
            <a:r>
              <a:rPr lang="en-IN" sz="1300" b="1" dirty="0">
                <a:latin typeface="Calibri"/>
              </a:rPr>
              <a:t>. S. M. Aye et al., "Electronic Student Records on Ethereum: File Management Model and Comparative Analysis,"</a:t>
            </a:r>
            <a:r>
              <a:rPr lang="en-IN" sz="1300" dirty="0">
                <a:latin typeface="Calibri"/>
              </a:rPr>
              <a:t> in 2025 6th Int. Conf. on Advanced Information Technologies (ICAIT), 2025, </a:t>
            </a:r>
            <a:r>
              <a:rPr lang="en-IN" sz="1300" dirty="0" err="1">
                <a:latin typeface="Calibri"/>
              </a:rPr>
              <a:t>doi</a:t>
            </a:r>
            <a:r>
              <a:rPr lang="en-IN" sz="1300" dirty="0">
                <a:latin typeface="Calibri"/>
              </a:rPr>
              <a:t>: 10.1109/ICAIT68809.2025.11236794.</a:t>
            </a:r>
          </a:p>
          <a:p>
            <a:pPr marL="0" indent="0">
              <a:buNone/>
            </a:pPr>
            <a:r>
              <a:rPr lang="en-IN" sz="1300" dirty="0">
                <a:latin typeface="Calibri"/>
              </a:rPr>
              <a:t>3. </a:t>
            </a:r>
            <a:r>
              <a:rPr lang="en-IN" sz="1300" b="1" dirty="0">
                <a:latin typeface="Calibri"/>
              </a:rPr>
              <a:t>R. Bharati et al., "Document Generation and Validation using Blockchain,</a:t>
            </a:r>
            <a:r>
              <a:rPr lang="en-IN" sz="1300" dirty="0">
                <a:latin typeface="Calibri"/>
              </a:rPr>
              <a:t>" in 2024 8th Int. Conf. on Computing, Communication, Control and Automation (ICCUBEA), Pune, India, 2024, </a:t>
            </a:r>
            <a:r>
              <a:rPr lang="en-IN" sz="1300" dirty="0" err="1">
                <a:latin typeface="Calibri"/>
              </a:rPr>
              <a:t>doi</a:t>
            </a:r>
            <a:r>
              <a:rPr lang="en-IN" sz="1300" dirty="0">
                <a:latin typeface="Calibri"/>
              </a:rPr>
              <a:t>: 10.1109/ICCUBEA61740.2024.10774827.</a:t>
            </a:r>
          </a:p>
          <a:p>
            <a:pPr marL="0" indent="0">
              <a:buNone/>
            </a:pPr>
            <a:r>
              <a:rPr lang="en-IN" sz="1300" dirty="0">
                <a:latin typeface="Calibri"/>
              </a:rPr>
              <a:t>4. </a:t>
            </a:r>
            <a:r>
              <a:rPr lang="en-IN" sz="1300" b="1" dirty="0">
                <a:latin typeface="Calibri"/>
              </a:rPr>
              <a:t>"Blockchain-based Verifiable Credentials for Secure One-Click Academic Certificate Verification," </a:t>
            </a:r>
            <a:r>
              <a:rPr lang="en-IN" sz="1300" dirty="0">
                <a:latin typeface="Calibri"/>
              </a:rPr>
              <a:t>in 2026 7th Int. Conf. on Inventive Research in Computing Applications (ICIRCA), 2026, </a:t>
            </a:r>
            <a:r>
              <a:rPr lang="en-IN" sz="1300" dirty="0" err="1">
                <a:latin typeface="Calibri"/>
              </a:rPr>
              <a:t>doi</a:t>
            </a:r>
            <a:r>
              <a:rPr lang="en-IN" sz="1300" dirty="0">
                <a:latin typeface="Calibri"/>
              </a:rPr>
              <a:t>: 10.1109/ICIRCA69024.2026.11570435.</a:t>
            </a:r>
          </a:p>
          <a:p>
            <a:pPr marL="0" indent="0">
              <a:buNone/>
            </a:pPr>
            <a:r>
              <a:rPr lang="en-IN" sz="1300" dirty="0">
                <a:latin typeface="Calibri"/>
              </a:rPr>
              <a:t>5. </a:t>
            </a:r>
            <a:r>
              <a:rPr lang="en-IN" sz="1300" b="1" dirty="0">
                <a:latin typeface="Calibri"/>
              </a:rPr>
              <a:t>"Management of Academic Credentials via Hybrid Blockchain and Off-Chain Storage," </a:t>
            </a:r>
            <a:r>
              <a:rPr lang="en-IN" sz="1300" dirty="0">
                <a:latin typeface="Calibri"/>
              </a:rPr>
              <a:t>in 2025 IEEE 1st Int. Conf. on Recent Trends in Computing and Smart Mobility (RCSM), 2025, </a:t>
            </a:r>
            <a:r>
              <a:rPr lang="en-IN" sz="1300" dirty="0" err="1">
                <a:latin typeface="Calibri"/>
              </a:rPr>
              <a:t>doi</a:t>
            </a:r>
            <a:r>
              <a:rPr lang="en-IN" sz="1300" dirty="0">
                <a:latin typeface="Calibri"/>
              </a:rPr>
              <a:t>: 10.1109/RCSM67767.2025.11507688.</a:t>
            </a:r>
          </a:p>
          <a:p>
            <a:pPr marL="0" indent="0">
              <a:buNone/>
            </a:pPr>
            <a:r>
              <a:rPr lang="en-IN" sz="1300" dirty="0">
                <a:latin typeface="Calibri"/>
              </a:rPr>
              <a:t>6. </a:t>
            </a:r>
            <a:r>
              <a:rPr lang="en-IN" sz="1300" b="1" dirty="0">
                <a:latin typeface="Calibri"/>
              </a:rPr>
              <a:t>"A Blockchain and IPFS-based Framework for Secure and Verifiable E-Learning Certificates using Ethereum Smart Contracts,"</a:t>
            </a:r>
            <a:r>
              <a:rPr lang="en-IN" sz="1300" dirty="0">
                <a:latin typeface="Calibri"/>
              </a:rPr>
              <a:t> in 2025 5th Int. Conf. on Ubiquitous Computing and Intelligent Information Systems (ICUIS), 2025, </a:t>
            </a:r>
            <a:r>
              <a:rPr lang="en-IN" sz="1300" dirty="0" err="1">
                <a:latin typeface="Calibri"/>
              </a:rPr>
              <a:t>doi</a:t>
            </a:r>
            <a:r>
              <a:rPr lang="en-IN" sz="1300" dirty="0">
                <a:latin typeface="Calibri"/>
              </a:rPr>
              <a:t>: 10.1109/ICUIS67429.2025.11380207.</a:t>
            </a:r>
          </a:p>
          <a:p>
            <a:pPr marL="0" indent="0">
              <a:buNone/>
            </a:pPr>
            <a:r>
              <a:rPr lang="en-IN" sz="1300" dirty="0">
                <a:latin typeface="Calibri"/>
              </a:rPr>
              <a:t>7. </a:t>
            </a:r>
            <a:r>
              <a:rPr lang="en-IN" sz="1300" b="1" dirty="0">
                <a:latin typeface="Calibri"/>
              </a:rPr>
              <a:t>"A Lightweight Blockchain Framework for Secure Academic Credential Verification Using Python and Docker," </a:t>
            </a:r>
            <a:r>
              <a:rPr lang="en-IN" sz="1300" dirty="0">
                <a:latin typeface="Calibri"/>
              </a:rPr>
              <a:t>in 2025 2nd Int. Conf. on New Frontiers in Communication, Automation, Management and Security (ICCAMS), 2025, </a:t>
            </a:r>
            <a:r>
              <a:rPr lang="en-IN" sz="1300" dirty="0" err="1">
                <a:latin typeface="Calibri"/>
              </a:rPr>
              <a:t>doi</a:t>
            </a:r>
            <a:r>
              <a:rPr lang="en-IN" sz="1300" dirty="0">
                <a:latin typeface="Calibri"/>
              </a:rPr>
              <a:t>: 10.1109/ICCAMS65118.2025.11234493.</a:t>
            </a:r>
          </a:p>
          <a:p>
            <a:pPr marL="0" indent="0">
              <a:buNone/>
            </a:pPr>
            <a:r>
              <a:rPr lang="en-IN" sz="1300" dirty="0">
                <a:latin typeface="Calibri"/>
              </a:rPr>
              <a:t>8. "A Systematic Literature Review on Blockchain-Based Systems for Academic Certificate Verification," IEEE Access, 2023, doi: 10.1109/ACCESS.2023.3289598.</a:t>
            </a:r>
          </a:p>
          <a:p>
            <a:pPr marL="0" indent="0">
              <a:buNone/>
            </a:pPr>
            <a:r>
              <a:rPr lang="en-IN" sz="1300" dirty="0">
                <a:latin typeface="Calibri"/>
              </a:rPr>
              <a:t>9. "A Tree-based Construction for Verifiable Diplomas with Issuer Transparency," arXiv preprint arXiv:2109.11590, 2021.</a:t>
            </a:r>
          </a:p>
          <a:p>
            <a:pPr marL="0" indent="0">
              <a:buNone/>
            </a:pPr>
            <a:r>
              <a:rPr lang="en-IN" sz="1300" dirty="0">
                <a:latin typeface="Calibri"/>
              </a:rPr>
              <a:t>10. M. Turkanović, M. Hölbl, K. Košič, M. Heričko, and A. Kamišalić, "EduCTX: A Blockchain-Based Higher Education Credit Platform," IEEE Access, vol. 6, pp. 5112–5127, 2018, doi: 10.1109/ACCESS.2018.2789929.</a:t>
            </a:r>
          </a:p>
        </p:txBody>
      </p:sp>
      <p:sp>
        <p:nvSpPr>
          <p:cNvPr id="3" name="Title 2">
            <a:extLst>
              <a:ext uri="{FF2B5EF4-FFF2-40B4-BE49-F238E27FC236}">
                <a16:creationId xmlns:a16="http://schemas.microsoft.com/office/drawing/2014/main" id="{14F7B8BB-F1A9-CAAC-6E94-84B65B0E7A0B}"/>
              </a:ext>
            </a:extLst>
          </p:cNvPr>
          <p:cNvSpPr>
            <a:spLocks noGrp="1"/>
          </p:cNvSpPr>
          <p:nvPr>
            <p:ph type="title"/>
          </p:nvPr>
        </p:nvSpPr>
        <p:spPr>
          <a:xfrm>
            <a:off x="792106" y="138036"/>
            <a:ext cx="10972800" cy="563562"/>
          </a:xfrm>
        </p:spPr>
        <p:txBody>
          <a:bodyPr>
            <a:noAutofit/>
          </a:bodyPr>
          <a:lstStyle/>
          <a:p>
            <a:pPr algn="ctr">
              <a:lnSpc>
                <a:spcPct val="150000"/>
              </a:lnSpc>
            </a:pP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9614CC03-5AC2-8C76-DAFE-BA60BA1CF8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6751" y="214280"/>
            <a:ext cx="2535420" cy="487318"/>
          </a:xfrm>
          <a:prstGeom prst="rect">
            <a:avLst/>
          </a:prstGeom>
        </p:spPr>
      </p:pic>
    </p:spTree>
    <p:extLst>
      <p:ext uri="{BB962C8B-B14F-4D97-AF65-F5344CB8AC3E}">
        <p14:creationId xmlns:p14="http://schemas.microsoft.com/office/powerpoint/2010/main" val="337763129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1E9D-08D2-E426-5B22-3AC2930FB2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57C60A-FBDF-9BB5-4528-95592F91154B}"/>
              </a:ext>
            </a:extLst>
          </p:cNvPr>
          <p:cNvSpPr>
            <a:spLocks noGrp="1"/>
          </p:cNvSpPr>
          <p:nvPr>
            <p:ph idx="1"/>
          </p:nvPr>
        </p:nvSpPr>
        <p:spPr>
          <a:xfrm>
            <a:off x="753485" y="1060814"/>
            <a:ext cx="10034105" cy="5201817"/>
          </a:xfrm>
        </p:spPr>
        <p:txBody>
          <a:bodyPr vert="horz" wrap="square" lIns="91440" tIns="45720" rIns="91440" bIns="45720" rtlCol="0" anchor="t">
            <a:normAutofit/>
          </a:bodyPr>
          <a:lstStyle/>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endParaRPr lang="en-IN" sz="1800" b="1" dirty="0">
              <a:latin typeface="Times New Roman" panose="02020603050405020304" pitchFamily="18" charset="0"/>
              <a:cs typeface="Times New Roman" panose="02020603050405020304" pitchFamily="18" charset="0"/>
            </a:endParaRPr>
          </a:p>
          <a:p>
            <a:pPr marL="0">
              <a:buNone/>
            </a:pPr>
            <a:r>
              <a:rPr lang="en-IN" sz="1800" b="1" dirty="0">
                <a:latin typeface="Times New Roman" panose="02020603050405020304" pitchFamily="18" charset="0"/>
                <a:cs typeface="Times New Roman" panose="02020603050405020304" pitchFamily="18" charset="0"/>
              </a:rPr>
              <a:t>Prototype code : </a:t>
            </a:r>
            <a:r>
              <a:rPr lang="en-IN" sz="1800" b="1" dirty="0">
                <a:latin typeface="Times New Roman" panose="02020603050405020304" pitchFamily="18" charset="0"/>
                <a:cs typeface="Times New Roman" panose="02020603050405020304" pitchFamily="18" charset="0"/>
                <a:hlinkClick r:id="rId2"/>
              </a:rPr>
              <a:t>https://github.com/anilkumaruk/blockchain</a:t>
            </a:r>
            <a:endParaRPr lang="en-IN" sz="1800" b="1" dirty="0">
              <a:latin typeface="Times New Roman" panose="02020603050405020304" pitchFamily="18" charset="0"/>
              <a:cs typeface="Times New Roman" panose="02020603050405020304" pitchFamily="18" charset="0"/>
            </a:endParaRPr>
          </a:p>
          <a:p>
            <a:pPr marL="0">
              <a:buNone/>
            </a:pPr>
            <a:r>
              <a:rPr lang="en-IN" sz="1800" b="1" dirty="0">
                <a:latin typeface="Times New Roman" panose="02020603050405020304" pitchFamily="18" charset="0"/>
                <a:cs typeface="Times New Roman" panose="02020603050405020304" pitchFamily="18" charset="0"/>
              </a:rPr>
              <a:t>Prototype : </a:t>
            </a:r>
            <a:r>
              <a:rPr lang="en-IN" sz="1800" b="1" dirty="0">
                <a:latin typeface="Times New Roman" panose="02020603050405020304" pitchFamily="18" charset="0"/>
                <a:cs typeface="Times New Roman" panose="02020603050405020304" pitchFamily="18" charset="0"/>
                <a:hlinkClick r:id="rId3"/>
              </a:rPr>
              <a:t>https://blockchain-ecru-</a:t>
            </a:r>
            <a:r>
              <a:rPr lang="en-IN" sz="1800" b="1" dirty="0" err="1">
                <a:latin typeface="Times New Roman" panose="02020603050405020304" pitchFamily="18" charset="0"/>
                <a:cs typeface="Times New Roman" panose="02020603050405020304" pitchFamily="18" charset="0"/>
                <a:hlinkClick r:id="rId3"/>
              </a:rPr>
              <a:t>three.vercel.app</a:t>
            </a:r>
            <a:endParaRPr lang="en-IN" sz="105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11D1431-CBB1-2E8B-9D61-C266D7E354F4}"/>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Implementation (Sample of the Source Code)</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9D29C0-805E-09D5-FBBC-105D2D7A27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4614" y="138036"/>
            <a:ext cx="2730292" cy="595428"/>
          </a:xfrm>
          <a:prstGeom prst="rect">
            <a:avLst/>
          </a:prstGeom>
        </p:spPr>
      </p:pic>
      <p:pic>
        <p:nvPicPr>
          <p:cNvPr id="6" name="Picture 5">
            <a:extLst>
              <a:ext uri="{FF2B5EF4-FFF2-40B4-BE49-F238E27FC236}">
                <a16:creationId xmlns:a16="http://schemas.microsoft.com/office/drawing/2014/main" id="{F7B32144-32D5-FEBC-DF28-5B2E212DD6FA}"/>
              </a:ext>
            </a:extLst>
          </p:cNvPr>
          <p:cNvPicPr>
            <a:picLocks noChangeAspect="1"/>
          </p:cNvPicPr>
          <p:nvPr/>
        </p:nvPicPr>
        <p:blipFill>
          <a:blip r:embed="rId5"/>
          <a:stretch>
            <a:fillRect/>
          </a:stretch>
        </p:blipFill>
        <p:spPr>
          <a:xfrm>
            <a:off x="541357" y="1102569"/>
            <a:ext cx="5406375" cy="3378984"/>
          </a:xfrm>
          <a:prstGeom prst="rect">
            <a:avLst/>
          </a:prstGeom>
        </p:spPr>
      </p:pic>
      <p:pic>
        <p:nvPicPr>
          <p:cNvPr id="8" name="Picture 7">
            <a:extLst>
              <a:ext uri="{FF2B5EF4-FFF2-40B4-BE49-F238E27FC236}">
                <a16:creationId xmlns:a16="http://schemas.microsoft.com/office/drawing/2014/main" id="{EBF5B577-E35F-49E2-41F3-E1067E08A276}"/>
              </a:ext>
            </a:extLst>
          </p:cNvPr>
          <p:cNvPicPr>
            <a:picLocks noChangeAspect="1"/>
          </p:cNvPicPr>
          <p:nvPr/>
        </p:nvPicPr>
        <p:blipFill>
          <a:blip r:embed="rId6"/>
          <a:stretch>
            <a:fillRect/>
          </a:stretch>
        </p:blipFill>
        <p:spPr>
          <a:xfrm>
            <a:off x="6823472" y="1028948"/>
            <a:ext cx="4422283" cy="3610198"/>
          </a:xfrm>
          <a:prstGeom prst="rect">
            <a:avLst/>
          </a:prstGeom>
        </p:spPr>
      </p:pic>
    </p:spTree>
    <p:extLst>
      <p:ext uri="{BB962C8B-B14F-4D97-AF65-F5344CB8AC3E}">
        <p14:creationId xmlns:p14="http://schemas.microsoft.com/office/powerpoint/2010/main" val="305933637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5CE2-0FCE-C10F-147E-1C0000F538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356C37-CB3A-0542-A650-FDC3D5A9D163}"/>
              </a:ext>
            </a:extLst>
          </p:cNvPr>
          <p:cNvSpPr>
            <a:spLocks noGrp="1"/>
          </p:cNvSpPr>
          <p:nvPr>
            <p:ph idx="1"/>
          </p:nvPr>
        </p:nvSpPr>
        <p:spPr>
          <a:xfrm>
            <a:off x="753485" y="1060814"/>
            <a:ext cx="10034105" cy="5201817"/>
          </a:xfrm>
        </p:spPr>
        <p:txBody>
          <a:bodyPr vert="horz" wrap="square" lIns="91440" tIns="45720" rIns="91440" bIns="45720" rtlCol="0" anchor="t">
            <a:normAutofit/>
          </a:bodyPr>
          <a:lstStyle/>
          <a:p>
            <a:pPr marL="0">
              <a:buNone/>
            </a:pPr>
            <a:r>
              <a:rPr lang="en-IN" sz="1500" b="1">
                <a:latin typeface="Calibri"/>
              </a:rPr>
              <a:t>This slide is a placeholder for institutional evidence that only you can supply.</a:t>
            </a:r>
          </a:p>
          <a:p>
            <a:pPr marL="914400" lvl="1">
              <a:buNone/>
            </a:pPr>
            <a:r>
              <a:rPr lang="en-IN" sz="1300">
                <a:latin typeface="Calibri"/>
              </a:rPr>
              <a:t>Insert a screenshot of the paper-submission confirmation page (conference/journal portal, or your department's submission tracker) showing the project/paper title, submission ID, and date.</a:t>
            </a:r>
          </a:p>
          <a:p>
            <a:pPr marL="914400" lvl="1">
              <a:buNone/>
            </a:pPr>
            <a:r>
              <a:rPr lang="en-IN" sz="1300">
                <a:latin typeface="Calibri"/>
              </a:rPr>
              <a:t>If no paper has been submitted yet, note the planned submission venue and target date here instead.</a:t>
            </a:r>
          </a:p>
        </p:txBody>
      </p:sp>
      <p:sp>
        <p:nvSpPr>
          <p:cNvPr id="3" name="Title 2">
            <a:extLst>
              <a:ext uri="{FF2B5EF4-FFF2-40B4-BE49-F238E27FC236}">
                <a16:creationId xmlns:a16="http://schemas.microsoft.com/office/drawing/2014/main" id="{BFD1F075-A6AF-DC0E-0383-CB3781E97989}"/>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Submission Page of the Paper</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D3C8A54-DB36-4EFB-9F5E-BC062E18F0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29010" y="138036"/>
            <a:ext cx="2635896" cy="563562"/>
          </a:xfrm>
          <a:prstGeom prst="rect">
            <a:avLst/>
          </a:prstGeom>
        </p:spPr>
      </p:pic>
    </p:spTree>
    <p:extLst>
      <p:ext uri="{BB962C8B-B14F-4D97-AF65-F5344CB8AC3E}">
        <p14:creationId xmlns:p14="http://schemas.microsoft.com/office/powerpoint/2010/main" val="264919442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wrap="square" lIns="91440" tIns="45720" rIns="91440" bIns="45720" rtlCol="0" anchor="t">
            <a:normAutofit/>
          </a:bodyPr>
          <a:lstStyle/>
          <a:p>
            <a:pPr marL="0">
              <a:buNone/>
            </a:pPr>
            <a:r>
              <a:rPr lang="en-IN" sz="1500" b="1">
                <a:latin typeface="Calibri"/>
              </a:rPr>
              <a:t>This slide is a placeholder for your actual plagiarism-check report.</a:t>
            </a:r>
          </a:p>
          <a:p>
            <a:pPr marL="914400" lvl="1">
              <a:buNone/>
            </a:pPr>
            <a:r>
              <a:rPr lang="en-IN" sz="1300">
                <a:latin typeface="Calibri"/>
              </a:rPr>
              <a:t>Insert a screenshot or summary of the similarity report (Turnitin / Urkund / your institution's tool) showing the similarity percentage and report ID.</a:t>
            </a:r>
          </a:p>
          <a:p>
            <a:pPr marL="914400" lvl="1">
              <a:buNone/>
            </a:pPr>
            <a:r>
              <a:rPr lang="en-IN" sz="1300">
                <a:latin typeface="Calibri"/>
              </a:rPr>
              <a:t>Run the full report text of this presentation and the accompanying project document through your institution's plagiarism-checking tool before submission.</a:t>
            </a: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4634333"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Plagiarism Report</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F45E307-6A9E-5159-8B35-ADF54C1096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21800" y="138036"/>
            <a:ext cx="2445479" cy="563562"/>
          </a:xfrm>
          <a:prstGeom prst="rect">
            <a:avLst/>
          </a:prstGeom>
        </p:spPr>
      </p:pic>
    </p:spTree>
    <p:extLst>
      <p:ext uri="{BB962C8B-B14F-4D97-AF65-F5344CB8AC3E}">
        <p14:creationId xmlns:p14="http://schemas.microsoft.com/office/powerpoint/2010/main" val="3059570066"/>
      </p:ext>
    </p:extLst>
  </p:cSld>
  <p:clrMapOvr>
    <a:masterClrMapping/>
  </p:clrMapOvr>
  <p:transition spd="slow">
    <p:wip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Review of literature (contd.)</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375176129"/>
              </p:ext>
            </p:extLst>
          </p:nvPr>
        </p:nvGraphicFramePr>
        <p:xfrm>
          <a:off x="427703" y="1135626"/>
          <a:ext cx="11356929" cy="5269230"/>
        </p:xfrm>
        <a:graphic>
          <a:graphicData uri="http://schemas.openxmlformats.org/drawingml/2006/table">
            <a:tbl>
              <a:tblPr firstRow="1" bandRow="1">
                <a:tableStyleId>{5C22544A-7EE6-4342-B048-85BDC9FD1C3A}</a:tableStyleId>
              </a:tblPr>
              <a:tblGrid>
                <a:gridCol w="707923">
                  <a:extLst>
                    <a:ext uri="{9D8B030D-6E8A-4147-A177-3AD203B41FA5}">
                      <a16:colId xmlns:a16="http://schemas.microsoft.com/office/drawing/2014/main" val="3476363090"/>
                    </a:ext>
                  </a:extLst>
                </a:gridCol>
                <a:gridCol w="2580968">
                  <a:extLst>
                    <a:ext uri="{9D8B030D-6E8A-4147-A177-3AD203B41FA5}">
                      <a16:colId xmlns:a16="http://schemas.microsoft.com/office/drawing/2014/main" val="3690190586"/>
                    </a:ext>
                  </a:extLst>
                </a:gridCol>
                <a:gridCol w="2249940">
                  <a:extLst>
                    <a:ext uri="{9D8B030D-6E8A-4147-A177-3AD203B41FA5}">
                      <a16:colId xmlns:a16="http://schemas.microsoft.com/office/drawing/2014/main" val="363996245"/>
                    </a:ext>
                  </a:extLst>
                </a:gridCol>
                <a:gridCol w="1837749">
                  <a:extLst>
                    <a:ext uri="{9D8B030D-6E8A-4147-A177-3AD203B41FA5}">
                      <a16:colId xmlns:a16="http://schemas.microsoft.com/office/drawing/2014/main" val="3098826648"/>
                    </a:ext>
                  </a:extLst>
                </a:gridCol>
                <a:gridCol w="2024287">
                  <a:extLst>
                    <a:ext uri="{9D8B030D-6E8A-4147-A177-3AD203B41FA5}">
                      <a16:colId xmlns:a16="http://schemas.microsoft.com/office/drawing/2014/main" val="646655925"/>
                    </a:ext>
                  </a:extLst>
                </a:gridCol>
                <a:gridCol w="1956062">
                  <a:extLst>
                    <a:ext uri="{9D8B030D-6E8A-4147-A177-3AD203B41FA5}">
                      <a16:colId xmlns:a16="http://schemas.microsoft.com/office/drawing/2014/main" val="923233871"/>
                    </a:ext>
                  </a:extLst>
                </a:gridCol>
              </a:tblGrid>
              <a:tr h="457200">
                <a:tc>
                  <a:txBody>
                    <a:bodyPr/>
                    <a:lstStyle/>
                    <a:p>
                      <a:pPr marL="0" marR="0" algn="ctr">
                        <a:lnSpc>
                          <a:spcPct val="107000"/>
                        </a:lnSpc>
                        <a:spcBef>
                          <a:spcPts val="0"/>
                        </a:spcBef>
                        <a:spcAft>
                          <a:spcPts val="0"/>
                        </a:spcAft>
                      </a:pPr>
                      <a:r>
                        <a:rPr lang="en-US" sz="1400" kern="1200" dirty="0" err="1">
                          <a:effectLst/>
                        </a:rPr>
                        <a:t>Sl.No</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Author Name, Journal, Publication Year</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Research/ Methodology </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Performance Metrics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Advantages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400" kern="1200" dirty="0">
                          <a:effectLst/>
                          <a:latin typeface="Times New Roman" panose="02020603050405020304" pitchFamily="18" charset="0"/>
                          <a:cs typeface="Times New Roman" panose="02020603050405020304" pitchFamily="18" charset="0"/>
                        </a:rPr>
                        <a:t>Disadvantages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tc>
                <a:extLst>
                  <a:ext uri="{0D108BD9-81ED-4DB2-BD59-A6C34878D82A}">
                    <a16:rowId xmlns:a16="http://schemas.microsoft.com/office/drawing/2014/main" val="3891171937"/>
                  </a:ext>
                </a:extLst>
              </a:tr>
              <a:tr h="676656">
                <a:tc>
                  <a:txBody>
                    <a:bodyPr/>
                    <a:lstStyle/>
                    <a:p>
                      <a:pPr algn="l">
                        <a:lnSpc>
                          <a:spcPct val="100000"/>
                        </a:lnSpc>
                        <a:spcBef>
                          <a:spcPts val="0"/>
                        </a:spcBef>
                        <a:spcAft>
                          <a:spcPts val="0"/>
                        </a:spcAft>
                      </a:pPr>
                      <a:r>
                        <a:rPr sz="1050" dirty="0">
                          <a:solidFill>
                            <a:srgbClr val="1C2B2E"/>
                          </a:solidFill>
                        </a:rPr>
                        <a:t>8</a:t>
                      </a:r>
                    </a:p>
                  </a:txBody>
                  <a:tcPr marL="45000" marR="45000" marT="18000" marB="18000"/>
                </a:tc>
                <a:tc>
                  <a:txBody>
                    <a:bodyPr/>
                    <a:lstStyle/>
                    <a:p>
                      <a:pPr algn="l">
                        <a:lnSpc>
                          <a:spcPct val="100000"/>
                        </a:lnSpc>
                        <a:spcBef>
                          <a:spcPts val="0"/>
                        </a:spcBef>
                        <a:spcAft>
                          <a:spcPts val="0"/>
                        </a:spcAft>
                      </a:pPr>
                      <a:r>
                        <a:rPr sz="1050" dirty="0">
                          <a:solidFill>
                            <a:srgbClr val="1C2B2E"/>
                          </a:solidFill>
                        </a:rPr>
                        <a:t>IEEE Access, 2023 (Systematic Literature Review)</a:t>
                      </a:r>
                    </a:p>
                  </a:txBody>
                  <a:tcPr marL="45000" marR="45000" marT="18000" marB="18000"/>
                </a:tc>
                <a:tc>
                  <a:txBody>
                    <a:bodyPr/>
                    <a:lstStyle/>
                    <a:p>
                      <a:pPr algn="l">
                        <a:lnSpc>
                          <a:spcPct val="100000"/>
                        </a:lnSpc>
                        <a:spcBef>
                          <a:spcPts val="0"/>
                        </a:spcBef>
                        <a:spcAft>
                          <a:spcPts val="0"/>
                        </a:spcAft>
                      </a:pPr>
                      <a:r>
                        <a:rPr sz="1000">
                          <a:solidFill>
                            <a:srgbClr val="1C2B2E"/>
                          </a:solidFill>
                        </a:rPr>
                        <a:t>Systematic review of blockchain-based academic certificate verification systems</a:t>
                      </a:r>
                    </a:p>
                  </a:txBody>
                  <a:tcPr marL="45000" marR="45000" marT="18000" marB="18000"/>
                </a:tc>
                <a:tc>
                  <a:txBody>
                    <a:bodyPr/>
                    <a:lstStyle/>
                    <a:p>
                      <a:pPr algn="l">
                        <a:lnSpc>
                          <a:spcPct val="100000"/>
                        </a:lnSpc>
                        <a:spcBef>
                          <a:spcPts val="0"/>
                        </a:spcBef>
                        <a:spcAft>
                          <a:spcPts val="0"/>
                        </a:spcAft>
                      </a:pPr>
                      <a:r>
                        <a:rPr sz="1000">
                          <a:solidFill>
                            <a:srgbClr val="1C2B2E"/>
                          </a:solidFill>
                        </a:rPr>
                        <a:t>34 relevant studies selected from 1,744 papers (2018–2022)</a:t>
                      </a:r>
                    </a:p>
                  </a:txBody>
                  <a:tcPr marL="45000" marR="45000" marT="18000" marB="18000"/>
                </a:tc>
                <a:tc>
                  <a:txBody>
                    <a:bodyPr/>
                    <a:lstStyle/>
                    <a:p>
                      <a:pPr algn="l">
                        <a:lnSpc>
                          <a:spcPct val="100000"/>
                        </a:lnSpc>
                        <a:spcBef>
                          <a:spcPts val="0"/>
                        </a:spcBef>
                        <a:spcAft>
                          <a:spcPts val="0"/>
                        </a:spcAft>
                      </a:pPr>
                      <a:r>
                        <a:rPr sz="1000">
                          <a:solidFill>
                            <a:srgbClr val="1C2B2E"/>
                          </a:solidFill>
                        </a:rPr>
                        <a:t>Maps the design space and open problems across the field</a:t>
                      </a:r>
                    </a:p>
                  </a:txBody>
                  <a:tcPr marL="45000" marR="45000" marT="18000" marB="18000"/>
                </a:tc>
                <a:tc>
                  <a:txBody>
                    <a:bodyPr/>
                    <a:lstStyle/>
                    <a:p>
                      <a:pPr algn="l">
                        <a:lnSpc>
                          <a:spcPct val="100000"/>
                        </a:lnSpc>
                        <a:spcBef>
                          <a:spcPts val="0"/>
                        </a:spcBef>
                        <a:spcAft>
                          <a:spcPts val="0"/>
                        </a:spcAft>
                      </a:pPr>
                      <a:r>
                        <a:rPr sz="1000">
                          <a:solidFill>
                            <a:srgbClr val="1C2B2E"/>
                          </a:solidFill>
                        </a:rPr>
                        <a:t>Secondary study; no implementation or benchmark</a:t>
                      </a:r>
                    </a:p>
                  </a:txBody>
                  <a:tcPr marL="45000" marR="45000" marT="18000" marB="18000"/>
                </a:tc>
                <a:extLst>
                  <a:ext uri="{0D108BD9-81ED-4DB2-BD59-A6C34878D82A}">
                    <a16:rowId xmlns:a16="http://schemas.microsoft.com/office/drawing/2014/main" val="863371691"/>
                  </a:ext>
                </a:extLst>
              </a:tr>
              <a:tr h="676656">
                <a:tc>
                  <a:txBody>
                    <a:bodyPr/>
                    <a:lstStyle/>
                    <a:p>
                      <a:pPr algn="l">
                        <a:lnSpc>
                          <a:spcPct val="100000"/>
                        </a:lnSpc>
                        <a:spcBef>
                          <a:spcPts val="0"/>
                        </a:spcBef>
                        <a:spcAft>
                          <a:spcPts val="0"/>
                        </a:spcAft>
                      </a:pPr>
                      <a:r>
                        <a:rPr sz="1050">
                          <a:solidFill>
                            <a:srgbClr val="1C2B2E"/>
                          </a:solidFill>
                        </a:rPr>
                        <a:t>9</a:t>
                      </a:r>
                    </a:p>
                  </a:txBody>
                  <a:tcPr marL="45000" marR="45000" marT="18000" marB="18000"/>
                </a:tc>
                <a:tc>
                  <a:txBody>
                    <a:bodyPr/>
                    <a:lstStyle/>
                    <a:p>
                      <a:pPr algn="l">
                        <a:lnSpc>
                          <a:spcPct val="100000"/>
                        </a:lnSpc>
                        <a:spcBef>
                          <a:spcPts val="0"/>
                        </a:spcBef>
                        <a:spcAft>
                          <a:spcPts val="0"/>
                        </a:spcAft>
                      </a:pPr>
                      <a:r>
                        <a:rPr sz="1050" dirty="0">
                          <a:solidFill>
                            <a:srgbClr val="1C2B2E"/>
                          </a:solidFill>
                        </a:rPr>
                        <a:t>arXiv:2109.11590, 2021</a:t>
                      </a:r>
                    </a:p>
                  </a:txBody>
                  <a:tcPr marL="45000" marR="45000" marT="18000" marB="18000"/>
                </a:tc>
                <a:tc>
                  <a:txBody>
                    <a:bodyPr/>
                    <a:lstStyle/>
                    <a:p>
                      <a:pPr algn="l">
                        <a:lnSpc>
                          <a:spcPct val="100000"/>
                        </a:lnSpc>
                        <a:spcBef>
                          <a:spcPts val="0"/>
                        </a:spcBef>
                        <a:spcAft>
                          <a:spcPts val="0"/>
                        </a:spcAft>
                      </a:pPr>
                      <a:r>
                        <a:rPr sz="1000">
                          <a:solidFill>
                            <a:srgbClr val="1C2B2E"/>
                          </a:solidFill>
                        </a:rPr>
                        <a:t>Tree-based (Merkle) construction for verifiable diplomas with issuer transparency; Solidity implementation</a:t>
                      </a:r>
                    </a:p>
                  </a:txBody>
                  <a:tcPr marL="45000" marR="45000" marT="18000" marB="18000"/>
                </a:tc>
                <a:tc>
                  <a:txBody>
                    <a:bodyPr/>
                    <a:lstStyle/>
                    <a:p>
                      <a:pPr algn="l">
                        <a:lnSpc>
                          <a:spcPct val="100000"/>
                        </a:lnSpc>
                        <a:spcBef>
                          <a:spcPts val="0"/>
                        </a:spcBef>
                        <a:spcAft>
                          <a:spcPts val="0"/>
                        </a:spcAft>
                      </a:pPr>
                      <a:r>
                        <a:rPr sz="1000">
                          <a:solidFill>
                            <a:srgbClr val="1C2B2E"/>
                          </a:solidFill>
                        </a:rPr>
                        <a:t>Design and security argument (no large-scale benchmark)</a:t>
                      </a:r>
                    </a:p>
                  </a:txBody>
                  <a:tcPr marL="45000" marR="45000" marT="18000" marB="18000"/>
                </a:tc>
                <a:tc>
                  <a:txBody>
                    <a:bodyPr/>
                    <a:lstStyle/>
                    <a:p>
                      <a:pPr algn="l">
                        <a:lnSpc>
                          <a:spcPct val="100000"/>
                        </a:lnSpc>
                        <a:spcBef>
                          <a:spcPts val="0"/>
                        </a:spcBef>
                        <a:spcAft>
                          <a:spcPts val="0"/>
                        </a:spcAft>
                      </a:pPr>
                      <a:r>
                        <a:rPr sz="1000">
                          <a:solidFill>
                            <a:srgbClr val="1C2B2E"/>
                          </a:solidFill>
                        </a:rPr>
                        <a:t>Batching + issuer transparency; informs our Merkle batch design</a:t>
                      </a:r>
                    </a:p>
                  </a:txBody>
                  <a:tcPr marL="45000" marR="45000" marT="18000" marB="18000"/>
                </a:tc>
                <a:tc>
                  <a:txBody>
                    <a:bodyPr/>
                    <a:lstStyle/>
                    <a:p>
                      <a:pPr algn="l">
                        <a:lnSpc>
                          <a:spcPct val="100000"/>
                        </a:lnSpc>
                        <a:spcBef>
                          <a:spcPts val="0"/>
                        </a:spcBef>
                        <a:spcAft>
                          <a:spcPts val="0"/>
                        </a:spcAft>
                      </a:pPr>
                      <a:r>
                        <a:rPr sz="1000">
                          <a:solidFill>
                            <a:srgbClr val="1C2B2E"/>
                          </a:solidFill>
                        </a:rPr>
                        <a:t>Research construction; usability and deployment not addressed</a:t>
                      </a:r>
                    </a:p>
                  </a:txBody>
                  <a:tcPr marL="45000" marR="45000" marT="18000" marB="18000"/>
                </a:tc>
                <a:extLst>
                  <a:ext uri="{0D108BD9-81ED-4DB2-BD59-A6C34878D82A}">
                    <a16:rowId xmlns:a16="http://schemas.microsoft.com/office/drawing/2014/main" val="1726591487"/>
                  </a:ext>
                </a:extLst>
              </a:tr>
              <a:tr h="676656">
                <a:tc>
                  <a:txBody>
                    <a:bodyPr/>
                    <a:lstStyle/>
                    <a:p>
                      <a:pPr algn="l">
                        <a:lnSpc>
                          <a:spcPct val="100000"/>
                        </a:lnSpc>
                        <a:spcBef>
                          <a:spcPts val="0"/>
                        </a:spcBef>
                        <a:spcAft>
                          <a:spcPts val="0"/>
                        </a:spcAft>
                      </a:pPr>
                      <a:r>
                        <a:rPr sz="1050">
                          <a:solidFill>
                            <a:srgbClr val="1C2B2E"/>
                          </a:solidFill>
                        </a:rPr>
                        <a:t>10</a:t>
                      </a:r>
                    </a:p>
                  </a:txBody>
                  <a:tcPr marL="45000" marR="45000" marT="18000" marB="18000"/>
                </a:tc>
                <a:tc>
                  <a:txBody>
                    <a:bodyPr/>
                    <a:lstStyle/>
                    <a:p>
                      <a:pPr algn="l">
                        <a:lnSpc>
                          <a:spcPct val="100000"/>
                        </a:lnSpc>
                        <a:spcBef>
                          <a:spcPts val="0"/>
                        </a:spcBef>
                        <a:spcAft>
                          <a:spcPts val="0"/>
                        </a:spcAft>
                      </a:pPr>
                      <a:r>
                        <a:rPr sz="1050">
                          <a:solidFill>
                            <a:srgbClr val="1C2B2E"/>
                          </a:solidFill>
                        </a:rPr>
                        <a:t>Turkanović et al. — IEEE Access, 2018 (EduCTX)</a:t>
                      </a:r>
                    </a:p>
                  </a:txBody>
                  <a:tcPr marL="45000" marR="45000" marT="18000" marB="18000"/>
                </a:tc>
                <a:tc>
                  <a:txBody>
                    <a:bodyPr/>
                    <a:lstStyle/>
                    <a:p>
                      <a:pPr algn="l">
                        <a:lnSpc>
                          <a:spcPct val="100000"/>
                        </a:lnSpc>
                        <a:spcBef>
                          <a:spcPts val="0"/>
                        </a:spcBef>
                        <a:spcAft>
                          <a:spcPts val="0"/>
                        </a:spcAft>
                      </a:pPr>
                      <a:r>
                        <a:rPr sz="1000">
                          <a:solidFill>
                            <a:srgbClr val="1C2B2E"/>
                          </a:solidFill>
                        </a:rPr>
                        <a:t>Blockchain credit platform modelled on ECTS; institutions run the peer nodes (Ark platform)</a:t>
                      </a:r>
                    </a:p>
                  </a:txBody>
                  <a:tcPr marL="45000" marR="45000" marT="18000" marB="18000"/>
                </a:tc>
                <a:tc>
                  <a:txBody>
                    <a:bodyPr/>
                    <a:lstStyle/>
                    <a:p>
                      <a:pPr algn="l">
                        <a:lnSpc>
                          <a:spcPct val="100000"/>
                        </a:lnSpc>
                        <a:spcBef>
                          <a:spcPts val="0"/>
                        </a:spcBef>
                        <a:spcAft>
                          <a:spcPts val="0"/>
                        </a:spcAft>
                      </a:pPr>
                      <a:r>
                        <a:rPr sz="1000">
                          <a:solidFill>
                            <a:srgbClr val="1C2B2E"/>
                          </a:solidFill>
                        </a:rPr>
                        <a:t>Prototype platform; credits represented as ECTX tokens</a:t>
                      </a:r>
                    </a:p>
                  </a:txBody>
                  <a:tcPr marL="45000" marR="45000" marT="18000" marB="18000"/>
                </a:tc>
                <a:tc>
                  <a:txBody>
                    <a:bodyPr/>
                    <a:lstStyle/>
                    <a:p>
                      <a:pPr algn="l">
                        <a:lnSpc>
                          <a:spcPct val="100000"/>
                        </a:lnSpc>
                        <a:spcBef>
                          <a:spcPts val="0"/>
                        </a:spcBef>
                        <a:spcAft>
                          <a:spcPts val="0"/>
                        </a:spcAft>
                      </a:pPr>
                      <a:r>
                        <a:rPr sz="1000">
                          <a:solidFill>
                            <a:srgbClr val="1C2B2E"/>
                          </a:solidFill>
                        </a:rPr>
                        <a:t>Cross-institution credit transfer on a shared ledger</a:t>
                      </a:r>
                    </a:p>
                  </a:txBody>
                  <a:tcPr marL="45000" marR="45000" marT="18000" marB="18000"/>
                </a:tc>
                <a:tc>
                  <a:txBody>
                    <a:bodyPr/>
                    <a:lstStyle/>
                    <a:p>
                      <a:pPr algn="l">
                        <a:lnSpc>
                          <a:spcPct val="100000"/>
                        </a:lnSpc>
                        <a:spcBef>
                          <a:spcPts val="0"/>
                        </a:spcBef>
                        <a:spcAft>
                          <a:spcPts val="0"/>
                        </a:spcAft>
                      </a:pPr>
                      <a:r>
                        <a:rPr sz="1000">
                          <a:solidFill>
                            <a:srgbClr val="1C2B2E"/>
                          </a:solidFill>
                        </a:rPr>
                        <a:t>Credit-transfer focus, not degree-certificate verification; older</a:t>
                      </a:r>
                    </a:p>
                  </a:txBody>
                  <a:tcPr marL="45000" marR="45000" marT="18000" marB="18000"/>
                </a:tc>
                <a:extLst>
                  <a:ext uri="{0D108BD9-81ED-4DB2-BD59-A6C34878D82A}">
                    <a16:rowId xmlns:a16="http://schemas.microsoft.com/office/drawing/2014/main" val="3451593235"/>
                  </a:ext>
                </a:extLst>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Objectives — Status at Review 2</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graphicFrame>
        <p:nvGraphicFramePr>
          <p:cNvPr id="5" name="Table 4"/>
          <p:cNvGraphicFramePr>
            <a:graphicFrameLocks noGrp="1"/>
          </p:cNvGraphicFramePr>
          <p:nvPr/>
        </p:nvGraphicFramePr>
        <p:xfrm>
          <a:off x="612648" y="1097280"/>
          <a:ext cx="10972800" cy="4535424"/>
        </p:xfrm>
        <a:graphic>
          <a:graphicData uri="http://schemas.openxmlformats.org/drawingml/2006/table">
            <a:tbl>
              <a:tblPr firstRow="1" bandRow="1">
                <a:tableStyleId>{5C22544A-7EE6-4342-B048-85BDC9FD1C3A}</a:tableStyleId>
              </a:tblPr>
              <a:tblGrid>
                <a:gridCol w="3931920"/>
                <a:gridCol w="5669280"/>
                <a:gridCol w="1371600"/>
              </a:tblGrid>
              <a:tr h="566928">
                <a:tc>
                  <a:txBody>
                    <a:bodyPr/>
                    <a:lstStyle/>
                    <a:p>
                      <a:r>
                        <a:rPr sz="1400" b="1">
                          <a:solidFill>
                            <a:srgbClr val="FFFFFF"/>
                          </a:solidFill>
                          <a:latin typeface="Calibri"/>
                        </a:rPr>
                        <a:t>Objective (from Review 1)</a:t>
                      </a:r>
                    </a:p>
                  </a:txBody>
                  <a:tcPr marL="73152" marR="73152" anchor="ctr">
                    <a:solidFill>
                      <a:srgbClr val="2E5568"/>
                    </a:solidFill>
                  </a:tcPr>
                </a:tc>
                <a:tc>
                  <a:txBody>
                    <a:bodyPr/>
                    <a:lstStyle/>
                    <a:p>
                      <a:r>
                        <a:rPr sz="1400" b="1">
                          <a:solidFill>
                            <a:srgbClr val="FFFFFF"/>
                          </a:solidFill>
                          <a:latin typeface="Calibri"/>
                        </a:rPr>
                        <a:t>Delivered in Review 2</a:t>
                      </a:r>
                    </a:p>
                  </a:txBody>
                  <a:tcPr marL="73152" marR="73152" anchor="ctr">
                    <a:solidFill>
                      <a:srgbClr val="2E5568"/>
                    </a:solidFill>
                  </a:tcPr>
                </a:tc>
                <a:tc>
                  <a:txBody>
                    <a:bodyPr/>
                    <a:lstStyle/>
                    <a:p>
                      <a:r>
                        <a:rPr sz="1400" b="1">
                          <a:solidFill>
                            <a:srgbClr val="FFFFFF"/>
                          </a:solidFill>
                          <a:latin typeface="Calibri"/>
                        </a:rPr>
                        <a:t>Status</a:t>
                      </a:r>
                    </a:p>
                  </a:txBody>
                  <a:tcPr marL="73152" marR="73152" anchor="ctr">
                    <a:solidFill>
                      <a:srgbClr val="2E5568"/>
                    </a:solidFill>
                  </a:tcPr>
                </a:tc>
              </a:tr>
              <a:tr h="566928">
                <a:tc>
                  <a:txBody>
                    <a:bodyPr/>
                    <a:lstStyle/>
                    <a:p>
                      <a:r>
                        <a:rPr sz="1400" b="1">
                          <a:solidFill>
                            <a:srgbClr val="1C2B2E"/>
                          </a:solidFill>
                          <a:latin typeface="Calibri"/>
                        </a:rPr>
                        <a:t>Smart-contract registry storing only hash + status</a:t>
                      </a:r>
                    </a:p>
                  </a:txBody>
                  <a:tcPr marL="73152" marR="73152" anchor="ctr">
                    <a:solidFill>
                      <a:srgbClr val="FFFFFF"/>
                    </a:solidFill>
                  </a:tcPr>
                </a:tc>
                <a:tc>
                  <a:txBody>
                    <a:bodyPr/>
                    <a:lstStyle/>
                    <a:p>
                      <a:r>
                        <a:rPr sz="1400" b="0">
                          <a:solidFill>
                            <a:srgbClr val="1C2B2E"/>
                          </a:solidFill>
                          <a:latin typeface="Calibri"/>
                        </a:rPr>
                        <a:t>CredentialRegistry.sol on Sepolia: hash, issuer, time, status</a:t>
                      </a:r>
                    </a:p>
                  </a:txBody>
                  <a:tcPr marL="73152" marR="73152" anchor="ctr">
                    <a:solidFill>
                      <a:srgbClr val="FFFFFF"/>
                    </a:solidFill>
                  </a:tcPr>
                </a:tc>
                <a:tc>
                  <a:txBody>
                    <a:bodyPr/>
                    <a:lstStyle/>
                    <a:p>
                      <a:r>
                        <a:rPr sz="1400" b="0">
                          <a:solidFill>
                            <a:srgbClr val="1C2B2E"/>
                          </a:solidFill>
                          <a:latin typeface="Calibri"/>
                        </a:rPr>
                        <a:t>Done</a:t>
                      </a:r>
                    </a:p>
                  </a:txBody>
                  <a:tcPr marL="73152" marR="73152" anchor="ctr">
                    <a:solidFill>
                      <a:srgbClr val="FFFFFF"/>
                    </a:solidFill>
                  </a:tcPr>
                </a:tc>
              </a:tr>
              <a:tr h="566928">
                <a:tc>
                  <a:txBody>
                    <a:bodyPr/>
                    <a:lstStyle/>
                    <a:p>
                      <a:r>
                        <a:rPr sz="1400" b="1">
                          <a:solidFill>
                            <a:srgbClr val="1C2B2E"/>
                          </a:solidFill>
                          <a:latin typeface="Calibri"/>
                        </a:rPr>
                        <a:t>Three-role frontend (Admin, Student, Verifier)</a:t>
                      </a:r>
                    </a:p>
                  </a:txBody>
                  <a:tcPr marL="73152" marR="73152" anchor="ctr">
                    <a:solidFill>
                      <a:srgbClr val="E8EFF2"/>
                    </a:solidFill>
                  </a:tcPr>
                </a:tc>
                <a:tc>
                  <a:txBody>
                    <a:bodyPr/>
                    <a:lstStyle/>
                    <a:p>
                      <a:r>
                        <a:rPr sz="1400" b="0">
                          <a:solidFill>
                            <a:srgbClr val="1C2B2E"/>
                          </a:solidFill>
                          <a:latin typeface="Calibri"/>
                        </a:rPr>
                        <a:t>Live on Vercel; real logins for registrars and students</a:t>
                      </a:r>
                    </a:p>
                  </a:txBody>
                  <a:tcPr marL="73152" marR="73152" anchor="ctr">
                    <a:solidFill>
                      <a:srgbClr val="E8EFF2"/>
                    </a:solidFill>
                  </a:tcPr>
                </a:tc>
                <a:tc>
                  <a:txBody>
                    <a:bodyPr/>
                    <a:lstStyle/>
                    <a:p>
                      <a:r>
                        <a:rPr sz="1400" b="0">
                          <a:solidFill>
                            <a:srgbClr val="1C2B2E"/>
                          </a:solidFill>
                          <a:latin typeface="Calibri"/>
                        </a:rPr>
                        <a:t>Done</a:t>
                      </a:r>
                    </a:p>
                  </a:txBody>
                  <a:tcPr marL="73152" marR="73152" anchor="ctr">
                    <a:solidFill>
                      <a:srgbClr val="E8EFF2"/>
                    </a:solidFill>
                  </a:tcPr>
                </a:tc>
              </a:tr>
              <a:tr h="566928">
                <a:tc>
                  <a:txBody>
                    <a:bodyPr/>
                    <a:lstStyle/>
                    <a:p>
                      <a:r>
                        <a:rPr sz="1400" b="1">
                          <a:solidFill>
                            <a:srgbClr val="1C2B2E"/>
                          </a:solidFill>
                          <a:latin typeface="Calibri"/>
                        </a:rPr>
                        <a:t>REST backend with JWT roles + blockchain bridge</a:t>
                      </a:r>
                    </a:p>
                  </a:txBody>
                  <a:tcPr marL="73152" marR="73152" anchor="ctr">
                    <a:solidFill>
                      <a:srgbClr val="FFFFFF"/>
                    </a:solidFill>
                  </a:tcPr>
                </a:tc>
                <a:tc>
                  <a:txBody>
                    <a:bodyPr/>
                    <a:lstStyle/>
                    <a:p>
                      <a:r>
                        <a:rPr sz="1400" b="0">
                          <a:solidFill>
                            <a:srgbClr val="1C2B2E"/>
                          </a:solidFill>
                          <a:latin typeface="Calibri"/>
                        </a:rPr>
                        <a:t>Express API, JWT + RBAC, ethers.js bridge, PDF + QR</a:t>
                      </a:r>
                    </a:p>
                  </a:txBody>
                  <a:tcPr marL="73152" marR="73152" anchor="ctr">
                    <a:solidFill>
                      <a:srgbClr val="FFFFFF"/>
                    </a:solidFill>
                  </a:tcPr>
                </a:tc>
                <a:tc>
                  <a:txBody>
                    <a:bodyPr/>
                    <a:lstStyle/>
                    <a:p>
                      <a:r>
                        <a:rPr sz="1400" b="0">
                          <a:solidFill>
                            <a:srgbClr val="1C2B2E"/>
                          </a:solidFill>
                          <a:latin typeface="Calibri"/>
                        </a:rPr>
                        <a:t>Done</a:t>
                      </a:r>
                    </a:p>
                  </a:txBody>
                  <a:tcPr marL="73152" marR="73152" anchor="ctr">
                    <a:solidFill>
                      <a:srgbClr val="FFFFFF"/>
                    </a:solidFill>
                  </a:tcPr>
                </a:tc>
              </a:tr>
              <a:tr h="566928">
                <a:tc>
                  <a:txBody>
                    <a:bodyPr/>
                    <a:lstStyle/>
                    <a:p>
                      <a:r>
                        <a:rPr sz="1400" b="1">
                          <a:solidFill>
                            <a:srgbClr val="1C2B2E"/>
                          </a:solidFill>
                          <a:latin typeface="Calibri"/>
                        </a:rPr>
                        <a:t>Instant self-service verification (QR / ID)</a:t>
                      </a:r>
                    </a:p>
                  </a:txBody>
                  <a:tcPr marL="73152" marR="73152" anchor="ctr">
                    <a:solidFill>
                      <a:srgbClr val="E8EFF2"/>
                    </a:solidFill>
                  </a:tcPr>
                </a:tc>
                <a:tc>
                  <a:txBody>
                    <a:bodyPr/>
                    <a:lstStyle/>
                    <a:p>
                      <a:r>
                        <a:rPr sz="1400" b="0">
                          <a:solidFill>
                            <a:srgbClr val="1C2B2E"/>
                          </a:solidFill>
                          <a:latin typeface="Calibri"/>
                        </a:rPr>
                        <a:t>By credential ID, printed certificate no., QR or PDF upload</a:t>
                      </a:r>
                    </a:p>
                  </a:txBody>
                  <a:tcPr marL="73152" marR="73152" anchor="ctr">
                    <a:solidFill>
                      <a:srgbClr val="E8EFF2"/>
                    </a:solidFill>
                  </a:tcPr>
                </a:tc>
                <a:tc>
                  <a:txBody>
                    <a:bodyPr/>
                    <a:lstStyle/>
                    <a:p>
                      <a:r>
                        <a:rPr sz="1400" b="0">
                          <a:solidFill>
                            <a:srgbClr val="1C2B2E"/>
                          </a:solidFill>
                          <a:latin typeface="Calibri"/>
                        </a:rPr>
                        <a:t>Done</a:t>
                      </a:r>
                    </a:p>
                  </a:txBody>
                  <a:tcPr marL="73152" marR="73152" anchor="ctr">
                    <a:solidFill>
                      <a:srgbClr val="E8EFF2"/>
                    </a:solidFill>
                  </a:tcPr>
                </a:tc>
              </a:tr>
              <a:tr h="566928">
                <a:tc>
                  <a:txBody>
                    <a:bodyPr/>
                    <a:lstStyle/>
                    <a:p>
                      <a:r>
                        <a:rPr sz="1400" b="1">
                          <a:solidFill>
                            <a:srgbClr val="1C2B2E"/>
                          </a:solidFill>
                          <a:latin typeface="Calibri"/>
                        </a:rPr>
                        <a:t>Auditable revocation (valid / invalid / revoked)</a:t>
                      </a:r>
                    </a:p>
                  </a:txBody>
                  <a:tcPr marL="73152" marR="73152" anchor="ctr">
                    <a:solidFill>
                      <a:srgbClr val="FFFFFF"/>
                    </a:solidFill>
                  </a:tcPr>
                </a:tc>
                <a:tc>
                  <a:txBody>
                    <a:bodyPr/>
                    <a:lstStyle/>
                    <a:p>
                      <a:r>
                        <a:rPr sz="1400" b="0">
                          <a:solidFill>
                            <a:srgbClr val="1C2B2E"/>
                          </a:solidFill>
                          <a:latin typeface="Calibri"/>
                        </a:rPr>
                        <a:t>On-chain state change + event history per credential</a:t>
                      </a:r>
                    </a:p>
                  </a:txBody>
                  <a:tcPr marL="73152" marR="73152" anchor="ctr">
                    <a:solidFill>
                      <a:srgbClr val="FFFFFF"/>
                    </a:solidFill>
                  </a:tcPr>
                </a:tc>
                <a:tc>
                  <a:txBody>
                    <a:bodyPr/>
                    <a:lstStyle/>
                    <a:p>
                      <a:r>
                        <a:rPr sz="1400" b="0">
                          <a:solidFill>
                            <a:srgbClr val="1C2B2E"/>
                          </a:solidFill>
                          <a:latin typeface="Calibri"/>
                        </a:rPr>
                        <a:t>Done</a:t>
                      </a:r>
                    </a:p>
                  </a:txBody>
                  <a:tcPr marL="73152" marR="73152" anchor="ctr">
                    <a:solidFill>
                      <a:srgbClr val="FFFFFF"/>
                    </a:solidFill>
                  </a:tcPr>
                </a:tc>
              </a:tr>
              <a:tr h="566928">
                <a:tc>
                  <a:txBody>
                    <a:bodyPr/>
                    <a:lstStyle/>
                    <a:p>
                      <a:r>
                        <a:rPr sz="1400" b="1">
                          <a:solidFill>
                            <a:srgbClr val="1C2B2E"/>
                          </a:solidFill>
                          <a:latin typeface="Calibri"/>
                        </a:rPr>
                        <a:t>Evaluate against realistic failure scenarios</a:t>
                      </a:r>
                    </a:p>
                  </a:txBody>
                  <a:tcPr marL="73152" marR="73152" anchor="ctr">
                    <a:solidFill>
                      <a:srgbClr val="E8EFF2"/>
                    </a:solidFill>
                  </a:tcPr>
                </a:tc>
                <a:tc>
                  <a:txBody>
                    <a:bodyPr/>
                    <a:lstStyle/>
                    <a:p>
                      <a:r>
                        <a:rPr sz="1400" b="0">
                          <a:solidFill>
                            <a:srgbClr val="1C2B2E"/>
                          </a:solidFill>
                          <a:latin typeface="Calibri"/>
                        </a:rPr>
                        <a:t>10 scenarios automated; 71 tests; gas + latency benchmark</a:t>
                      </a:r>
                    </a:p>
                  </a:txBody>
                  <a:tcPr marL="73152" marR="73152" anchor="ctr">
                    <a:solidFill>
                      <a:srgbClr val="E8EFF2"/>
                    </a:solidFill>
                  </a:tcPr>
                </a:tc>
                <a:tc>
                  <a:txBody>
                    <a:bodyPr/>
                    <a:lstStyle/>
                    <a:p>
                      <a:r>
                        <a:rPr sz="1400" b="0">
                          <a:solidFill>
                            <a:srgbClr val="1C2B2E"/>
                          </a:solidFill>
                          <a:latin typeface="Calibri"/>
                        </a:rPr>
                        <a:t>Done</a:t>
                      </a:r>
                    </a:p>
                  </a:txBody>
                  <a:tcPr marL="73152" marR="73152" anchor="ctr">
                    <a:solidFill>
                      <a:srgbClr val="E8EFF2"/>
                    </a:solidFill>
                  </a:tcPr>
                </a:tc>
              </a:tr>
              <a:tr h="566928">
                <a:tc>
                  <a:txBody>
                    <a:bodyPr/>
                    <a:lstStyle/>
                    <a:p>
                      <a:r>
                        <a:rPr sz="1400" b="1">
                          <a:solidFill>
                            <a:srgbClr val="1C2B2E"/>
                          </a:solidFill>
                          <a:latin typeface="Calibri"/>
                        </a:rPr>
                        <a:t>Future work named in Review 1: Merkle batching</a:t>
                      </a:r>
                    </a:p>
                  </a:txBody>
                  <a:tcPr marL="73152" marR="73152" anchor="ctr">
                    <a:solidFill>
                      <a:srgbClr val="FFFFFF"/>
                    </a:solidFill>
                  </a:tcPr>
                </a:tc>
                <a:tc>
                  <a:txBody>
                    <a:bodyPr/>
                    <a:lstStyle/>
                    <a:p>
                      <a:r>
                        <a:rPr sz="1400" b="0">
                          <a:solidFill>
                            <a:srgbClr val="1C2B2E"/>
                          </a:solidFill>
                          <a:latin typeface="Calibri"/>
                        </a:rPr>
                        <a:t>One transaction per university batch (17 batches on Sepolia)</a:t>
                      </a:r>
                    </a:p>
                  </a:txBody>
                  <a:tcPr marL="73152" marR="73152" anchor="ctr">
                    <a:solidFill>
                      <a:srgbClr val="FFFFFF"/>
                    </a:solidFill>
                  </a:tcPr>
                </a:tc>
                <a:tc>
                  <a:txBody>
                    <a:bodyPr/>
                    <a:lstStyle/>
                    <a:p>
                      <a:r>
                        <a:rPr sz="1400" b="0">
                          <a:solidFill>
                            <a:srgbClr val="1C2B2E"/>
                          </a:solidFill>
                          <a:latin typeface="Calibri"/>
                        </a:rPr>
                        <a:t>Done</a:t>
                      </a:r>
                    </a:p>
                  </a:txBody>
                  <a:tcPr marL="73152" marR="73152"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System Architecture (Implemented)</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Rounded Rectangle 4"/>
          <p:cNvSpPr/>
          <p:nvPr/>
        </p:nvSpPr>
        <p:spPr>
          <a:xfrm>
            <a:off x="548640" y="1234440"/>
            <a:ext cx="2468880" cy="2011680"/>
          </a:xfrm>
          <a:prstGeom prst="roundRect">
            <a:avLst>
              <a:gd name="adj" fmla="val 8000"/>
            </a:avLst>
          </a:prstGeom>
          <a:solidFill>
            <a:srgbClr val="FFFFFF"/>
          </a:solidFill>
          <a:ln w="15875">
            <a:solidFill>
              <a:srgbClr val="2E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2286000" cy="1828800"/>
          </a:xfrm>
          <a:prstGeom prst="rect">
            <a:avLst/>
          </a:prstGeom>
          <a:noFill/>
        </p:spPr>
        <p:txBody>
          <a:bodyPr wrap="square" anchor="t" lIns="45720" rIns="45720">
            <a:spAutoFit/>
          </a:bodyPr>
          <a:lstStyle/>
          <a:p>
            <a:pPr algn="ctr">
              <a:spcAft>
                <a:spcPts val="400"/>
              </a:spcAft>
            </a:pPr>
            <a:r>
              <a:rPr sz="1600" b="1">
                <a:solidFill>
                  <a:srgbClr val="2E5568"/>
                </a:solidFill>
                <a:latin typeface="Calibri"/>
              </a:rPr>
              <a:t>Users</a:t>
            </a:r>
          </a:p>
          <a:p>
            <a:pPr algn="ctr">
              <a:spcAft>
                <a:spcPts val="400"/>
              </a:spcAft>
            </a:pPr>
            <a:r>
              <a:rPr sz="1300" b="0">
                <a:solidFill>
                  <a:srgbClr val="1C2B2E"/>
                </a:solidFill>
                <a:latin typeface="Calibri"/>
              </a:rPr>
              <a:t>Platform admin</a:t>
            </a:r>
          </a:p>
          <a:p>
            <a:pPr algn="ctr">
              <a:spcAft>
                <a:spcPts val="400"/>
              </a:spcAft>
            </a:pPr>
            <a:r>
              <a:rPr sz="1300" b="0">
                <a:solidFill>
                  <a:srgbClr val="1C2B2E"/>
                </a:solidFill>
                <a:latin typeface="Calibri"/>
              </a:rPr>
              <a:t>University registrars</a:t>
            </a:r>
          </a:p>
          <a:p>
            <a:pPr algn="ctr">
              <a:spcAft>
                <a:spcPts val="400"/>
              </a:spcAft>
            </a:pPr>
            <a:r>
              <a:rPr sz="1300" b="0">
                <a:solidFill>
                  <a:srgbClr val="1C2B2E"/>
                </a:solidFill>
                <a:latin typeface="Calibri"/>
              </a:rPr>
              <a:t>Students</a:t>
            </a:r>
          </a:p>
          <a:p>
            <a:pPr algn="ctr">
              <a:spcAft>
                <a:spcPts val="400"/>
              </a:spcAft>
            </a:pPr>
            <a:r>
              <a:rPr sz="1300" b="0">
                <a:solidFill>
                  <a:srgbClr val="1C2B2E"/>
                </a:solidFill>
                <a:latin typeface="Calibri"/>
              </a:rPr>
              <a:t>Employers / verifiers</a:t>
            </a:r>
          </a:p>
        </p:txBody>
      </p:sp>
      <p:sp>
        <p:nvSpPr>
          <p:cNvPr id="7" name="Rounded Rectangle 6"/>
          <p:cNvSpPr/>
          <p:nvPr/>
        </p:nvSpPr>
        <p:spPr>
          <a:xfrm>
            <a:off x="3657600" y="1234440"/>
            <a:ext cx="2651760" cy="2011680"/>
          </a:xfrm>
          <a:prstGeom prst="roundRect">
            <a:avLst>
              <a:gd name="adj" fmla="val 8000"/>
            </a:avLst>
          </a:prstGeom>
          <a:solidFill>
            <a:srgbClr val="E8EFF2"/>
          </a:solidFill>
          <a:ln w="15875">
            <a:solidFill>
              <a:srgbClr val="2E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325880"/>
            <a:ext cx="2468879" cy="1828800"/>
          </a:xfrm>
          <a:prstGeom prst="rect">
            <a:avLst/>
          </a:prstGeom>
          <a:noFill/>
        </p:spPr>
        <p:txBody>
          <a:bodyPr wrap="square" anchor="t" lIns="45720" rIns="45720">
            <a:spAutoFit/>
          </a:bodyPr>
          <a:lstStyle/>
          <a:p>
            <a:pPr algn="ctr">
              <a:spcAft>
                <a:spcPts val="400"/>
              </a:spcAft>
            </a:pPr>
            <a:r>
              <a:rPr sz="1600" b="1">
                <a:solidFill>
                  <a:srgbClr val="2E5568"/>
                </a:solidFill>
                <a:latin typeface="Calibri"/>
              </a:rPr>
              <a:t>React frontend</a:t>
            </a:r>
          </a:p>
          <a:p>
            <a:pPr algn="ctr">
              <a:spcAft>
                <a:spcPts val="400"/>
              </a:spcAft>
            </a:pPr>
            <a:r>
              <a:rPr sz="1300" b="0">
                <a:solidFill>
                  <a:srgbClr val="1C2B2E"/>
                </a:solidFill>
                <a:latin typeface="Calibri"/>
              </a:rPr>
              <a:t>Admin Console</a:t>
            </a:r>
          </a:p>
          <a:p>
            <a:pPr algn="ctr">
              <a:spcAft>
                <a:spcPts val="400"/>
              </a:spcAft>
            </a:pPr>
            <a:r>
              <a:rPr sz="1300" b="0">
                <a:solidFill>
                  <a:srgbClr val="1C2B2E"/>
                </a:solidFill>
                <a:latin typeface="Calibri"/>
              </a:rPr>
              <a:t>Student Portal</a:t>
            </a:r>
          </a:p>
          <a:p>
            <a:pPr algn="ctr">
              <a:spcAft>
                <a:spcPts val="400"/>
              </a:spcAft>
            </a:pPr>
            <a:r>
              <a:rPr sz="1300" b="0">
                <a:solidFill>
                  <a:srgbClr val="1C2B2E"/>
                </a:solidFill>
                <a:latin typeface="Calibri"/>
              </a:rPr>
              <a:t>Verification UI</a:t>
            </a:r>
          </a:p>
          <a:p>
            <a:pPr algn="ctr">
              <a:spcAft>
                <a:spcPts val="400"/>
              </a:spcAft>
            </a:pPr>
            <a:r>
              <a:rPr sz="1300" b="0">
                <a:solidFill>
                  <a:srgbClr val="1C2B2E"/>
                </a:solidFill>
                <a:latin typeface="Calibri"/>
              </a:rPr>
              <a:t>(Vercel)</a:t>
            </a:r>
          </a:p>
        </p:txBody>
      </p:sp>
      <p:sp>
        <p:nvSpPr>
          <p:cNvPr id="9" name="Rounded Rectangle 8"/>
          <p:cNvSpPr/>
          <p:nvPr/>
        </p:nvSpPr>
        <p:spPr>
          <a:xfrm>
            <a:off x="6949440" y="1234440"/>
            <a:ext cx="2651760" cy="2011680"/>
          </a:xfrm>
          <a:prstGeom prst="roundRect">
            <a:avLst>
              <a:gd name="adj" fmla="val 8000"/>
            </a:avLst>
          </a:prstGeom>
          <a:solidFill>
            <a:srgbClr val="E8EFF2"/>
          </a:solidFill>
          <a:ln w="15875">
            <a:solidFill>
              <a:srgbClr val="2E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79" y="1325880"/>
            <a:ext cx="2468879" cy="1828800"/>
          </a:xfrm>
          <a:prstGeom prst="rect">
            <a:avLst/>
          </a:prstGeom>
          <a:noFill/>
        </p:spPr>
        <p:txBody>
          <a:bodyPr wrap="square" anchor="t" lIns="45720" rIns="45720">
            <a:spAutoFit/>
          </a:bodyPr>
          <a:lstStyle/>
          <a:p>
            <a:pPr algn="ctr">
              <a:spcAft>
                <a:spcPts val="400"/>
              </a:spcAft>
            </a:pPr>
            <a:r>
              <a:rPr sz="1600" b="1">
                <a:solidFill>
                  <a:srgbClr val="2E5568"/>
                </a:solidFill>
                <a:latin typeface="Calibri"/>
              </a:rPr>
              <a:t>Express REST API</a:t>
            </a:r>
          </a:p>
          <a:p>
            <a:pPr algn="ctr">
              <a:spcAft>
                <a:spcPts val="400"/>
              </a:spcAft>
            </a:pPr>
            <a:r>
              <a:rPr sz="1300" b="0">
                <a:solidFill>
                  <a:srgbClr val="1C2B2E"/>
                </a:solidFill>
                <a:latin typeface="Calibri"/>
              </a:rPr>
              <a:t>JWT + RBAC, rate limits</a:t>
            </a:r>
          </a:p>
          <a:p>
            <a:pPr algn="ctr">
              <a:spcAft>
                <a:spcPts val="400"/>
              </a:spcAft>
            </a:pPr>
            <a:r>
              <a:rPr sz="1300" b="0">
                <a:solidFill>
                  <a:srgbClr val="1C2B2E"/>
                </a:solidFill>
                <a:latin typeface="Calibri"/>
              </a:rPr>
              <a:t>SHA-256, PDF, Merkle trees</a:t>
            </a:r>
          </a:p>
          <a:p>
            <a:pPr algn="ctr">
              <a:spcAft>
                <a:spcPts val="400"/>
              </a:spcAft>
            </a:pPr>
            <a:r>
              <a:rPr sz="1300" b="0">
                <a:solidFill>
                  <a:srgbClr val="1C2B2E"/>
                </a:solidFill>
                <a:latin typeface="Calibri"/>
              </a:rPr>
              <a:t>Vercel serverless</a:t>
            </a:r>
          </a:p>
        </p:txBody>
      </p:sp>
      <p:sp>
        <p:nvSpPr>
          <p:cNvPr id="11" name="Rounded Rectangle 10"/>
          <p:cNvSpPr/>
          <p:nvPr/>
        </p:nvSpPr>
        <p:spPr>
          <a:xfrm>
            <a:off x="6949440" y="4114800"/>
            <a:ext cx="2651760" cy="2011680"/>
          </a:xfrm>
          <a:prstGeom prst="roundRect">
            <a:avLst>
              <a:gd name="adj" fmla="val 8000"/>
            </a:avLst>
          </a:prstGeom>
          <a:solidFill>
            <a:srgbClr val="E4F1E8"/>
          </a:solidFill>
          <a:ln w="15875">
            <a:solidFill>
              <a:srgbClr val="2E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79" y="4206240"/>
            <a:ext cx="2468879" cy="1828800"/>
          </a:xfrm>
          <a:prstGeom prst="rect">
            <a:avLst/>
          </a:prstGeom>
          <a:noFill/>
        </p:spPr>
        <p:txBody>
          <a:bodyPr wrap="square" anchor="t" lIns="45720" rIns="45720">
            <a:spAutoFit/>
          </a:bodyPr>
          <a:lstStyle/>
          <a:p>
            <a:pPr algn="ctr">
              <a:spcAft>
                <a:spcPts val="400"/>
              </a:spcAft>
            </a:pPr>
            <a:r>
              <a:rPr sz="1600" b="1">
                <a:solidFill>
                  <a:srgbClr val="2E5568"/>
                </a:solidFill>
                <a:latin typeface="Calibri"/>
              </a:rPr>
              <a:t>Supabase PostgreSQL</a:t>
            </a:r>
          </a:p>
          <a:p>
            <a:pPr algn="ctr">
              <a:spcAft>
                <a:spcPts val="400"/>
              </a:spcAft>
            </a:pPr>
            <a:r>
              <a:rPr sz="1300" b="0">
                <a:solidFill>
                  <a:srgbClr val="1C2B2E"/>
                </a:solidFill>
                <a:latin typeface="Calibri"/>
              </a:rPr>
              <a:t>13 tables, RLS on all</a:t>
            </a:r>
          </a:p>
          <a:p>
            <a:pPr algn="ctr">
              <a:spcAft>
                <a:spcPts val="400"/>
              </a:spcAft>
            </a:pPr>
            <a:r>
              <a:rPr sz="1300" b="0">
                <a:solidFill>
                  <a:srgbClr val="1C2B2E"/>
                </a:solidFill>
                <a:latin typeface="Calibri"/>
              </a:rPr>
              <a:t>verified TLS</a:t>
            </a:r>
          </a:p>
          <a:p>
            <a:pPr algn="ctr">
              <a:spcAft>
                <a:spcPts val="400"/>
              </a:spcAft>
            </a:pPr>
            <a:r>
              <a:rPr sz="1300" b="0">
                <a:solidFill>
                  <a:srgbClr val="1C2B2E"/>
                </a:solidFill>
                <a:latin typeface="Calibri"/>
              </a:rPr>
              <a:t>students, records, audit</a:t>
            </a:r>
          </a:p>
        </p:txBody>
      </p:sp>
      <p:sp>
        <p:nvSpPr>
          <p:cNvPr id="13" name="Rounded Rectangle 12"/>
          <p:cNvSpPr/>
          <p:nvPr/>
        </p:nvSpPr>
        <p:spPr>
          <a:xfrm>
            <a:off x="9829800" y="4114800"/>
            <a:ext cx="2011680" cy="2011680"/>
          </a:xfrm>
          <a:prstGeom prst="roundRect">
            <a:avLst>
              <a:gd name="adj" fmla="val 8000"/>
            </a:avLst>
          </a:prstGeom>
          <a:solidFill>
            <a:srgbClr val="F7EBD9"/>
          </a:solidFill>
          <a:ln w="15875">
            <a:solidFill>
              <a:srgbClr val="2E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21240" y="4206240"/>
            <a:ext cx="1828800" cy="1828800"/>
          </a:xfrm>
          <a:prstGeom prst="rect">
            <a:avLst/>
          </a:prstGeom>
          <a:noFill/>
        </p:spPr>
        <p:txBody>
          <a:bodyPr wrap="square" anchor="t" lIns="45720" rIns="45720">
            <a:spAutoFit/>
          </a:bodyPr>
          <a:lstStyle/>
          <a:p>
            <a:pPr algn="ctr">
              <a:spcAft>
                <a:spcPts val="400"/>
              </a:spcAft>
            </a:pPr>
            <a:r>
              <a:rPr sz="1600" b="1">
                <a:solidFill>
                  <a:srgbClr val="2E5568"/>
                </a:solidFill>
                <a:latin typeface="Calibri"/>
              </a:rPr>
              <a:t>Ethereum Sepolia</a:t>
            </a:r>
          </a:p>
          <a:p>
            <a:pPr algn="ctr">
              <a:spcAft>
                <a:spcPts val="400"/>
              </a:spcAft>
            </a:pPr>
            <a:r>
              <a:rPr sz="1300" b="0">
                <a:solidFill>
                  <a:srgbClr val="1C2B2E"/>
                </a:solidFill>
                <a:latin typeface="Calibri"/>
              </a:rPr>
              <a:t>CredentialRegistry</a:t>
            </a:r>
          </a:p>
          <a:p>
            <a:pPr algn="ctr">
              <a:spcAft>
                <a:spcPts val="400"/>
              </a:spcAft>
            </a:pPr>
            <a:r>
              <a:rPr sz="1300" b="0">
                <a:solidFill>
                  <a:srgbClr val="1C2B2E"/>
                </a:solidFill>
                <a:latin typeface="Calibri"/>
              </a:rPr>
              <a:t>17 university wallets</a:t>
            </a:r>
          </a:p>
          <a:p>
            <a:pPr algn="ctr">
              <a:spcAft>
                <a:spcPts val="400"/>
              </a:spcAft>
            </a:pPr>
            <a:r>
              <a:rPr sz="1300" b="0">
                <a:solidFill>
                  <a:srgbClr val="1C2B2E"/>
                </a:solidFill>
                <a:latin typeface="Calibri"/>
              </a:rPr>
              <a:t>Merkle batch roots</a:t>
            </a:r>
          </a:p>
        </p:txBody>
      </p:sp>
      <p:cxnSp>
        <p:nvCxnSpPr>
          <p:cNvPr id="15" name="Connector 14"/>
          <p:cNvCxnSpPr/>
          <p:nvPr/>
        </p:nvCxnSpPr>
        <p:spPr>
          <a:xfrm>
            <a:off x="3017520" y="2240280"/>
            <a:ext cx="640080" cy="0"/>
          </a:xfrm>
          <a:prstGeom prst="line">
            <a:avLst/>
          </a:prstGeom>
          <a:ln w="22225">
            <a:solidFill>
              <a:srgbClr val="2E55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09360" y="2240280"/>
            <a:ext cx="640080" cy="0"/>
          </a:xfrm>
          <a:prstGeom prst="line">
            <a:avLst/>
          </a:prstGeom>
          <a:ln w="22225">
            <a:solidFill>
              <a:srgbClr val="2E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80" y="1911096"/>
            <a:ext cx="1005839" cy="292608"/>
          </a:xfrm>
          <a:prstGeom prst="rect">
            <a:avLst/>
          </a:prstGeom>
          <a:noFill/>
        </p:spPr>
        <p:txBody>
          <a:bodyPr wrap="square" anchor="t" lIns="45720" rIns="45720">
            <a:spAutoFit/>
          </a:bodyPr>
          <a:lstStyle/>
          <a:p>
            <a:pPr algn="ctr">
              <a:spcAft>
                <a:spcPts val="400"/>
              </a:spcAft>
            </a:pPr>
            <a:r>
              <a:rPr sz="1200" b="1">
                <a:solidFill>
                  <a:srgbClr val="8B1E2D"/>
                </a:solidFill>
                <a:latin typeface="Calibri"/>
              </a:rPr>
              <a:t>HTTPS</a:t>
            </a:r>
          </a:p>
        </p:txBody>
      </p:sp>
      <p:cxnSp>
        <p:nvCxnSpPr>
          <p:cNvPr id="18" name="Connector 17"/>
          <p:cNvCxnSpPr/>
          <p:nvPr/>
        </p:nvCxnSpPr>
        <p:spPr>
          <a:xfrm>
            <a:off x="8275320" y="3246120"/>
            <a:ext cx="0" cy="868680"/>
          </a:xfrm>
          <a:prstGeom prst="line">
            <a:avLst/>
          </a:prstGeom>
          <a:ln w="22225">
            <a:solidFill>
              <a:srgbClr val="2E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66760" y="3474720"/>
            <a:ext cx="1463040" cy="365760"/>
          </a:xfrm>
          <a:prstGeom prst="rect">
            <a:avLst/>
          </a:prstGeom>
          <a:noFill/>
        </p:spPr>
        <p:txBody>
          <a:bodyPr wrap="square" anchor="t" lIns="45720" rIns="45720">
            <a:spAutoFit/>
          </a:bodyPr>
          <a:lstStyle/>
          <a:p>
            <a:pPr algn="l">
              <a:spcAft>
                <a:spcPts val="400"/>
              </a:spcAft>
            </a:pPr>
            <a:r>
              <a:rPr sz="1200" b="1">
                <a:solidFill>
                  <a:srgbClr val="8B1E2D"/>
                </a:solidFill>
                <a:latin typeface="Calibri"/>
              </a:rPr>
              <a:t>SQL / TLS</a:t>
            </a:r>
          </a:p>
        </p:txBody>
      </p:sp>
      <p:cxnSp>
        <p:nvCxnSpPr>
          <p:cNvPr id="20" name="Connector 19"/>
          <p:cNvCxnSpPr/>
          <p:nvPr/>
        </p:nvCxnSpPr>
        <p:spPr>
          <a:xfrm>
            <a:off x="9601200" y="2651760"/>
            <a:ext cx="1005840" cy="1463040"/>
          </a:xfrm>
          <a:prstGeom prst="line">
            <a:avLst/>
          </a:prstGeom>
          <a:ln w="22225">
            <a:solidFill>
              <a:srgbClr val="2E55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0" y="2971800"/>
            <a:ext cx="1828800" cy="365760"/>
          </a:xfrm>
          <a:prstGeom prst="rect">
            <a:avLst/>
          </a:prstGeom>
          <a:noFill/>
        </p:spPr>
        <p:txBody>
          <a:bodyPr wrap="square" anchor="t" lIns="45720" rIns="45720">
            <a:spAutoFit/>
          </a:bodyPr>
          <a:lstStyle/>
          <a:p>
            <a:pPr algn="l">
              <a:spcAft>
                <a:spcPts val="400"/>
              </a:spcAft>
            </a:pPr>
            <a:r>
              <a:rPr sz="1200" b="1">
                <a:solidFill>
                  <a:srgbClr val="8B1E2D"/>
                </a:solidFill>
                <a:latin typeface="Calibri"/>
              </a:rPr>
              <a:t>ethers.js</a:t>
            </a:r>
          </a:p>
        </p:txBody>
      </p:sp>
      <p:sp>
        <p:nvSpPr>
          <p:cNvPr id="22" name="TextBox 21"/>
          <p:cNvSpPr txBox="1"/>
          <p:nvPr/>
        </p:nvSpPr>
        <p:spPr>
          <a:xfrm>
            <a:off x="548640" y="4023360"/>
            <a:ext cx="603504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Data placement</a:t>
            </a:r>
          </a:p>
          <a:p>
            <a:pPr algn="l" marL="228600" indent="-182880">
              <a:spcAft>
                <a:spcPts val="400"/>
              </a:spcAft>
              <a:buChar char="•"/>
            </a:pPr>
            <a:r>
              <a:rPr sz="1400" b="0">
                <a:solidFill>
                  <a:srgbClr val="1C2B2E"/>
                </a:solidFill>
                <a:latin typeface="Calibri"/>
              </a:rPr>
              <a:t>On-chain: SHA-256 fingerprint, issuer address, timestamps, status, batch roots</a:t>
            </a:r>
          </a:p>
          <a:p>
            <a:pPr algn="l" marL="228600" indent="-182880">
              <a:spcAft>
                <a:spcPts val="400"/>
              </a:spcAft>
              <a:buChar char="•"/>
            </a:pPr>
            <a:r>
              <a:rPr sz="1400" b="0">
                <a:solidFill>
                  <a:srgbClr val="1C2B2E"/>
                </a:solidFill>
                <a:latin typeface="Calibri"/>
              </a:rPr>
              <a:t>Off-chain: names, register numbers, grades, emails, reasons, Merkle proofs</a:t>
            </a:r>
          </a:p>
          <a:p>
            <a:pPr algn="l" marL="228600" indent="-182880">
              <a:spcAft>
                <a:spcPts val="400"/>
              </a:spcAft>
              <a:buChar char="•"/>
            </a:pPr>
            <a:r>
              <a:rPr sz="1400" b="0">
                <a:solidFill>
                  <a:srgbClr val="1C2B2E"/>
                </a:solidFill>
                <a:latin typeface="Calibri"/>
              </a:rPr>
              <a:t>Verification trusts the chain and cross-checks the database record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Smart Contract: CredentialRegistry.sol</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graphicFrame>
        <p:nvGraphicFramePr>
          <p:cNvPr id="5" name="Table 4"/>
          <p:cNvGraphicFramePr>
            <a:graphicFrameLocks noGrp="1"/>
          </p:cNvGraphicFramePr>
          <p:nvPr/>
        </p:nvGraphicFramePr>
        <p:xfrm>
          <a:off x="612648" y="1097280"/>
          <a:ext cx="6675120" cy="4389120"/>
        </p:xfrm>
        <a:graphic>
          <a:graphicData uri="http://schemas.openxmlformats.org/drawingml/2006/table">
            <a:tbl>
              <a:tblPr firstRow="1" bandRow="1">
                <a:tableStyleId>{5C22544A-7EE6-4342-B048-85BDC9FD1C3A}</a:tableStyleId>
              </a:tblPr>
              <a:tblGrid>
                <a:gridCol w="3566160"/>
                <a:gridCol w="3108960"/>
              </a:tblGrid>
              <a:tr h="548640">
                <a:tc>
                  <a:txBody>
                    <a:bodyPr/>
                    <a:lstStyle/>
                    <a:p>
                      <a:r>
                        <a:rPr sz="1300" b="1">
                          <a:solidFill>
                            <a:srgbClr val="FFFFFF"/>
                          </a:solidFill>
                          <a:latin typeface="Calibri"/>
                        </a:rPr>
                        <a:t>Function</a:t>
                      </a:r>
                    </a:p>
                  </a:txBody>
                  <a:tcPr marL="73152" marR="73152" anchor="ctr">
                    <a:solidFill>
                      <a:srgbClr val="2E5568"/>
                    </a:solidFill>
                  </a:tcPr>
                </a:tc>
                <a:tc>
                  <a:txBody>
                    <a:bodyPr/>
                    <a:lstStyle/>
                    <a:p>
                      <a:r>
                        <a:rPr sz="1300" b="1">
                          <a:solidFill>
                            <a:srgbClr val="FFFFFF"/>
                          </a:solidFill>
                          <a:latin typeface="Calibri"/>
                        </a:rPr>
                        <a:t>Purpose</a:t>
                      </a:r>
                    </a:p>
                  </a:txBody>
                  <a:tcPr marL="73152" marR="73152" anchor="ctr">
                    <a:solidFill>
                      <a:srgbClr val="2E5568"/>
                    </a:solidFill>
                  </a:tcPr>
                </a:tc>
              </a:tr>
              <a:tr h="548640">
                <a:tc>
                  <a:txBody>
                    <a:bodyPr/>
                    <a:lstStyle/>
                    <a:p>
                      <a:r>
                        <a:rPr sz="1300" b="1">
                          <a:solidFill>
                            <a:srgbClr val="1C2B2E"/>
                          </a:solidFill>
                          <a:latin typeface="Calibri"/>
                        </a:rPr>
                        <a:t>issueCredential(id, hash)</a:t>
                      </a:r>
                    </a:p>
                  </a:txBody>
                  <a:tcPr marL="73152" marR="73152" anchor="ctr">
                    <a:solidFill>
                      <a:srgbClr val="FFFFFF"/>
                    </a:solidFill>
                  </a:tcPr>
                </a:tc>
                <a:tc>
                  <a:txBody>
                    <a:bodyPr/>
                    <a:lstStyle/>
                    <a:p>
                      <a:r>
                        <a:rPr sz="1300" b="0">
                          <a:solidFill>
                            <a:srgbClr val="1C2B2E"/>
                          </a:solidFill>
                          <a:latin typeface="Calibri"/>
                        </a:rPr>
                        <a:t>Anchor one certificate fingerprint</a:t>
                      </a:r>
                    </a:p>
                  </a:txBody>
                  <a:tcPr marL="73152" marR="73152" anchor="ctr">
                    <a:solidFill>
                      <a:srgbClr val="FFFFFF"/>
                    </a:solidFill>
                  </a:tcPr>
                </a:tc>
              </a:tr>
              <a:tr h="548640">
                <a:tc>
                  <a:txBody>
                    <a:bodyPr/>
                    <a:lstStyle/>
                    <a:p>
                      <a:r>
                        <a:rPr sz="1300" b="1">
                          <a:solidFill>
                            <a:srgbClr val="1C2B2E"/>
                          </a:solidFill>
                          <a:latin typeface="Calibri"/>
                        </a:rPr>
                        <a:t>anchorBatch(root, count)</a:t>
                      </a:r>
                    </a:p>
                  </a:txBody>
                  <a:tcPr marL="73152" marR="73152" anchor="ctr">
                    <a:solidFill>
                      <a:srgbClr val="E8EFF2"/>
                    </a:solidFill>
                  </a:tcPr>
                </a:tc>
                <a:tc>
                  <a:txBody>
                    <a:bodyPr/>
                    <a:lstStyle/>
                    <a:p>
                      <a:r>
                        <a:rPr sz="1300" b="0">
                          <a:solidFill>
                            <a:srgbClr val="1C2B2E"/>
                          </a:solidFill>
                          <a:latin typeface="Calibri"/>
                        </a:rPr>
                        <a:t>Anchor a whole batch as one Merkle root</a:t>
                      </a:r>
                    </a:p>
                  </a:txBody>
                  <a:tcPr marL="73152" marR="73152" anchor="ctr">
                    <a:solidFill>
                      <a:srgbClr val="E8EFF2"/>
                    </a:solidFill>
                  </a:tcPr>
                </a:tc>
              </a:tr>
              <a:tr h="548640">
                <a:tc>
                  <a:txBody>
                    <a:bodyPr/>
                    <a:lstStyle/>
                    <a:p>
                      <a:r>
                        <a:rPr sz="1300" b="1">
                          <a:solidFill>
                            <a:srgbClr val="1C2B2E"/>
                          </a:solidFill>
                          <a:latin typeface="Calibri"/>
                        </a:rPr>
                        <a:t>revokeCredential / revokeBatchCredential</a:t>
                      </a:r>
                    </a:p>
                  </a:txBody>
                  <a:tcPr marL="73152" marR="73152" anchor="ctr">
                    <a:solidFill>
                      <a:srgbClr val="FFFFFF"/>
                    </a:solidFill>
                  </a:tcPr>
                </a:tc>
                <a:tc>
                  <a:txBody>
                    <a:bodyPr/>
                    <a:lstStyle/>
                    <a:p>
                      <a:r>
                        <a:rPr sz="1300" b="0">
                          <a:solidFill>
                            <a:srgbClr val="1C2B2E"/>
                          </a:solidFill>
                          <a:latin typeface="Calibri"/>
                        </a:rPr>
                        <a:t>Status change; history kept</a:t>
                      </a:r>
                    </a:p>
                  </a:txBody>
                  <a:tcPr marL="73152" marR="73152" anchor="ctr">
                    <a:solidFill>
                      <a:srgbClr val="FFFFFF"/>
                    </a:solidFill>
                  </a:tcPr>
                </a:tc>
              </a:tr>
              <a:tr h="548640">
                <a:tc>
                  <a:txBody>
                    <a:bodyPr/>
                    <a:lstStyle/>
                    <a:p>
                      <a:r>
                        <a:rPr sz="1300" b="1">
                          <a:solidFill>
                            <a:srgbClr val="1C2B2E"/>
                          </a:solidFill>
                          <a:latin typeface="Calibri"/>
                        </a:rPr>
                        <a:t>verifyCredential / verifyBatchCredential</a:t>
                      </a:r>
                    </a:p>
                  </a:txBody>
                  <a:tcPr marL="73152" marR="73152" anchor="ctr">
                    <a:solidFill>
                      <a:srgbClr val="E8EFF2"/>
                    </a:solidFill>
                  </a:tcPr>
                </a:tc>
                <a:tc>
                  <a:txBody>
                    <a:bodyPr/>
                    <a:lstStyle/>
                    <a:p>
                      <a:r>
                        <a:rPr sz="1300" b="0">
                          <a:solidFill>
                            <a:srgbClr val="1C2B2E"/>
                          </a:solidFill>
                          <a:latin typeface="Calibri"/>
                        </a:rPr>
                        <a:t>Free read-only checks</a:t>
                      </a:r>
                    </a:p>
                  </a:txBody>
                  <a:tcPr marL="73152" marR="73152" anchor="ctr">
                    <a:solidFill>
                      <a:srgbClr val="E8EFF2"/>
                    </a:solidFill>
                  </a:tcPr>
                </a:tc>
              </a:tr>
              <a:tr h="548640">
                <a:tc>
                  <a:txBody>
                    <a:bodyPr/>
                    <a:lstStyle/>
                    <a:p>
                      <a:r>
                        <a:rPr sz="1300" b="1">
                          <a:solidFill>
                            <a:srgbClr val="1C2B2E"/>
                          </a:solidFill>
                          <a:latin typeface="Calibri"/>
                        </a:rPr>
                        <a:t>setIssuer(address, name, active)</a:t>
                      </a:r>
                    </a:p>
                  </a:txBody>
                  <a:tcPr marL="73152" marR="73152" anchor="ctr">
                    <a:solidFill>
                      <a:srgbClr val="FFFFFF"/>
                    </a:solidFill>
                  </a:tcPr>
                </a:tc>
                <a:tc>
                  <a:txBody>
                    <a:bodyPr/>
                    <a:lstStyle/>
                    <a:p>
                      <a:r>
                        <a:rPr sz="1300" b="0">
                          <a:solidFill>
                            <a:srgbClr val="1C2B2E"/>
                          </a:solidFill>
                          <a:latin typeface="Calibri"/>
                        </a:rPr>
                        <a:t>Authorise a university's wallet</a:t>
                      </a:r>
                    </a:p>
                  </a:txBody>
                  <a:tcPr marL="73152" marR="73152" anchor="ctr">
                    <a:solidFill>
                      <a:srgbClr val="FFFFFF"/>
                    </a:solidFill>
                  </a:tcPr>
                </a:tc>
              </a:tr>
              <a:tr h="548640">
                <a:tc>
                  <a:txBody>
                    <a:bodyPr/>
                    <a:lstStyle/>
                    <a:p>
                      <a:r>
                        <a:rPr sz="1300" b="1">
                          <a:solidFill>
                            <a:srgbClr val="1C2B2E"/>
                          </a:solidFill>
                          <a:latin typeface="Calibri"/>
                        </a:rPr>
                        <a:t>pause() / unpause()</a:t>
                      </a:r>
                    </a:p>
                  </a:txBody>
                  <a:tcPr marL="73152" marR="73152" anchor="ctr">
                    <a:solidFill>
                      <a:srgbClr val="E8EFF2"/>
                    </a:solidFill>
                  </a:tcPr>
                </a:tc>
                <a:tc>
                  <a:txBody>
                    <a:bodyPr/>
                    <a:lstStyle/>
                    <a:p>
                      <a:r>
                        <a:rPr sz="1300" b="0">
                          <a:solidFill>
                            <a:srgbClr val="1C2B2E"/>
                          </a:solidFill>
                          <a:latin typeface="Calibri"/>
                        </a:rPr>
                        <a:t>Emergency stop (verify still works)</a:t>
                      </a:r>
                    </a:p>
                  </a:txBody>
                  <a:tcPr marL="73152" marR="73152" anchor="ctr">
                    <a:solidFill>
                      <a:srgbClr val="E8EFF2"/>
                    </a:solidFill>
                  </a:tcPr>
                </a:tc>
              </a:tr>
              <a:tr h="548640">
                <a:tc>
                  <a:txBody>
                    <a:bodyPr/>
                    <a:lstStyle/>
                    <a:p>
                      <a:r>
                        <a:rPr sz="1300" b="1">
                          <a:solidFill>
                            <a:srgbClr val="1C2B2E"/>
                          </a:solidFill>
                          <a:latin typeface="Calibri"/>
                        </a:rPr>
                        <a:t>transferOwnership / acceptOwnership</a:t>
                      </a:r>
                    </a:p>
                  </a:txBody>
                  <a:tcPr marL="73152" marR="73152" anchor="ctr">
                    <a:solidFill>
                      <a:srgbClr val="FFFFFF"/>
                    </a:solidFill>
                  </a:tcPr>
                </a:tc>
                <a:tc>
                  <a:txBody>
                    <a:bodyPr/>
                    <a:lstStyle/>
                    <a:p>
                      <a:r>
                        <a:rPr sz="1300" b="0">
                          <a:solidFill>
                            <a:srgbClr val="1C2B2E"/>
                          </a:solidFill>
                          <a:latin typeface="Calibri"/>
                        </a:rPr>
                        <a:t>Two-step ownership transfer</a:t>
                      </a:r>
                    </a:p>
                  </a:txBody>
                  <a:tcPr marL="73152" marR="73152" anchor="ctr">
                    <a:solidFill>
                      <a:srgbClr val="FFFFFF"/>
                    </a:solidFill>
                  </a:tcPr>
                </a:tc>
              </a:tr>
            </a:tbl>
          </a:graphicData>
        </a:graphic>
      </p:graphicFrame>
      <p:sp>
        <p:nvSpPr>
          <p:cNvPr id="6" name="Rounded Rectangle 5"/>
          <p:cNvSpPr/>
          <p:nvPr/>
        </p:nvSpPr>
        <p:spPr>
          <a:xfrm>
            <a:off x="7589520" y="1097280"/>
            <a:ext cx="402336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0" y="1207007"/>
            <a:ext cx="374904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Built on OpenZeppelin</a:t>
            </a:r>
          </a:p>
          <a:p>
            <a:pPr algn="l" marL="228600" indent="-182880">
              <a:spcAft>
                <a:spcPts val="400"/>
              </a:spcAft>
              <a:buChar char="•"/>
            </a:pPr>
            <a:r>
              <a:rPr sz="1400" b="0">
                <a:solidFill>
                  <a:srgbClr val="1C2B2E"/>
                </a:solidFill>
                <a:latin typeface="Calibri"/>
              </a:rPr>
              <a:t>Ownable2Step, Pausable, MerkleProof</a:t>
            </a:r>
          </a:p>
          <a:p>
            <a:pPr algn="l" marL="228600" indent="-182880">
              <a:spcAft>
                <a:spcPts val="400"/>
              </a:spcAft>
              <a:buChar char="•"/>
            </a:pPr>
            <a:r>
              <a:rPr sz="1400" b="0">
                <a:solidFill>
                  <a:srgbClr val="1C2B2E"/>
                </a:solidFill>
                <a:latin typeface="Calibri"/>
              </a:rPr>
              <a:t>Custom errors: duplicate ID, wrong issuer, already revoked</a:t>
            </a:r>
          </a:p>
          <a:p>
            <a:pPr algn="l" marL="228600" indent="-182880">
              <a:spcAft>
                <a:spcPts val="400"/>
              </a:spcAft>
              <a:buChar char="•"/>
            </a:pPr>
            <a:r>
              <a:rPr sz="1400" b="0">
                <a:solidFill>
                  <a:srgbClr val="1C2B2E"/>
                </a:solidFill>
                <a:latin typeface="Calibri"/>
              </a:rPr>
              <a:t>Events give a full issue → revoke audit trail</a:t>
            </a:r>
          </a:p>
        </p:txBody>
      </p:sp>
      <p:sp>
        <p:nvSpPr>
          <p:cNvPr id="8" name="Rounded Rectangle 7"/>
          <p:cNvSpPr/>
          <p:nvPr/>
        </p:nvSpPr>
        <p:spPr>
          <a:xfrm>
            <a:off x="7589520" y="3703320"/>
            <a:ext cx="4023360" cy="2514600"/>
          </a:xfrm>
          <a:prstGeom prst="roundRect">
            <a:avLst>
              <a:gd name="adj" fmla="val 6000"/>
            </a:avLst>
          </a:prstGeom>
          <a:solidFill>
            <a:srgbClr val="F7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80" y="3813048"/>
            <a:ext cx="3749040" cy="233172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Merkle batching</a:t>
            </a:r>
          </a:p>
          <a:p>
            <a:pPr algn="l" marL="228600" indent="-182880">
              <a:spcAft>
                <a:spcPts val="400"/>
              </a:spcAft>
              <a:buChar char="•"/>
            </a:pPr>
            <a:r>
              <a:rPr sz="1400" b="0">
                <a:solidFill>
                  <a:srgbClr val="1C2B2E"/>
                </a:solidFill>
                <a:latin typeface="Calibri"/>
              </a:rPr>
              <a:t>One transaction per university: up to 156 certificates</a:t>
            </a:r>
          </a:p>
          <a:p>
            <a:pPr algn="l" marL="228600" indent="-182880">
              <a:spcAft>
                <a:spcPts val="400"/>
              </a:spcAft>
              <a:buChar char="•"/>
            </a:pPr>
            <a:r>
              <a:rPr sz="1400" b="0">
                <a:solidFill>
                  <a:srgbClr val="1C2B2E"/>
                </a:solidFill>
                <a:latin typeface="Calibri"/>
              </a:rPr>
              <a:t>Each certificate keeps a short proof (4–9 hashes)</a:t>
            </a:r>
          </a:p>
          <a:p>
            <a:pPr algn="l" marL="228600" indent="-182880">
              <a:spcAft>
                <a:spcPts val="400"/>
              </a:spcAft>
              <a:buChar char="•"/>
            </a:pPr>
            <a:r>
              <a:rPr sz="1400" b="0">
                <a:solidFill>
                  <a:srgbClr val="1C2B2E"/>
                </a:solidFill>
                <a:latin typeface="Calibri"/>
              </a:rPr>
              <a:t>Double-hashed leaves prevent second-preimage attacks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Academic Data Layer: Supabase PostgreSQL</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TextBox 4"/>
          <p:cNvSpPr txBox="1"/>
          <p:nvPr/>
        </p:nvSpPr>
        <p:spPr>
          <a:xfrm>
            <a:off x="612648" y="1143000"/>
            <a:ext cx="265176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13</a:t>
            </a:r>
          </a:p>
        </p:txBody>
      </p:sp>
      <p:sp>
        <p:nvSpPr>
          <p:cNvPr id="6" name="TextBox 5"/>
          <p:cNvSpPr txBox="1"/>
          <p:nvPr/>
        </p:nvSpPr>
        <p:spPr>
          <a:xfrm>
            <a:off x="612648" y="1801368"/>
            <a:ext cx="265176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tables, Row Level Security on all</a:t>
            </a:r>
          </a:p>
        </p:txBody>
      </p:sp>
      <p:sp>
        <p:nvSpPr>
          <p:cNvPr id="7" name="TextBox 6"/>
          <p:cNvSpPr txBox="1"/>
          <p:nvPr/>
        </p:nvSpPr>
        <p:spPr>
          <a:xfrm>
            <a:off x="3355848" y="1143000"/>
            <a:ext cx="265176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4</a:t>
            </a:r>
          </a:p>
        </p:txBody>
      </p:sp>
      <p:sp>
        <p:nvSpPr>
          <p:cNvPr id="8" name="TextBox 7"/>
          <p:cNvSpPr txBox="1"/>
          <p:nvPr/>
        </p:nvSpPr>
        <p:spPr>
          <a:xfrm>
            <a:off x="3355848" y="1801368"/>
            <a:ext cx="265176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versioned SQL migrations</a:t>
            </a:r>
          </a:p>
        </p:txBody>
      </p:sp>
      <p:sp>
        <p:nvSpPr>
          <p:cNvPr id="9" name="TextBox 8"/>
          <p:cNvSpPr txBox="1"/>
          <p:nvPr/>
        </p:nvSpPr>
        <p:spPr>
          <a:xfrm>
            <a:off x="6099048" y="1143000"/>
            <a:ext cx="265176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TLS</a:t>
            </a:r>
          </a:p>
        </p:txBody>
      </p:sp>
      <p:sp>
        <p:nvSpPr>
          <p:cNvPr id="10" name="TextBox 9"/>
          <p:cNvSpPr txBox="1"/>
          <p:nvPr/>
        </p:nvSpPr>
        <p:spPr>
          <a:xfrm>
            <a:off x="6099048" y="1801368"/>
            <a:ext cx="265176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verified with Supabase CA</a:t>
            </a:r>
          </a:p>
        </p:txBody>
      </p:sp>
      <p:sp>
        <p:nvSpPr>
          <p:cNvPr id="11" name="TextBox 10"/>
          <p:cNvSpPr txBox="1"/>
          <p:nvPr/>
        </p:nvSpPr>
        <p:spPr>
          <a:xfrm>
            <a:off x="8842248" y="1143000"/>
            <a:ext cx="265176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0</a:t>
            </a:r>
          </a:p>
        </p:txBody>
      </p:sp>
      <p:sp>
        <p:nvSpPr>
          <p:cNvPr id="12" name="TextBox 11"/>
          <p:cNvSpPr txBox="1"/>
          <p:nvPr/>
        </p:nvSpPr>
        <p:spPr>
          <a:xfrm>
            <a:off x="8842248" y="1801368"/>
            <a:ext cx="265176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rows readable via public API key</a:t>
            </a:r>
          </a:p>
        </p:txBody>
      </p:sp>
      <p:sp>
        <p:nvSpPr>
          <p:cNvPr id="13" name="Rounded Rectangle 12"/>
          <p:cNvSpPr/>
          <p:nvPr/>
        </p:nvSpPr>
        <p:spPr>
          <a:xfrm>
            <a:off x="612648" y="2606040"/>
            <a:ext cx="3520440" cy="361188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715768"/>
            <a:ext cx="3246120" cy="342900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Academic registry</a:t>
            </a:r>
          </a:p>
          <a:p>
            <a:pPr algn="l" marL="228600" indent="-182880">
              <a:spcAft>
                <a:spcPts val="400"/>
              </a:spcAft>
              <a:buChar char="•"/>
            </a:pPr>
            <a:r>
              <a:rPr sz="1400" b="0">
                <a:solidFill>
                  <a:srgbClr val="1C2B2E"/>
                </a:solidFill>
                <a:latin typeface="Calibri"/>
              </a:rPr>
              <a:t>institutions, colleges, programs</a:t>
            </a:r>
          </a:p>
          <a:p>
            <a:pPr algn="l" marL="228600" indent="-182880">
              <a:spcAft>
                <a:spcPts val="400"/>
              </a:spcAft>
              <a:buChar char="•"/>
            </a:pPr>
            <a:r>
              <a:rPr sz="1400" b="0">
                <a:solidFill>
                  <a:srgbClr val="1C2B2E"/>
                </a:solidFill>
                <a:latin typeface="Calibri"/>
              </a:rPr>
              <a:t>students (masked Aadhaar / mobile)</a:t>
            </a:r>
          </a:p>
          <a:p>
            <a:pPr algn="l" marL="228600" indent="-182880">
              <a:spcAft>
                <a:spcPts val="400"/>
              </a:spcAft>
              <a:buChar char="•"/>
            </a:pPr>
            <a:r>
              <a:rPr sz="1400" b="0">
                <a:solidFill>
                  <a:srgbClr val="1C2B2E"/>
                </a:solidFill>
                <a:latin typeface="Calibri"/>
              </a:rPr>
              <a:t>enrollments, semester_results</a:t>
            </a:r>
          </a:p>
          <a:p>
            <a:pPr algn="l" marL="228600" indent="-182880">
              <a:spcAft>
                <a:spcPts val="400"/>
              </a:spcAft>
              <a:buChar char="•"/>
            </a:pPr>
            <a:r>
              <a:rPr sz="1400" b="0">
                <a:solidFill>
                  <a:srgbClr val="1C2B2E"/>
                </a:solidFill>
                <a:latin typeface="Calibri"/>
              </a:rPr>
              <a:t>degree_certificates (33 attributes)</a:t>
            </a:r>
          </a:p>
        </p:txBody>
      </p:sp>
      <p:sp>
        <p:nvSpPr>
          <p:cNvPr id="15" name="Rounded Rectangle 14"/>
          <p:cNvSpPr/>
          <p:nvPr/>
        </p:nvSpPr>
        <p:spPr>
          <a:xfrm>
            <a:off x="4334256" y="2606040"/>
            <a:ext cx="3520440" cy="361188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2715768"/>
            <a:ext cx="3246120" cy="342900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Verification layer</a:t>
            </a:r>
          </a:p>
          <a:p>
            <a:pPr algn="l" marL="228600" indent="-182880">
              <a:spcAft>
                <a:spcPts val="400"/>
              </a:spcAft>
              <a:buChar char="•"/>
            </a:pPr>
            <a:r>
              <a:rPr sz="1400" b="0">
                <a:solidFill>
                  <a:srgbClr val="1C2B2E"/>
                </a:solidFill>
                <a:latin typeface="Calibri"/>
              </a:rPr>
              <a:t>credentials: anchored record + Merkle proof</a:t>
            </a:r>
          </a:p>
          <a:p>
            <a:pPr algn="l" marL="228600" indent="-182880">
              <a:spcAft>
                <a:spcPts val="400"/>
              </a:spcAft>
              <a:buChar char="•"/>
            </a:pPr>
            <a:r>
              <a:rPr sz="1400" b="0">
                <a:solidFill>
                  <a:srgbClr val="1C2B2E"/>
                </a:solidFill>
                <a:latin typeface="Calibri"/>
              </a:rPr>
              <a:t>lookup by credential ID, certificate no. or hash</a:t>
            </a:r>
          </a:p>
          <a:p>
            <a:pPr algn="l" marL="228600" indent="-182880">
              <a:spcAft>
                <a:spcPts val="400"/>
              </a:spcAft>
              <a:buChar char="•"/>
            </a:pPr>
            <a:r>
              <a:rPr sz="1400" b="0">
                <a:solidFill>
                  <a:srgbClr val="1C2B2E"/>
                </a:solidFill>
                <a:latin typeface="Calibri"/>
              </a:rPr>
              <a:t>nad_awards (DigiLocker NAD template)</a:t>
            </a:r>
          </a:p>
          <a:p>
            <a:pPr algn="l" marL="228600" indent="-182880">
              <a:spcAft>
                <a:spcPts val="400"/>
              </a:spcAft>
              <a:buChar char="•"/>
            </a:pPr>
            <a:r>
              <a:rPr sz="1400" b="0">
                <a:solidFill>
                  <a:srgbClr val="1C2B2E"/>
                </a:solidFill>
                <a:latin typeface="Calibri"/>
              </a:rPr>
              <a:t>verification_requests (666 test cases)</a:t>
            </a:r>
          </a:p>
        </p:txBody>
      </p:sp>
      <p:sp>
        <p:nvSpPr>
          <p:cNvPr id="17" name="Rounded Rectangle 16"/>
          <p:cNvSpPr/>
          <p:nvPr/>
        </p:nvSpPr>
        <p:spPr>
          <a:xfrm>
            <a:off x="8055864" y="2606040"/>
            <a:ext cx="3520440" cy="361188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4" y="2715768"/>
            <a:ext cx="3246120" cy="342900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Accounts &amp; audit</a:t>
            </a:r>
          </a:p>
          <a:p>
            <a:pPr algn="l" marL="228600" indent="-182880">
              <a:spcAft>
                <a:spcPts val="400"/>
              </a:spcAft>
              <a:buChar char="•"/>
            </a:pPr>
            <a:r>
              <a:rPr sz="1400" b="0">
                <a:solidFill>
                  <a:srgbClr val="1C2B2E"/>
                </a:solidFill>
                <a:latin typeface="Calibri"/>
              </a:rPr>
              <a:t>users: scrypt hashes, lockout state</a:t>
            </a:r>
          </a:p>
          <a:p>
            <a:pPr algn="l" marL="228600" indent="-182880">
              <a:spcAft>
                <a:spcPts val="400"/>
              </a:spcAft>
              <a:buChar char="•"/>
            </a:pPr>
            <a:r>
              <a:rPr sz="1400" b="0">
                <a:solidFill>
                  <a:srgbClr val="1C2B2E"/>
                </a:solidFill>
                <a:latin typeface="Calibri"/>
              </a:rPr>
              <a:t>university wallets: AES-256-GCM encrypted</a:t>
            </a:r>
          </a:p>
          <a:p>
            <a:pPr algn="l" marL="228600" indent="-182880">
              <a:spcAft>
                <a:spcPts val="400"/>
              </a:spcAft>
              <a:buChar char="•"/>
            </a:pPr>
            <a:r>
              <a:rPr sz="1400" b="0">
                <a:solidFill>
                  <a:srgbClr val="1C2B2E"/>
                </a:solidFill>
                <a:latin typeface="Calibri"/>
              </a:rPr>
              <a:t>audit_log: append-only (trigger blocks edits)</a:t>
            </a:r>
          </a:p>
          <a:p>
            <a:pPr algn="l" marL="228600" indent="-182880">
              <a:spcAft>
                <a:spcPts val="400"/>
              </a:spcAft>
              <a:buChar char="•"/>
            </a:pPr>
            <a:r>
              <a:rPr sz="1400" b="0">
                <a:solidFill>
                  <a:srgbClr val="1C2B2E"/>
                </a:solidFill>
                <a:latin typeface="Calibri"/>
              </a:rPr>
              <a:t>constraints enforce valid hashes and statuses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Security Controls</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Oval 4"/>
          <p:cNvSpPr/>
          <p:nvPr/>
        </p:nvSpPr>
        <p:spPr>
          <a:xfrm>
            <a:off x="612648" y="1234440"/>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161288" y="114300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Tamper detection</a:t>
            </a:r>
          </a:p>
          <a:p>
            <a:pPr algn="l">
              <a:spcAft>
                <a:spcPts val="400"/>
              </a:spcAft>
            </a:pPr>
            <a:r>
              <a:rPr sz="1400" b="0">
                <a:solidFill>
                  <a:srgbClr val="1C2B2E"/>
                </a:solidFill>
                <a:latin typeface="Calibri"/>
              </a:rPr>
              <a:t>SHA-256 on-chain; a 1-byte edit fails verification</a:t>
            </a:r>
          </a:p>
        </p:txBody>
      </p:sp>
      <p:sp>
        <p:nvSpPr>
          <p:cNvPr id="7" name="Oval 6"/>
          <p:cNvSpPr/>
          <p:nvPr/>
        </p:nvSpPr>
        <p:spPr>
          <a:xfrm>
            <a:off x="6236208" y="1234440"/>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 name="TextBox 7"/>
          <p:cNvSpPr txBox="1"/>
          <p:nvPr/>
        </p:nvSpPr>
        <p:spPr>
          <a:xfrm>
            <a:off x="6784848" y="114300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Fake issuers</a:t>
            </a:r>
          </a:p>
          <a:p>
            <a:pPr algn="l">
              <a:spcAft>
                <a:spcPts val="400"/>
              </a:spcAft>
            </a:pPr>
            <a:r>
              <a:rPr sz="1400" b="0">
                <a:solidFill>
                  <a:srgbClr val="1C2B2E"/>
                </a:solidFill>
                <a:latin typeface="Calibri"/>
              </a:rPr>
              <a:t>Only universities approved on-chain are trusted</a:t>
            </a:r>
          </a:p>
        </p:txBody>
      </p:sp>
      <p:sp>
        <p:nvSpPr>
          <p:cNvPr id="9" name="Oval 8"/>
          <p:cNvSpPr/>
          <p:nvPr/>
        </p:nvSpPr>
        <p:spPr>
          <a:xfrm>
            <a:off x="612648" y="2514600"/>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0" name="TextBox 9"/>
          <p:cNvSpPr txBox="1"/>
          <p:nvPr/>
        </p:nvSpPr>
        <p:spPr>
          <a:xfrm>
            <a:off x="1161288" y="242316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Database tampering</a:t>
            </a:r>
          </a:p>
          <a:p>
            <a:pPr algn="l">
              <a:spcAft>
                <a:spcPts val="400"/>
              </a:spcAft>
            </a:pPr>
            <a:r>
              <a:rPr sz="1400" b="0">
                <a:solidFill>
                  <a:srgbClr val="1C2B2E"/>
                </a:solidFill>
                <a:latin typeface="Calibri"/>
              </a:rPr>
              <a:t>Each check compares the record with the chain</a:t>
            </a:r>
          </a:p>
        </p:txBody>
      </p:sp>
      <p:sp>
        <p:nvSpPr>
          <p:cNvPr id="11" name="Oval 10"/>
          <p:cNvSpPr/>
          <p:nvPr/>
        </p:nvSpPr>
        <p:spPr>
          <a:xfrm>
            <a:off x="6236208" y="2514600"/>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2" name="TextBox 11"/>
          <p:cNvSpPr txBox="1"/>
          <p:nvPr/>
        </p:nvSpPr>
        <p:spPr>
          <a:xfrm>
            <a:off x="6784848" y="242316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Account security</a:t>
            </a:r>
          </a:p>
          <a:p>
            <a:pPr algn="l">
              <a:spcAft>
                <a:spcPts val="400"/>
              </a:spcAft>
            </a:pPr>
            <a:r>
              <a:rPr sz="1400" b="0">
                <a:solidFill>
                  <a:srgbClr val="1C2B2E"/>
                </a:solidFill>
                <a:latin typeface="Calibri"/>
              </a:rPr>
              <a:t>scrypt passwords, lockout after 5 failures, 1-h JWT</a:t>
            </a:r>
          </a:p>
        </p:txBody>
      </p:sp>
      <p:sp>
        <p:nvSpPr>
          <p:cNvPr id="13" name="Oval 12"/>
          <p:cNvSpPr/>
          <p:nvPr/>
        </p:nvSpPr>
        <p:spPr>
          <a:xfrm>
            <a:off x="612648" y="3794759"/>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4" name="TextBox 13"/>
          <p:cNvSpPr txBox="1"/>
          <p:nvPr/>
        </p:nvSpPr>
        <p:spPr>
          <a:xfrm>
            <a:off x="1161288" y="370332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API hardening</a:t>
            </a:r>
          </a:p>
          <a:p>
            <a:pPr algn="l">
              <a:spcAft>
                <a:spcPts val="400"/>
              </a:spcAft>
            </a:pPr>
            <a:r>
              <a:rPr sz="1400" b="0">
                <a:solidFill>
                  <a:srgbClr val="1C2B2E"/>
                </a:solidFill>
                <a:latin typeface="Calibri"/>
              </a:rPr>
              <a:t>Rate limits, Helmet headers, CORS allow-list, input limits</a:t>
            </a:r>
          </a:p>
        </p:txBody>
      </p:sp>
      <p:sp>
        <p:nvSpPr>
          <p:cNvPr id="15" name="Oval 14"/>
          <p:cNvSpPr/>
          <p:nvPr/>
        </p:nvSpPr>
        <p:spPr>
          <a:xfrm>
            <a:off x="6236208" y="3794759"/>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16" name="TextBox 15"/>
          <p:cNvSpPr txBox="1"/>
          <p:nvPr/>
        </p:nvSpPr>
        <p:spPr>
          <a:xfrm>
            <a:off x="6784848" y="3703320"/>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Secrets</a:t>
            </a:r>
          </a:p>
          <a:p>
            <a:pPr algn="l">
              <a:spcAft>
                <a:spcPts val="400"/>
              </a:spcAft>
            </a:pPr>
            <a:r>
              <a:rPr sz="1400" b="0">
                <a:solidFill>
                  <a:srgbClr val="1C2B2E"/>
                </a:solidFill>
                <a:latin typeface="Calibri"/>
              </a:rPr>
              <a:t>Keys only in env vars; wallet keys encrypted at rest</a:t>
            </a:r>
          </a:p>
        </p:txBody>
      </p:sp>
      <p:sp>
        <p:nvSpPr>
          <p:cNvPr id="17" name="Oval 16"/>
          <p:cNvSpPr/>
          <p:nvPr/>
        </p:nvSpPr>
        <p:spPr>
          <a:xfrm>
            <a:off x="612648" y="5074919"/>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7</a:t>
            </a:r>
          </a:p>
        </p:txBody>
      </p:sp>
      <p:sp>
        <p:nvSpPr>
          <p:cNvPr id="18" name="TextBox 17"/>
          <p:cNvSpPr txBox="1"/>
          <p:nvPr/>
        </p:nvSpPr>
        <p:spPr>
          <a:xfrm>
            <a:off x="1161288" y="4983479"/>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Data exposure</a:t>
            </a:r>
          </a:p>
          <a:p>
            <a:pPr algn="l">
              <a:spcAft>
                <a:spcPts val="400"/>
              </a:spcAft>
            </a:pPr>
            <a:r>
              <a:rPr sz="1400" b="0">
                <a:solidFill>
                  <a:srgbClr val="1C2B2E"/>
                </a:solidFill>
                <a:latin typeface="Calibri"/>
              </a:rPr>
              <a:t>Row Level Security blocks Supabase's public API</a:t>
            </a:r>
          </a:p>
        </p:txBody>
      </p:sp>
      <p:sp>
        <p:nvSpPr>
          <p:cNvPr id="19" name="Oval 18"/>
          <p:cNvSpPr/>
          <p:nvPr/>
        </p:nvSpPr>
        <p:spPr>
          <a:xfrm>
            <a:off x="6236208" y="5074919"/>
            <a:ext cx="411480" cy="411480"/>
          </a:xfrm>
          <a:prstGeom prst="ellipse">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8</a:t>
            </a:r>
          </a:p>
        </p:txBody>
      </p:sp>
      <p:sp>
        <p:nvSpPr>
          <p:cNvPr id="20" name="TextBox 19"/>
          <p:cNvSpPr txBox="1"/>
          <p:nvPr/>
        </p:nvSpPr>
        <p:spPr>
          <a:xfrm>
            <a:off x="6784848" y="4983479"/>
            <a:ext cx="4846320" cy="1188720"/>
          </a:xfrm>
          <a:prstGeom prst="rect">
            <a:avLst/>
          </a:prstGeom>
          <a:noFill/>
        </p:spPr>
        <p:txBody>
          <a:bodyPr wrap="square" anchor="t" lIns="45720" rIns="45720">
            <a:spAutoFit/>
          </a:bodyPr>
          <a:lstStyle/>
          <a:p>
            <a:pPr algn="l">
              <a:spcAft>
                <a:spcPts val="200"/>
              </a:spcAft>
            </a:pPr>
            <a:r>
              <a:rPr sz="1700" b="1">
                <a:solidFill>
                  <a:srgbClr val="2E5568"/>
                </a:solidFill>
                <a:latin typeface="Calibri"/>
              </a:rPr>
              <a:t>Fail-safe</a:t>
            </a:r>
          </a:p>
          <a:p>
            <a:pPr algn="l">
              <a:spcAft>
                <a:spcPts val="400"/>
              </a:spcAft>
            </a:pPr>
            <a:r>
              <a:rPr sz="1400" b="0">
                <a:solidFill>
                  <a:srgbClr val="1C2B2E"/>
                </a:solidFill>
                <a:latin typeface="Calibri"/>
              </a:rPr>
              <a:t>Chain unreachable → 'unavailable', never a false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Dataset: Karnataka Degree Registry</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TextBox 4"/>
          <p:cNvSpPr txBox="1"/>
          <p:nvPr/>
        </p:nvSpPr>
        <p:spPr>
          <a:xfrm>
            <a:off x="612648" y="1097280"/>
            <a:ext cx="210312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17</a:t>
            </a:r>
          </a:p>
        </p:txBody>
      </p:sp>
      <p:sp>
        <p:nvSpPr>
          <p:cNvPr id="6" name="TextBox 5"/>
          <p:cNvSpPr txBox="1"/>
          <p:nvPr/>
        </p:nvSpPr>
        <p:spPr>
          <a:xfrm>
            <a:off x="612648" y="1755648"/>
            <a:ext cx="210312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universities</a:t>
            </a:r>
          </a:p>
        </p:txBody>
      </p:sp>
      <p:sp>
        <p:nvSpPr>
          <p:cNvPr id="7" name="TextBox 6"/>
          <p:cNvSpPr txBox="1"/>
          <p:nvPr/>
        </p:nvSpPr>
        <p:spPr>
          <a:xfrm>
            <a:off x="2807208" y="1097280"/>
            <a:ext cx="210312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2,000</a:t>
            </a:r>
          </a:p>
        </p:txBody>
      </p:sp>
      <p:sp>
        <p:nvSpPr>
          <p:cNvPr id="8" name="TextBox 7"/>
          <p:cNvSpPr txBox="1"/>
          <p:nvPr/>
        </p:nvSpPr>
        <p:spPr>
          <a:xfrm>
            <a:off x="2807208" y="1755648"/>
            <a:ext cx="210312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students</a:t>
            </a:r>
          </a:p>
        </p:txBody>
      </p:sp>
      <p:sp>
        <p:nvSpPr>
          <p:cNvPr id="9" name="TextBox 8"/>
          <p:cNvSpPr txBox="1"/>
          <p:nvPr/>
        </p:nvSpPr>
        <p:spPr>
          <a:xfrm>
            <a:off x="5001768" y="1097280"/>
            <a:ext cx="210312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10,407</a:t>
            </a:r>
          </a:p>
        </p:txBody>
      </p:sp>
      <p:sp>
        <p:nvSpPr>
          <p:cNvPr id="10" name="TextBox 9"/>
          <p:cNvSpPr txBox="1"/>
          <p:nvPr/>
        </p:nvSpPr>
        <p:spPr>
          <a:xfrm>
            <a:off x="5001768" y="1755648"/>
            <a:ext cx="210312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semester results</a:t>
            </a:r>
          </a:p>
        </p:txBody>
      </p:sp>
      <p:sp>
        <p:nvSpPr>
          <p:cNvPr id="11" name="TextBox 10"/>
          <p:cNvSpPr txBox="1"/>
          <p:nvPr/>
        </p:nvSpPr>
        <p:spPr>
          <a:xfrm>
            <a:off x="7196328" y="1097280"/>
            <a:ext cx="210312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1,604</a:t>
            </a:r>
          </a:p>
        </p:txBody>
      </p:sp>
      <p:sp>
        <p:nvSpPr>
          <p:cNvPr id="12" name="TextBox 11"/>
          <p:cNvSpPr txBox="1"/>
          <p:nvPr/>
        </p:nvSpPr>
        <p:spPr>
          <a:xfrm>
            <a:off x="7196328" y="1755648"/>
            <a:ext cx="210312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degree certificates</a:t>
            </a:r>
          </a:p>
        </p:txBody>
      </p:sp>
      <p:sp>
        <p:nvSpPr>
          <p:cNvPr id="13" name="TextBox 12"/>
          <p:cNvSpPr txBox="1"/>
          <p:nvPr/>
        </p:nvSpPr>
        <p:spPr>
          <a:xfrm>
            <a:off x="9390888" y="1097280"/>
            <a:ext cx="210312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666</a:t>
            </a:r>
          </a:p>
        </p:txBody>
      </p:sp>
      <p:sp>
        <p:nvSpPr>
          <p:cNvPr id="14" name="TextBox 13"/>
          <p:cNvSpPr txBox="1"/>
          <p:nvPr/>
        </p:nvSpPr>
        <p:spPr>
          <a:xfrm>
            <a:off x="9390888" y="1755648"/>
            <a:ext cx="210312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labelled test cases</a:t>
            </a:r>
          </a:p>
        </p:txBody>
      </p:sp>
      <p:graphicFrame>
        <p:nvGraphicFramePr>
          <p:cNvPr id="15" name="Chart 14"/>
          <p:cNvGraphicFramePr>
            <a:graphicFrameLocks noGrp="1"/>
          </p:cNvGraphicFramePr>
          <p:nvPr/>
        </p:nvGraphicFramePr>
        <p:xfrm>
          <a:off x="612648" y="2514600"/>
          <a:ext cx="6035040" cy="3749039"/>
        </p:xfrm>
        <a:graphic>
          <a:graphicData uri="http://schemas.openxmlformats.org/drawingml/2006/chart">
            <c:chart xmlns:c="http://schemas.openxmlformats.org/drawingml/2006/chart" r:id="rId3"/>
          </a:graphicData>
        </a:graphic>
      </p:graphicFrame>
      <p:sp>
        <p:nvSpPr>
          <p:cNvPr id="16" name="Rounded Rectangle 15"/>
          <p:cNvSpPr/>
          <p:nvPr/>
        </p:nvSpPr>
        <p:spPr>
          <a:xfrm>
            <a:off x="6903720" y="2514600"/>
            <a:ext cx="4663440" cy="3749039"/>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624328"/>
            <a:ext cx="4389120" cy="3566159"/>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About the data</a:t>
            </a:r>
          </a:p>
          <a:p>
            <a:pPr algn="l" marL="228600" indent="-182880">
              <a:spcAft>
                <a:spcPts val="400"/>
              </a:spcAft>
              <a:buChar char="•"/>
            </a:pPr>
            <a:r>
              <a:rPr sz="1400" b="0">
                <a:solidFill>
                  <a:srgbClr val="1C2B2E"/>
                </a:solidFill>
                <a:latin typeface="Calibri"/>
              </a:rPr>
              <a:t>Synthetic records in the DigiLocker NAD layout; university names real, people not</a:t>
            </a:r>
          </a:p>
          <a:p>
            <a:pPr algn="l" marL="228600" indent="-182880">
              <a:spcAft>
                <a:spcPts val="400"/>
              </a:spcAft>
              <a:buChar char="•"/>
            </a:pPr>
            <a:r>
              <a:rPr sz="1400" b="0">
                <a:solidFill>
                  <a:srgbClr val="1C2B2E"/>
                </a:solidFill>
                <a:latin typeface="Calibri"/>
              </a:rPr>
              <a:t>Includes colleges, programs, enrollments and SGPA per semester</a:t>
            </a:r>
          </a:p>
          <a:p>
            <a:pPr algn="l" marL="228600" indent="-182880">
              <a:spcAft>
                <a:spcPts val="400"/>
              </a:spcAft>
              <a:buChar char="•"/>
            </a:pPr>
            <a:r>
              <a:rPr sz="1400" b="0">
                <a:solidFill>
                  <a:srgbClr val="1C2B2E"/>
                </a:solidFill>
                <a:latin typeface="Calibri"/>
              </a:rPr>
              <a:t>Not-valid certificates are revoked on-chain with the registry's reason</a:t>
            </a:r>
          </a:p>
          <a:p>
            <a:pPr algn="l" marL="228600" indent="-182880">
              <a:spcAft>
                <a:spcPts val="400"/>
              </a:spcAft>
              <a:buChar char="•"/>
            </a:pPr>
            <a:r>
              <a:rPr sz="1400" b="0">
                <a:solidFill>
                  <a:srgbClr val="1C2B2E"/>
                </a:solidFill>
                <a:latin typeface="Calibri"/>
              </a:rPr>
              <a:t>666 VALID / INVALID requests give ground truth for evaluation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Results: Cost, Storage and Accuracy</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graphicFrame>
        <p:nvGraphicFramePr>
          <p:cNvPr id="5" name="Chart 4"/>
          <p:cNvGraphicFramePr>
            <a:graphicFrameLocks noGrp="1"/>
          </p:cNvGraphicFramePr>
          <p:nvPr/>
        </p:nvGraphicFramePr>
        <p:xfrm>
          <a:off x="612648" y="1097280"/>
          <a:ext cx="6583680" cy="5120640"/>
        </p:xfrm>
        <a:graphic>
          <a:graphicData uri="http://schemas.openxmlformats.org/drawingml/2006/chart">
            <c:chart xmlns:c="http://schemas.openxmlformats.org/drawingml/2006/chart" r:id="rId3"/>
          </a:graphicData>
        </a:graphic>
      </p:graphicFrame>
      <p:sp>
        <p:nvSpPr>
          <p:cNvPr id="6" name="TextBox 5"/>
          <p:cNvSpPr txBox="1"/>
          <p:nvPr/>
        </p:nvSpPr>
        <p:spPr>
          <a:xfrm>
            <a:off x="7498079" y="1143000"/>
            <a:ext cx="201168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0.17%</a:t>
            </a:r>
          </a:p>
        </p:txBody>
      </p:sp>
      <p:sp>
        <p:nvSpPr>
          <p:cNvPr id="7" name="TextBox 6"/>
          <p:cNvSpPr txBox="1"/>
          <p:nvPr/>
        </p:nvSpPr>
        <p:spPr>
          <a:xfrm>
            <a:off x="7498079" y="1801368"/>
            <a:ext cx="201168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per credential, 500-batch vs single</a:t>
            </a:r>
          </a:p>
        </p:txBody>
      </p:sp>
      <p:sp>
        <p:nvSpPr>
          <p:cNvPr id="8" name="TextBox 7"/>
          <p:cNvSpPr txBox="1"/>
          <p:nvPr/>
        </p:nvSpPr>
        <p:spPr>
          <a:xfrm>
            <a:off x="9601200" y="1143000"/>
            <a:ext cx="201168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128 B</a:t>
            </a:r>
          </a:p>
        </p:txBody>
      </p:sp>
      <p:sp>
        <p:nvSpPr>
          <p:cNvPr id="9" name="TextBox 8"/>
          <p:cNvSpPr txBox="1"/>
          <p:nvPr/>
        </p:nvSpPr>
        <p:spPr>
          <a:xfrm>
            <a:off x="9601200" y="1801368"/>
            <a:ext cx="201168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on-chain per credential (fixed)</a:t>
            </a:r>
          </a:p>
        </p:txBody>
      </p:sp>
      <p:sp>
        <p:nvSpPr>
          <p:cNvPr id="10" name="TextBox 9"/>
          <p:cNvSpPr txBox="1"/>
          <p:nvPr/>
        </p:nvSpPr>
        <p:spPr>
          <a:xfrm>
            <a:off x="7498079" y="2697480"/>
            <a:ext cx="201168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100%</a:t>
            </a:r>
          </a:p>
        </p:txBody>
      </p:sp>
      <p:sp>
        <p:nvSpPr>
          <p:cNvPr id="11" name="TextBox 10"/>
          <p:cNvSpPr txBox="1"/>
          <p:nvPr/>
        </p:nvSpPr>
        <p:spPr>
          <a:xfrm>
            <a:off x="7498079" y="3355848"/>
            <a:ext cx="201168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genuine certificates verified (50/50)</a:t>
            </a:r>
          </a:p>
        </p:txBody>
      </p:sp>
      <p:sp>
        <p:nvSpPr>
          <p:cNvPr id="12" name="TextBox 11"/>
          <p:cNvSpPr txBox="1"/>
          <p:nvPr/>
        </p:nvSpPr>
        <p:spPr>
          <a:xfrm>
            <a:off x="9601200" y="2697480"/>
            <a:ext cx="2011680" cy="685800"/>
          </a:xfrm>
          <a:prstGeom prst="rect">
            <a:avLst/>
          </a:prstGeom>
          <a:noFill/>
        </p:spPr>
        <p:txBody>
          <a:bodyPr wrap="square" anchor="t" lIns="45720" rIns="45720">
            <a:spAutoFit/>
          </a:bodyPr>
          <a:lstStyle/>
          <a:p>
            <a:pPr algn="ctr">
              <a:spcAft>
                <a:spcPts val="400"/>
              </a:spcAft>
            </a:pPr>
            <a:r>
              <a:rPr sz="3600" b="1">
                <a:solidFill>
                  <a:srgbClr val="2E5568"/>
                </a:solidFill>
                <a:latin typeface="Calibri"/>
              </a:rPr>
              <a:t>100%</a:t>
            </a:r>
          </a:p>
        </p:txBody>
      </p:sp>
      <p:sp>
        <p:nvSpPr>
          <p:cNvPr id="13" name="TextBox 12"/>
          <p:cNvSpPr txBox="1"/>
          <p:nvPr/>
        </p:nvSpPr>
        <p:spPr>
          <a:xfrm>
            <a:off x="9601200" y="3355848"/>
            <a:ext cx="2011680" cy="548640"/>
          </a:xfrm>
          <a:prstGeom prst="rect">
            <a:avLst/>
          </a:prstGeom>
          <a:noFill/>
        </p:spPr>
        <p:txBody>
          <a:bodyPr wrap="square" anchor="t" lIns="45720" rIns="45720">
            <a:spAutoFit/>
          </a:bodyPr>
          <a:lstStyle/>
          <a:p>
            <a:pPr algn="ctr">
              <a:spcAft>
                <a:spcPts val="400"/>
              </a:spcAft>
            </a:pPr>
            <a:r>
              <a:rPr sz="1300" b="0">
                <a:solidFill>
                  <a:srgbClr val="57696E"/>
                </a:solidFill>
                <a:latin typeface="Calibri"/>
              </a:rPr>
              <a:t>1-byte forgeries caught (50/50)</a:t>
            </a:r>
          </a:p>
        </p:txBody>
      </p:sp>
      <p:sp>
        <p:nvSpPr>
          <p:cNvPr id="14" name="TextBox 13"/>
          <p:cNvSpPr txBox="1"/>
          <p:nvPr/>
        </p:nvSpPr>
        <p:spPr>
          <a:xfrm>
            <a:off x="7498079" y="4343400"/>
            <a:ext cx="4114800" cy="1920240"/>
          </a:xfrm>
          <a:prstGeom prst="rect">
            <a:avLst/>
          </a:prstGeom>
          <a:noFill/>
        </p:spPr>
        <p:txBody>
          <a:bodyPr wrap="square" anchor="t" lIns="45720" rIns="45720">
            <a:spAutoFit/>
          </a:bodyPr>
          <a:lstStyle/>
          <a:p>
            <a:pPr algn="l">
              <a:spcAft>
                <a:spcPts val="400"/>
              </a:spcAft>
            </a:pPr>
            <a:r>
              <a:rPr sz="1400" b="1">
                <a:solidFill>
                  <a:srgbClr val="2E5568"/>
                </a:solidFill>
                <a:latin typeface="Calibri"/>
              </a:rPr>
              <a:t>Measured with npm run benchmark (Hardhat EVM):</a:t>
            </a:r>
          </a:p>
          <a:p>
            <a:pPr algn="l" marL="228600" indent="-182880">
              <a:spcAft>
                <a:spcPts val="400"/>
              </a:spcAft>
              <a:buChar char="•"/>
            </a:pPr>
            <a:r>
              <a:rPr sz="1400" b="0">
                <a:solidFill>
                  <a:srgbClr val="1C2B2E"/>
                </a:solidFill>
                <a:latin typeface="Calibri"/>
              </a:rPr>
              <a:t>Issue ≈ 125k gas, revoke ≈ 45k gas, verify free</a:t>
            </a:r>
          </a:p>
          <a:p>
            <a:pPr algn="l" marL="228600" indent="-182880">
              <a:spcAft>
                <a:spcPts val="400"/>
              </a:spcAft>
              <a:buChar char="•"/>
            </a:pPr>
            <a:r>
              <a:rPr sz="1400" b="0">
                <a:solidFill>
                  <a:srgbClr val="1C2B2E"/>
                </a:solidFill>
                <a:latin typeface="Calibri"/>
              </a:rPr>
              <a:t>Verify by ID or PDF ≈ 1.5 ms on the local stack</a:t>
            </a:r>
          </a:p>
          <a:p>
            <a:pPr algn="l" marL="228600" indent="-182880">
              <a:spcAft>
                <a:spcPts val="400"/>
              </a:spcAft>
              <a:buChar char="•"/>
            </a:pPr>
            <a:r>
              <a:rPr sz="1400" b="0">
                <a:solidFill>
                  <a:srgbClr val="1C2B2E"/>
                </a:solidFill>
                <a:latin typeface="Calibri"/>
              </a:rPr>
              <a:t>Revoked credentials reported as revoked: 10/10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Results and Discussion</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Rounded Rectangle 4"/>
          <p:cNvSpPr/>
          <p:nvPr/>
        </p:nvSpPr>
        <p:spPr>
          <a:xfrm>
            <a:off x="612648" y="1097280"/>
            <a:ext cx="5394960" cy="51206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07007"/>
            <a:ext cx="5120640" cy="4937759"/>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Results</a:t>
            </a:r>
          </a:p>
          <a:p>
            <a:pPr algn="l" marL="228600" indent="-182880">
              <a:spcAft>
                <a:spcPts val="400"/>
              </a:spcAft>
              <a:buChar char="•"/>
            </a:pPr>
            <a:r>
              <a:rPr sz="1500" b="0">
                <a:solidFill>
                  <a:srgbClr val="1C2B2E"/>
                </a:solidFill>
                <a:latin typeface="Calibri"/>
              </a:rPr>
              <a:t>All 10 Review-1 scenarios pass as automated end-to-end tests</a:t>
            </a:r>
          </a:p>
          <a:p>
            <a:pPr algn="l" marL="228600" indent="-182880">
              <a:spcAft>
                <a:spcPts val="400"/>
              </a:spcAft>
              <a:buChar char="•"/>
            </a:pPr>
            <a:r>
              <a:rPr sz="1500" b="0">
                <a:solidFill>
                  <a:srgbClr val="1C2B2E"/>
                </a:solidFill>
                <a:latin typeface="Calibri"/>
              </a:rPr>
              <a:t>71 automated tests: contract, Merkle batches, security, PostgreSQL</a:t>
            </a:r>
          </a:p>
          <a:p>
            <a:pPr algn="l" marL="228600" indent="-182880">
              <a:spcAft>
                <a:spcPts val="400"/>
              </a:spcAft>
              <a:buChar char="•"/>
            </a:pPr>
            <a:r>
              <a:rPr sz="1500" b="0">
                <a:solidFill>
                  <a:srgbClr val="1C2B2E"/>
                </a:solidFill>
                <a:latin typeface="Calibri"/>
              </a:rPr>
              <a:t>1,604 Karnataka certificates anchored on Sepolia in 17 transactions</a:t>
            </a:r>
          </a:p>
          <a:p>
            <a:pPr algn="l" marL="228600" indent="-182880">
              <a:spcAft>
                <a:spcPts val="400"/>
              </a:spcAft>
              <a:buChar char="•"/>
            </a:pPr>
            <a:r>
              <a:rPr sz="1500" b="0">
                <a:solidFill>
                  <a:srgbClr val="1C2B2E"/>
                </a:solidFill>
                <a:latin typeface="Calibri"/>
              </a:rPr>
              <a:t>Each university signs with its own authorised wallet</a:t>
            </a:r>
          </a:p>
          <a:p>
            <a:pPr algn="l" marL="228600" indent="-182880">
              <a:spcAft>
                <a:spcPts val="400"/>
              </a:spcAft>
              <a:buChar char="•"/>
            </a:pPr>
            <a:r>
              <a:rPr sz="1500" b="0">
                <a:solidFill>
                  <a:srgbClr val="1C2B2E"/>
                </a:solidFill>
                <a:latin typeface="Calibri"/>
              </a:rPr>
              <a:t>Suspending a university makes its credentials fail verification</a:t>
            </a:r>
          </a:p>
          <a:p>
            <a:pPr algn="l" marL="228600" indent="-182880">
              <a:spcAft>
                <a:spcPts val="400"/>
              </a:spcAft>
              <a:buChar char="•"/>
            </a:pPr>
            <a:r>
              <a:rPr sz="1500" b="0">
                <a:solidFill>
                  <a:srgbClr val="1C2B2E"/>
                </a:solidFill>
                <a:latin typeface="Calibri"/>
              </a:rPr>
              <a:t>System fails safe when the blockchain is unreachable</a:t>
            </a:r>
          </a:p>
        </p:txBody>
      </p:sp>
      <p:sp>
        <p:nvSpPr>
          <p:cNvPr id="7" name="Rounded Rectangle 6"/>
          <p:cNvSpPr/>
          <p:nvPr/>
        </p:nvSpPr>
        <p:spPr>
          <a:xfrm>
            <a:off x="6190488" y="1097280"/>
            <a:ext cx="5394960" cy="5120640"/>
          </a:xfrm>
          <a:prstGeom prst="roundRect">
            <a:avLst>
              <a:gd name="adj" fmla="val 6000"/>
            </a:avLst>
          </a:prstGeom>
          <a:solidFill>
            <a:srgbClr val="F7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1207007"/>
            <a:ext cx="5120640" cy="4937759"/>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Discussion</a:t>
            </a:r>
          </a:p>
          <a:p>
            <a:pPr algn="l" marL="228600" indent="-182880">
              <a:spcAft>
                <a:spcPts val="400"/>
              </a:spcAft>
              <a:buChar char="•"/>
            </a:pPr>
            <a:r>
              <a:rPr sz="1500" b="0">
                <a:solidFill>
                  <a:srgbClr val="1C2B2E"/>
                </a:solidFill>
                <a:latin typeface="Calibri"/>
              </a:rPr>
              <a:t>Confirms the literature: hash-anchored, off-chain-data design gives tamper evidence cheaply</a:t>
            </a:r>
          </a:p>
          <a:p>
            <a:pPr algn="l" marL="228600" indent="-182880">
              <a:spcAft>
                <a:spcPts val="400"/>
              </a:spcAft>
              <a:buChar char="•"/>
            </a:pPr>
            <a:r>
              <a:rPr sz="1500" b="0">
                <a:solidFill>
                  <a:srgbClr val="1C2B2E"/>
                </a:solidFill>
                <a:latin typeface="Calibri"/>
              </a:rPr>
              <a:t>Merkle batching (future work in Review 1) now cuts per-credential cost by 99%+</a:t>
            </a:r>
          </a:p>
          <a:p>
            <a:pPr algn="l" marL="228600" indent="-182880">
              <a:spcAft>
                <a:spcPts val="400"/>
              </a:spcAft>
              <a:buChar char="•"/>
            </a:pPr>
            <a:r>
              <a:rPr sz="1500" b="0">
                <a:solidFill>
                  <a:srgbClr val="1C2B2E"/>
                </a:solidFill>
                <a:latin typeface="Calibri"/>
              </a:rPr>
              <a:t>Public testnet confirmations (~12 s) affect issuance only; verification stays instant</a:t>
            </a:r>
          </a:p>
          <a:p>
            <a:pPr algn="l" marL="228600" indent="-182880">
              <a:spcAft>
                <a:spcPts val="400"/>
              </a:spcAft>
              <a:buChar char="•"/>
            </a:pPr>
            <a:r>
              <a:rPr sz="1500" b="0">
                <a:solidFill>
                  <a:srgbClr val="1C2B2E"/>
                </a:solidFill>
                <a:latin typeface="Calibri"/>
              </a:rPr>
              <a:t>OCR/NLP content checks and IPFS storage remain future 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Deployment</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graphicFrame>
        <p:nvGraphicFramePr>
          <p:cNvPr id="5" name="Table 4"/>
          <p:cNvGraphicFramePr>
            <a:graphicFrameLocks noGrp="1"/>
          </p:cNvGraphicFramePr>
          <p:nvPr/>
        </p:nvGraphicFramePr>
        <p:xfrm>
          <a:off x="612648" y="1097280"/>
          <a:ext cx="10972800" cy="3401568"/>
        </p:xfrm>
        <a:graphic>
          <a:graphicData uri="http://schemas.openxmlformats.org/drawingml/2006/table">
            <a:tbl>
              <a:tblPr firstRow="1" bandRow="1">
                <a:tableStyleId>{5C22544A-7EE6-4342-B048-85BDC9FD1C3A}</a:tableStyleId>
              </a:tblPr>
              <a:tblGrid>
                <a:gridCol w="2377440"/>
                <a:gridCol w="3566160"/>
                <a:gridCol w="5029200"/>
              </a:tblGrid>
              <a:tr h="566928">
                <a:tc>
                  <a:txBody>
                    <a:bodyPr/>
                    <a:lstStyle/>
                    <a:p>
                      <a:r>
                        <a:rPr sz="1400" b="1">
                          <a:solidFill>
                            <a:srgbClr val="FFFFFF"/>
                          </a:solidFill>
                          <a:latin typeface="Calibri"/>
                        </a:rPr>
                        <a:t>Component</a:t>
                      </a:r>
                    </a:p>
                  </a:txBody>
                  <a:tcPr marL="73152" marR="73152" anchor="ctr">
                    <a:solidFill>
                      <a:srgbClr val="2E5568"/>
                    </a:solidFill>
                  </a:tcPr>
                </a:tc>
                <a:tc>
                  <a:txBody>
                    <a:bodyPr/>
                    <a:lstStyle/>
                    <a:p>
                      <a:r>
                        <a:rPr sz="1400" b="1">
                          <a:solidFill>
                            <a:srgbClr val="FFFFFF"/>
                          </a:solidFill>
                          <a:latin typeface="Calibri"/>
                        </a:rPr>
                        <a:t>Where it runs</a:t>
                      </a:r>
                    </a:p>
                  </a:txBody>
                  <a:tcPr marL="73152" marR="73152" anchor="ctr">
                    <a:solidFill>
                      <a:srgbClr val="2E5568"/>
                    </a:solidFill>
                  </a:tcPr>
                </a:tc>
                <a:tc>
                  <a:txBody>
                    <a:bodyPr/>
                    <a:lstStyle/>
                    <a:p>
                      <a:r>
                        <a:rPr sz="1400" b="1">
                          <a:solidFill>
                            <a:srgbClr val="FFFFFF"/>
                          </a:solidFill>
                          <a:latin typeface="Calibri"/>
                        </a:rPr>
                        <a:t>Address / detail</a:t>
                      </a:r>
                    </a:p>
                  </a:txBody>
                  <a:tcPr marL="73152" marR="73152" anchor="ctr">
                    <a:solidFill>
                      <a:srgbClr val="2E5568"/>
                    </a:solidFill>
                  </a:tcPr>
                </a:tc>
              </a:tr>
              <a:tr h="566928">
                <a:tc>
                  <a:txBody>
                    <a:bodyPr/>
                    <a:lstStyle/>
                    <a:p>
                      <a:r>
                        <a:rPr sz="1400" b="1">
                          <a:solidFill>
                            <a:srgbClr val="1C2B2E"/>
                          </a:solidFill>
                          <a:latin typeface="Calibri"/>
                        </a:rPr>
                        <a:t>Frontend + API</a:t>
                      </a:r>
                    </a:p>
                  </a:txBody>
                  <a:tcPr marL="73152" marR="73152" anchor="ctr">
                    <a:solidFill>
                      <a:srgbClr val="FFFFFF"/>
                    </a:solidFill>
                  </a:tcPr>
                </a:tc>
                <a:tc>
                  <a:txBody>
                    <a:bodyPr/>
                    <a:lstStyle/>
                    <a:p>
                      <a:r>
                        <a:rPr sz="1400" b="0">
                          <a:solidFill>
                            <a:srgbClr val="1C2B2E"/>
                          </a:solidFill>
                          <a:latin typeface="Calibri"/>
                        </a:rPr>
                        <a:t>Vercel (serverless function)</a:t>
                      </a:r>
                    </a:p>
                  </a:txBody>
                  <a:tcPr marL="73152" marR="73152" anchor="ctr">
                    <a:solidFill>
                      <a:srgbClr val="FFFFFF"/>
                    </a:solidFill>
                  </a:tcPr>
                </a:tc>
                <a:tc>
                  <a:txBody>
                    <a:bodyPr/>
                    <a:lstStyle/>
                    <a:p>
                      <a:r>
                        <a:rPr sz="1400" b="0">
                          <a:solidFill>
                            <a:srgbClr val="1C2B2E"/>
                          </a:solidFill>
                          <a:latin typeface="Calibri"/>
                        </a:rPr>
                        <a:t>https://blockchain-ecru-three.vercel.app</a:t>
                      </a:r>
                    </a:p>
                  </a:txBody>
                  <a:tcPr marL="73152" marR="73152" anchor="ctr">
                    <a:solidFill>
                      <a:srgbClr val="FFFFFF"/>
                    </a:solidFill>
                  </a:tcPr>
                </a:tc>
              </a:tr>
              <a:tr h="566928">
                <a:tc>
                  <a:txBody>
                    <a:bodyPr/>
                    <a:lstStyle/>
                    <a:p>
                      <a:r>
                        <a:rPr sz="1400" b="1">
                          <a:solidFill>
                            <a:srgbClr val="1C2B2E"/>
                          </a:solidFill>
                          <a:latin typeface="Calibri"/>
                        </a:rPr>
                        <a:t>Smart contract</a:t>
                      </a:r>
                    </a:p>
                  </a:txBody>
                  <a:tcPr marL="73152" marR="73152" anchor="ctr">
                    <a:solidFill>
                      <a:srgbClr val="E8EFF2"/>
                    </a:solidFill>
                  </a:tcPr>
                </a:tc>
                <a:tc>
                  <a:txBody>
                    <a:bodyPr/>
                    <a:lstStyle/>
                    <a:p>
                      <a:r>
                        <a:rPr sz="1400" b="0">
                          <a:solidFill>
                            <a:srgbClr val="1C2B2E"/>
                          </a:solidFill>
                          <a:latin typeface="Calibri"/>
                        </a:rPr>
                        <a:t>Ethereum Sepolia testnet</a:t>
                      </a:r>
                    </a:p>
                  </a:txBody>
                  <a:tcPr marL="73152" marR="73152" anchor="ctr">
                    <a:solidFill>
                      <a:srgbClr val="E8EFF2"/>
                    </a:solidFill>
                  </a:tcPr>
                </a:tc>
                <a:tc>
                  <a:txBody>
                    <a:bodyPr/>
                    <a:lstStyle/>
                    <a:p>
                      <a:r>
                        <a:rPr sz="1400" b="0">
                          <a:solidFill>
                            <a:srgbClr val="1C2B2E"/>
                          </a:solidFill>
                          <a:latin typeface="Calibri"/>
                        </a:rPr>
                        <a:t>0xA34BE0F943de87b2414da6Ea44A49c2bb8d5B37a</a:t>
                      </a:r>
                    </a:p>
                  </a:txBody>
                  <a:tcPr marL="73152" marR="73152" anchor="ctr">
                    <a:solidFill>
                      <a:srgbClr val="E8EFF2"/>
                    </a:solidFill>
                  </a:tcPr>
                </a:tc>
              </a:tr>
              <a:tr h="566928">
                <a:tc>
                  <a:txBody>
                    <a:bodyPr/>
                    <a:lstStyle/>
                    <a:p>
                      <a:r>
                        <a:rPr sz="1400" b="1">
                          <a:solidFill>
                            <a:srgbClr val="1C2B2E"/>
                          </a:solidFill>
                          <a:latin typeface="Calibri"/>
                        </a:rPr>
                        <a:t>Database</a:t>
                      </a:r>
                    </a:p>
                  </a:txBody>
                  <a:tcPr marL="73152" marR="73152" anchor="ctr">
                    <a:solidFill>
                      <a:srgbClr val="FFFFFF"/>
                    </a:solidFill>
                  </a:tcPr>
                </a:tc>
                <a:tc>
                  <a:txBody>
                    <a:bodyPr/>
                    <a:lstStyle/>
                    <a:p>
                      <a:r>
                        <a:rPr sz="1400" b="0">
                          <a:solidFill>
                            <a:srgbClr val="1C2B2E"/>
                          </a:solidFill>
                          <a:latin typeface="Calibri"/>
                        </a:rPr>
                        <a:t>Supabase PostgreSQL 17 (Tokyo)</a:t>
                      </a:r>
                    </a:p>
                  </a:txBody>
                  <a:tcPr marL="73152" marR="73152" anchor="ctr">
                    <a:solidFill>
                      <a:srgbClr val="FFFFFF"/>
                    </a:solidFill>
                  </a:tcPr>
                </a:tc>
                <a:tc>
                  <a:txBody>
                    <a:bodyPr/>
                    <a:lstStyle/>
                    <a:p>
                      <a:r>
                        <a:rPr sz="1400" b="0">
                          <a:solidFill>
                            <a:srgbClr val="1C2B2E"/>
                          </a:solidFill>
                          <a:latin typeface="Calibri"/>
                        </a:rPr>
                        <a:t>Session pooler, verified TLS, RLS on all tables</a:t>
                      </a:r>
                    </a:p>
                  </a:txBody>
                  <a:tcPr marL="73152" marR="73152" anchor="ctr">
                    <a:solidFill>
                      <a:srgbClr val="FFFFFF"/>
                    </a:solidFill>
                  </a:tcPr>
                </a:tc>
              </a:tr>
              <a:tr h="566928">
                <a:tc>
                  <a:txBody>
                    <a:bodyPr/>
                    <a:lstStyle/>
                    <a:p>
                      <a:r>
                        <a:rPr sz="1400" b="1">
                          <a:solidFill>
                            <a:srgbClr val="1C2B2E"/>
                          </a:solidFill>
                          <a:latin typeface="Calibri"/>
                        </a:rPr>
                        <a:t>Source code</a:t>
                      </a:r>
                    </a:p>
                  </a:txBody>
                  <a:tcPr marL="73152" marR="73152" anchor="ctr">
                    <a:solidFill>
                      <a:srgbClr val="E8EFF2"/>
                    </a:solidFill>
                  </a:tcPr>
                </a:tc>
                <a:tc>
                  <a:txBody>
                    <a:bodyPr/>
                    <a:lstStyle/>
                    <a:p>
                      <a:r>
                        <a:rPr sz="1400" b="0">
                          <a:solidFill>
                            <a:srgbClr val="1C2B2E"/>
                          </a:solidFill>
                          <a:latin typeface="Calibri"/>
                        </a:rPr>
                        <a:t>GitHub</a:t>
                      </a:r>
                    </a:p>
                  </a:txBody>
                  <a:tcPr marL="73152" marR="73152" anchor="ctr">
                    <a:solidFill>
                      <a:srgbClr val="E8EFF2"/>
                    </a:solidFill>
                  </a:tcPr>
                </a:tc>
                <a:tc>
                  <a:txBody>
                    <a:bodyPr/>
                    <a:lstStyle/>
                    <a:p>
                      <a:r>
                        <a:rPr sz="1400" b="0">
                          <a:solidFill>
                            <a:srgbClr val="1C2B2E"/>
                          </a:solidFill>
                          <a:latin typeface="Calibri"/>
                        </a:rPr>
                        <a:t>github.com/anilkumaruk/blockchain (branch review-2)</a:t>
                      </a:r>
                    </a:p>
                  </a:txBody>
                  <a:tcPr marL="73152" marR="73152" anchor="ctr">
                    <a:solidFill>
                      <a:srgbClr val="E8EFF2"/>
                    </a:solidFill>
                  </a:tcPr>
                </a:tc>
              </a:tr>
              <a:tr h="566928">
                <a:tc>
                  <a:txBody>
                    <a:bodyPr/>
                    <a:lstStyle/>
                    <a:p>
                      <a:r>
                        <a:rPr sz="1400" b="1">
                          <a:solidFill>
                            <a:srgbClr val="1C2B2E"/>
                          </a:solidFill>
                          <a:latin typeface="Calibri"/>
                        </a:rPr>
                        <a:t>Secrets</a:t>
                      </a:r>
                    </a:p>
                  </a:txBody>
                  <a:tcPr marL="73152" marR="73152" anchor="ctr">
                    <a:solidFill>
                      <a:srgbClr val="FFFFFF"/>
                    </a:solidFill>
                  </a:tcPr>
                </a:tc>
                <a:tc>
                  <a:txBody>
                    <a:bodyPr/>
                    <a:lstStyle/>
                    <a:p>
                      <a:r>
                        <a:rPr sz="1400" b="0">
                          <a:solidFill>
                            <a:srgbClr val="1C2B2E"/>
                          </a:solidFill>
                          <a:latin typeface="Calibri"/>
                        </a:rPr>
                        <a:t>Vercel environment variables</a:t>
                      </a:r>
                    </a:p>
                  </a:txBody>
                  <a:tcPr marL="73152" marR="73152" anchor="ctr">
                    <a:solidFill>
                      <a:srgbClr val="FFFFFF"/>
                    </a:solidFill>
                  </a:tcPr>
                </a:tc>
                <a:tc>
                  <a:txBody>
                    <a:bodyPr/>
                    <a:lstStyle/>
                    <a:p>
                      <a:r>
                        <a:rPr sz="1400" b="0">
                          <a:solidFill>
                            <a:srgbClr val="1C2B2E"/>
                          </a:solidFill>
                          <a:latin typeface="Calibri"/>
                        </a:rPr>
                        <a:t>Never in code or git; private keys entered by the team</a:t>
                      </a:r>
                    </a:p>
                  </a:txBody>
                  <a:tcPr marL="73152" marR="73152" anchor="ctr">
                    <a:solidFill>
                      <a:srgbClr val="FFFFFF"/>
                    </a:solidFill>
                  </a:tcPr>
                </a:tc>
              </a:tr>
            </a:tbl>
          </a:graphicData>
        </a:graphic>
      </p:graphicFrame>
      <p:sp>
        <p:nvSpPr>
          <p:cNvPr id="6" name="Rounded Rectangle 5"/>
          <p:cNvSpPr/>
          <p:nvPr/>
        </p:nvSpPr>
        <p:spPr>
          <a:xfrm>
            <a:off x="612648" y="4709160"/>
            <a:ext cx="10972800" cy="150876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4818888"/>
            <a:ext cx="10698480" cy="132588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Roles available on the live system</a:t>
            </a:r>
          </a:p>
          <a:p>
            <a:pPr algn="l" marL="228600" indent="-182880">
              <a:spcAft>
                <a:spcPts val="400"/>
              </a:spcAft>
              <a:buChar char="•"/>
            </a:pPr>
            <a:r>
              <a:rPr sz="1500" b="0">
                <a:solidFill>
                  <a:srgbClr val="1C2B2E"/>
                </a:solidFill>
                <a:latin typeface="Calibri"/>
              </a:rPr>
              <a:t>Platform admin (Alliance University) · 4 university registrars · 15 students across 15 universities · public verifier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Novelty of the Proposed Idea</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Rounded Rectangle 4"/>
          <p:cNvSpPr/>
          <p:nvPr/>
        </p:nvSpPr>
        <p:spPr>
          <a:xfrm>
            <a:off x="612648" y="1143000"/>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5272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Minimal on-chain footprint</a:t>
            </a:r>
          </a:p>
          <a:p>
            <a:pPr algn="l" marL="228600" indent="-182880">
              <a:spcAft>
                <a:spcPts val="400"/>
              </a:spcAft>
              <a:buChar char="•"/>
            </a:pPr>
            <a:r>
              <a:rPr sz="1500" b="0">
                <a:solidFill>
                  <a:srgbClr val="1C2B2E"/>
                </a:solidFill>
                <a:latin typeface="Calibri"/>
              </a:rPr>
              <a:t>Hash + issuer + status only; no personal data on-chain</a:t>
            </a:r>
          </a:p>
        </p:txBody>
      </p:sp>
      <p:sp>
        <p:nvSpPr>
          <p:cNvPr id="7" name="Rounded Rectangle 6"/>
          <p:cNvSpPr/>
          <p:nvPr/>
        </p:nvSpPr>
        <p:spPr>
          <a:xfrm>
            <a:off x="4343400" y="1143000"/>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25272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Per-university trust</a:t>
            </a:r>
          </a:p>
          <a:p>
            <a:pPr algn="l" marL="228600" indent="-182880">
              <a:spcAft>
                <a:spcPts val="400"/>
              </a:spcAft>
              <a:buChar char="•"/>
            </a:pPr>
            <a:r>
              <a:rPr sz="1500" b="0">
                <a:solidFill>
                  <a:srgbClr val="1C2B2E"/>
                </a:solidFill>
                <a:latin typeface="Calibri"/>
              </a:rPr>
              <a:t>Each university signs with its own on-chain identity</a:t>
            </a:r>
          </a:p>
        </p:txBody>
      </p:sp>
      <p:sp>
        <p:nvSpPr>
          <p:cNvPr id="9" name="Rounded Rectangle 8"/>
          <p:cNvSpPr/>
          <p:nvPr/>
        </p:nvSpPr>
        <p:spPr>
          <a:xfrm>
            <a:off x="8074152" y="1143000"/>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25272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Batch anchoring</a:t>
            </a:r>
          </a:p>
          <a:p>
            <a:pPr algn="l" marL="228600" indent="-182880">
              <a:spcAft>
                <a:spcPts val="400"/>
              </a:spcAft>
              <a:buChar char="•"/>
            </a:pPr>
            <a:r>
              <a:rPr sz="1500" b="0">
                <a:solidFill>
                  <a:srgbClr val="1C2B2E"/>
                </a:solidFill>
                <a:latin typeface="Calibri"/>
              </a:rPr>
              <a:t>A whole graduating class in one Merkle-root transaction</a:t>
            </a:r>
          </a:p>
        </p:txBody>
      </p:sp>
      <p:sp>
        <p:nvSpPr>
          <p:cNvPr id="11" name="Rounded Rectangle 10"/>
          <p:cNvSpPr/>
          <p:nvPr/>
        </p:nvSpPr>
        <p:spPr>
          <a:xfrm>
            <a:off x="612648" y="3749039"/>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85876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Two-sided integrity</a:t>
            </a:r>
          </a:p>
          <a:p>
            <a:pPr algn="l" marL="228600" indent="-182880">
              <a:spcAft>
                <a:spcPts val="400"/>
              </a:spcAft>
              <a:buChar char="•"/>
            </a:pPr>
            <a:r>
              <a:rPr sz="1500" b="0">
                <a:solidFill>
                  <a:srgbClr val="1C2B2E"/>
                </a:solidFill>
                <a:latin typeface="Calibri"/>
              </a:rPr>
              <a:t>Chain checks the document; the record is checked against the chain</a:t>
            </a:r>
          </a:p>
        </p:txBody>
      </p:sp>
      <p:sp>
        <p:nvSpPr>
          <p:cNvPr id="13" name="Rounded Rectangle 12"/>
          <p:cNvSpPr/>
          <p:nvPr/>
        </p:nvSpPr>
        <p:spPr>
          <a:xfrm>
            <a:off x="4343400" y="3749039"/>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85876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Auditable revocation</a:t>
            </a:r>
          </a:p>
          <a:p>
            <a:pPr algn="l" marL="228600" indent="-182880">
              <a:spcAft>
                <a:spcPts val="400"/>
              </a:spcAft>
              <a:buChar char="•"/>
            </a:pPr>
            <a:r>
              <a:rPr sz="1500" b="0">
                <a:solidFill>
                  <a:srgbClr val="1C2B2E"/>
                </a:solidFill>
                <a:latin typeface="Calibri"/>
              </a:rPr>
              <a:t>State change with reason hash; never deletion</a:t>
            </a:r>
          </a:p>
        </p:txBody>
      </p:sp>
      <p:sp>
        <p:nvSpPr>
          <p:cNvPr id="15" name="Rounded Rectangle 14"/>
          <p:cNvSpPr/>
          <p:nvPr/>
        </p:nvSpPr>
        <p:spPr>
          <a:xfrm>
            <a:off x="8074152" y="3749039"/>
            <a:ext cx="3520440" cy="23774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858768"/>
            <a:ext cx="3246120" cy="2194560"/>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Complete, deployed system</a:t>
            </a:r>
          </a:p>
          <a:p>
            <a:pPr algn="l" marL="228600" indent="-182880">
              <a:spcAft>
                <a:spcPts val="400"/>
              </a:spcAft>
              <a:buChar char="•"/>
            </a:pPr>
            <a:r>
              <a:rPr sz="1500" b="0">
                <a:solidFill>
                  <a:srgbClr val="1C2B2E"/>
                </a:solidFill>
                <a:latin typeface="Calibri"/>
              </a:rPr>
              <a:t>All three roles live on Vercel, Supabase and Sepolia</a:t>
            </a:r>
          </a:p>
        </p:txBody>
      </p:sp>
      <p:sp>
        <p:nvSpPr>
          <p:cNvPr id="17" name="TextBox 16"/>
          <p:cNvSpPr txBox="1"/>
          <p:nvPr/>
        </p:nvSpPr>
        <p:spPr>
          <a:xfrm>
            <a:off x="612648" y="6355080"/>
            <a:ext cx="10972800" cy="365760"/>
          </a:xfrm>
          <a:prstGeom prst="rect">
            <a:avLst/>
          </a:prstGeom>
          <a:noFill/>
        </p:spPr>
        <p:txBody>
          <a:bodyPr wrap="square" anchor="t" lIns="45720" rIns="45720">
            <a:spAutoFit/>
          </a:bodyPr>
          <a:lstStyle/>
          <a:p>
            <a:pPr algn="l">
              <a:spcAft>
                <a:spcPts val="400"/>
              </a:spcAft>
            </a:pPr>
            <a:r>
              <a:rPr sz="1300" b="0">
                <a:solidFill>
                  <a:srgbClr val="57696E"/>
                </a:solidFill>
                <a:latin typeface="Calibri"/>
              </a:rPr>
              <a:t>The novelty is the integrated, deployable design, not a new blockchain primitive.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28600"/>
            <a:ext cx="8046720" cy="566928"/>
          </a:xfrm>
        </p:spPr>
        <p:txBody>
          <a:bodyPr/>
          <a:lstStyle/>
          <a:p>
            <a:r>
              <a:rPr sz="3200" b="1">
                <a:latin typeface="Times New Roman"/>
              </a:rPr>
              <a:t>Conclusion &amp; Future Directions</a:t>
            </a:r>
          </a:p>
        </p:txBody>
      </p:sp>
      <p:pic>
        <p:nvPicPr>
          <p:cNvPr id="4" name="Picture 3" descr="image.png"/>
          <p:cNvPicPr>
            <a:picLocks noChangeAspect="1"/>
          </p:cNvPicPr>
          <p:nvPr/>
        </p:nvPicPr>
        <p:blipFill>
          <a:blip r:embed="rId2"/>
          <a:stretch>
            <a:fillRect/>
          </a:stretch>
        </p:blipFill>
        <p:spPr>
          <a:xfrm>
            <a:off x="8796528" y="182880"/>
            <a:ext cx="3209544" cy="566928"/>
          </a:xfrm>
          <a:prstGeom prst="rect">
            <a:avLst/>
          </a:prstGeom>
        </p:spPr>
      </p:pic>
      <p:sp>
        <p:nvSpPr>
          <p:cNvPr id="5" name="Rounded Rectangle 4"/>
          <p:cNvSpPr/>
          <p:nvPr/>
        </p:nvSpPr>
        <p:spPr>
          <a:xfrm>
            <a:off x="612648" y="1097280"/>
            <a:ext cx="5394960" cy="5120640"/>
          </a:xfrm>
          <a:prstGeom prst="roundRect">
            <a:avLst>
              <a:gd name="adj" fmla="val 6000"/>
            </a:avLst>
          </a:prstGeom>
          <a:solidFill>
            <a:srgbClr val="E8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07007"/>
            <a:ext cx="5120640" cy="4937759"/>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Conclusion</a:t>
            </a:r>
          </a:p>
          <a:p>
            <a:pPr algn="l" marL="228600" indent="-182880">
              <a:spcAft>
                <a:spcPts val="400"/>
              </a:spcAft>
              <a:buChar char="•"/>
            </a:pPr>
            <a:r>
              <a:rPr sz="1500" b="0">
                <a:solidFill>
                  <a:srgbClr val="1C2B2E"/>
                </a:solidFill>
                <a:latin typeface="Calibri"/>
              </a:rPr>
              <a:t>A blockchain verification layer on top of a university database is practical and cheap</a:t>
            </a:r>
          </a:p>
          <a:p>
            <a:pPr algn="l" marL="228600" indent="-182880">
              <a:spcAft>
                <a:spcPts val="400"/>
              </a:spcAft>
              <a:buChar char="•"/>
            </a:pPr>
            <a:r>
              <a:rPr sz="1500" b="0">
                <a:solidFill>
                  <a:srgbClr val="1C2B2E"/>
                </a:solidFill>
                <a:latin typeface="Calibri"/>
              </a:rPr>
              <a:t>Delivered: contract on Sepolia, API, three portals and Supabase registry</a:t>
            </a:r>
          </a:p>
          <a:p>
            <a:pPr algn="l" marL="228600" indent="-182880">
              <a:spcAft>
                <a:spcPts val="400"/>
              </a:spcAft>
              <a:buChar char="•"/>
            </a:pPr>
            <a:r>
              <a:rPr sz="1500" b="0">
                <a:solidFill>
                  <a:srgbClr val="1C2B2E"/>
                </a:solidFill>
                <a:latin typeface="Calibri"/>
              </a:rPr>
              <a:t>Validated with 10 scenarios, 71 tests and a 1,604-certificate dataset</a:t>
            </a:r>
          </a:p>
          <a:p>
            <a:pPr algn="l" marL="228600" indent="-182880">
              <a:spcAft>
                <a:spcPts val="400"/>
              </a:spcAft>
              <a:buChar char="•"/>
            </a:pPr>
            <a:r>
              <a:rPr sz="1500" b="0">
                <a:solidFill>
                  <a:srgbClr val="1C2B2E"/>
                </a:solidFill>
                <a:latin typeface="Calibri"/>
              </a:rPr>
              <a:t>Employers verify instantly without contacting the university</a:t>
            </a:r>
          </a:p>
        </p:txBody>
      </p:sp>
      <p:sp>
        <p:nvSpPr>
          <p:cNvPr id="7" name="Rounded Rectangle 6"/>
          <p:cNvSpPr/>
          <p:nvPr/>
        </p:nvSpPr>
        <p:spPr>
          <a:xfrm>
            <a:off x="6190488" y="1097280"/>
            <a:ext cx="5394960" cy="5120640"/>
          </a:xfrm>
          <a:prstGeom prst="roundRect">
            <a:avLst>
              <a:gd name="adj" fmla="val 6000"/>
            </a:avLst>
          </a:prstGeom>
          <a:solidFill>
            <a:srgbClr val="F7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1207007"/>
            <a:ext cx="5120640" cy="4937759"/>
          </a:xfrm>
          <a:prstGeom prst="rect">
            <a:avLst/>
          </a:prstGeom>
          <a:noFill/>
        </p:spPr>
        <p:txBody>
          <a:bodyPr wrap="square" anchor="t" lIns="45720" rIns="45720">
            <a:spAutoFit/>
          </a:bodyPr>
          <a:lstStyle/>
          <a:p>
            <a:pPr algn="l">
              <a:spcAft>
                <a:spcPts val="600"/>
              </a:spcAft>
            </a:pPr>
            <a:r>
              <a:rPr sz="1700" b="1">
                <a:solidFill>
                  <a:srgbClr val="2E5568"/>
                </a:solidFill>
                <a:latin typeface="Calibri"/>
              </a:rPr>
              <a:t>Future directions</a:t>
            </a:r>
          </a:p>
          <a:p>
            <a:pPr algn="l" marL="228600" indent="-182880">
              <a:spcAft>
                <a:spcPts val="400"/>
              </a:spcAft>
              <a:buChar char="•"/>
            </a:pPr>
            <a:r>
              <a:rPr sz="1500" b="0">
                <a:solidFill>
                  <a:srgbClr val="1C2B2E"/>
                </a:solidFill>
                <a:latin typeface="Calibri"/>
              </a:rPr>
              <a:t>Run the 666 labelled requests as an accuracy benchmark</a:t>
            </a:r>
          </a:p>
          <a:p>
            <a:pPr algn="l" marL="228600" indent="-182880">
              <a:spcAft>
                <a:spcPts val="400"/>
              </a:spcAft>
              <a:buChar char="•"/>
            </a:pPr>
            <a:r>
              <a:rPr sz="1500" b="0">
                <a:solidFill>
                  <a:srgbClr val="1C2B2E"/>
                </a:solidFill>
                <a:latin typeface="Calibri"/>
              </a:rPr>
              <a:t>OCR + NLP checks for scanned certificates</a:t>
            </a:r>
          </a:p>
          <a:p>
            <a:pPr algn="l" marL="228600" indent="-182880">
              <a:spcAft>
                <a:spcPts val="400"/>
              </a:spcAft>
              <a:buChar char="•"/>
            </a:pPr>
            <a:r>
              <a:rPr sz="1500" b="0">
                <a:solidFill>
                  <a:srgbClr val="1C2B2E"/>
                </a:solidFill>
                <a:latin typeface="Calibri"/>
              </a:rPr>
              <a:t>IPFS storage for certificate files</a:t>
            </a:r>
          </a:p>
          <a:p>
            <a:pPr algn="l" marL="228600" indent="-182880">
              <a:spcAft>
                <a:spcPts val="400"/>
              </a:spcAft>
              <a:buChar char="•"/>
            </a:pPr>
            <a:r>
              <a:rPr sz="1500" b="0">
                <a:solidFill>
                  <a:srgbClr val="1C2B2E"/>
                </a:solidFill>
                <a:latin typeface="Calibri"/>
              </a:rPr>
              <a:t>Hardware-wallet or multisig keys for universities</a:t>
            </a:r>
          </a:p>
          <a:p>
            <a:pPr algn="l" marL="228600" indent="-182880">
              <a:spcAft>
                <a:spcPts val="400"/>
              </a:spcAft>
              <a:buChar char="•"/>
            </a:pPr>
            <a:r>
              <a:rPr sz="1500" b="0">
                <a:solidFill>
                  <a:srgbClr val="1C2B2E"/>
                </a:solidFill>
                <a:latin typeface="Calibri"/>
              </a:rPr>
              <a:t>Student email verification and SSO login</a:t>
            </a:r>
          </a:p>
          <a:p>
            <a:pPr algn="l" marL="228600" indent="-182880">
              <a:spcAft>
                <a:spcPts val="400"/>
              </a:spcAft>
              <a:buChar char="•"/>
            </a:pPr>
            <a:r>
              <a:rPr sz="1500" b="0">
                <a:solidFill>
                  <a:srgbClr val="1C2B2E"/>
                </a:solidFill>
                <a:latin typeface="Calibri"/>
              </a:rPr>
              <a:t>Integration with DigiLocker / NAD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1239</TotalTime>
  <Words>3011</Words>
  <Application>Microsoft Macintosh PowerPoint</Application>
  <PresentationFormat>Widescreen</PresentationFormat>
  <Paragraphs>301</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Times New Roman</vt:lpstr>
      <vt:lpstr>Wingdings</vt:lpstr>
      <vt:lpstr>Office Theme</vt:lpstr>
      <vt:lpstr>PowerPoint Presentation</vt:lpstr>
      <vt:lpstr> Agenda  </vt:lpstr>
      <vt:lpstr>Introduction</vt:lpstr>
      <vt:lpstr>Review of literature</vt:lpstr>
      <vt:lpstr>Observations from the Literature Review</vt:lpstr>
      <vt:lpstr>PowerPoint Presentation</vt:lpstr>
      <vt:lpstr>Limitations from the Literature Review</vt:lpstr>
      <vt:lpstr>Problem Statement / Scope of the Project</vt:lpstr>
      <vt:lpstr>Proposed Idea</vt:lpstr>
      <vt:lpstr>Objectives of the Idea as Design Project</vt:lpstr>
      <vt:lpstr>Proposed Research / Methodology</vt:lpstr>
      <vt:lpstr>Hardware Requirements</vt:lpstr>
      <vt:lpstr> Software Requirements</vt:lpstr>
      <vt:lpstr>Flow Diagram</vt:lpstr>
      <vt:lpstr> Proposed Modules</vt:lpstr>
      <vt:lpstr> Novelty of the Proposed Idea</vt:lpstr>
      <vt:lpstr> Experimentation</vt:lpstr>
      <vt:lpstr> Results and Discussion</vt:lpstr>
      <vt:lpstr> Conclusion &amp; Future Directions</vt:lpstr>
      <vt:lpstr> References  </vt:lpstr>
      <vt:lpstr>   Implementation (Sample of the Source Code) </vt:lpstr>
      <vt:lpstr>   Submission Page of the Paper </vt:lpstr>
      <vt:lpstr>  Plagiarism Report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anilkumaruk298@gmail.com</cp:lastModifiedBy>
  <cp:revision>25</cp:revision>
  <cp:lastPrinted>2020-11-26T03:04:06Z</cp:lastPrinted>
  <dcterms:created xsi:type="dcterms:W3CDTF">2008-12-05T06:42:08Z</dcterms:created>
  <dcterms:modified xsi:type="dcterms:W3CDTF">2026-09-26T11:35:12Z</dcterms:modified>
</cp:coreProperties>
</file>